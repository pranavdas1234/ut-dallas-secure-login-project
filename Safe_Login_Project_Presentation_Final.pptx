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embeddedFontLst>
    <p:embeddedFont>
      <p:font typeface="Inter" panose="020B0604020202020204" charset="0"/>
      <p:regular r:id="rId17"/>
      <p:bold r:id="rId18"/>
      <p:italic r:id="rId19"/>
      <p:boldItalic r:id="rId20"/>
    </p:embeddedFont>
    <p:embeddedFont>
      <p:font typeface="Montserrat" panose="00000500000000000000" pitchFamily="2"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901" autoAdjust="0"/>
  </p:normalViewPr>
  <p:slideViewPr>
    <p:cSldViewPr snapToGrid="0">
      <p:cViewPr varScale="1">
        <p:scale>
          <a:sx n="75" d="100"/>
          <a:sy n="75" d="100"/>
        </p:scale>
        <p:origin x="672"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4bdbee899_2_10: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g3f4bdbee899_2_10: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dirty="0"/>
              <a:t>Hello everyone, our project is called Safe Login. The goal is to use machine learning to detect suspicious login activity. We built this as a Python cybersecurity classification project using the Risk-Based Authentication dataset. Today we will explain the problem, the dataset, the model pipeline, the results, and what we learned.</a:t>
            </a:r>
            <a:endParaRPr dirty="0"/>
          </a:p>
        </p:txBody>
      </p:sp>
      <p:sp>
        <p:nvSpPr>
          <p:cNvPr id="63" name="Google Shape;63;g3f4bdbee899_2_10: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f4bdbee899_2_55: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g3f4bdbee899_2_55: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dirty="0"/>
              <a:t>So why does this project matter? A password alone is not always enough, because an attacker may obtain the correct password. Login context can reveal risk through time, location, device, network, latency, and login success patterns. Our main question is whether a machine learning model can combine those signals to identify suspicious login activity.</a:t>
            </a:r>
            <a:endParaRPr dirty="0"/>
          </a:p>
        </p:txBody>
      </p:sp>
      <p:sp>
        <p:nvSpPr>
          <p:cNvPr id="110" name="Google Shape;110;g3f4bdbee899_2_55: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4bdbee899_2_80: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3f4bdbee899_2_80: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dirty="0"/>
              <a:t>Let’s talk about the project objective. The main objective is for the system to convert raw login details into a security decision. The inputs include login time, location, ASN, device, operating system, browser, login success, and round-trip time. The Random Forest model combines these features and outputs a probability and a final label: normal/low risk or suspicious/malicious.</a:t>
            </a:r>
            <a:endParaRPr dirty="0"/>
          </a:p>
        </p:txBody>
      </p:sp>
      <p:sp>
        <p:nvSpPr>
          <p:cNvPr id="136" name="Google Shape;136;g3f4bdbee899_2_80: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f4bdbee899_2_127: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g3f4bdbee899_2_127: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dirty="0"/>
              <a:t>For this project we used the public RBA dataset. It contains more than 33 million synthesized login attempts from over 3.3 million users. The dataset includes network and location information, device information, behavioral context such as timestamp and RTT, and security labels such as Is Attack IP and Is Account Takeover. The data is useful for research, but it is important to note that the data is synthesized.</a:t>
            </a:r>
            <a:endParaRPr dirty="0"/>
          </a:p>
        </p:txBody>
      </p:sp>
      <p:sp>
        <p:nvSpPr>
          <p:cNvPr id="184" name="Google Shape;184;g3f4bdbee899_2_127: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f4bdbee899_2_178: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f4bdbee899_2_178: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Our first idea was to predict account takeover, but that target was too rare in a manageable sample. In the first one million rows, there were only 11 positive account-takeover examples. That made the model learn to predict almost everything as normal. We switched to Is Attack IP because it had 99,534 positive examples in the same sample, which gave the model enough examples to train and test meaningfully.</a:t>
            </a:r>
            <a:endParaRPr/>
          </a:p>
        </p:txBody>
      </p:sp>
      <p:sp>
        <p:nvSpPr>
          <p:cNvPr id="236" name="Google Shape;236;g3f4bdbee899_2_178: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f4bdbee899_2_203: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g3f4bdbee899_2_203: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dirty="0"/>
              <a:t>This is the full machine learning pipeline. The code reads the large CSV in chunks, cleans and engineers features, balances the classes by sampling normal logins, splits the data into training, validation, and test sets, trains a Random Forest model, tunes the decision threshold using validation F1, and saves the model and evaluation report.</a:t>
            </a:r>
            <a:endParaRPr dirty="0"/>
          </a:p>
        </p:txBody>
      </p:sp>
      <p:sp>
        <p:nvSpPr>
          <p:cNvPr id="262" name="Google Shape;262;g3f4bdbee899_2_203: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f4bdbee899_2_243: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g3f4bdbee899_2_243: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For the model, we used a Random Forest with 250 trees. This works well for tabular data because it can learn nonlinear relationships between features. We also used balanced class weights so the attack class had more influence during training. Instead of using the default 0.50 threshold, we selected the threshold that gave the best F1 score on validation data.</a:t>
            </a:r>
            <a:endParaRPr/>
          </a:p>
        </p:txBody>
      </p:sp>
      <p:sp>
        <p:nvSpPr>
          <p:cNvPr id="303" name="Google Shape;303;g3f4bdbee899_2_243: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f4bdbee899_2_274: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g3f4bdbee899_2_274: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These are the final results on the balanced test set. The most important security metric is recall: 87.33 percent. That means the model detected nearly 9 out of 10 attack-IP logins in the test set. Precision was 54.18 percent, so there are false positives, but the model is designed to prioritize catching suspicious activity. The ROC-AUC of 92.21 percent shows strong separation between normal and attack-IP examples.</a:t>
            </a:r>
            <a:endParaRPr/>
          </a:p>
        </p:txBody>
      </p:sp>
      <p:sp>
        <p:nvSpPr>
          <p:cNvPr id="335" name="Google Shape;335;g3f4bdbee899_2_274: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f4bdbee899_2_316: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g3f4bdbee899_2_316: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The confusion matrix breaks down the results. The model correctly detected 17,385 attack-IP logins and missed 2,522. It correctly ignored 84,833 normal logins, but it also incorrectly flagged 14,701 normal logins. This shows the tradeoff: the model catches most attacks, but it also creates false alarms.</a:t>
            </a:r>
            <a:endParaRPr/>
          </a:p>
        </p:txBody>
      </p:sp>
      <p:sp>
        <p:nvSpPr>
          <p:cNvPr id="378" name="Google Shape;378;g3f4bdbee899_2_316: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f4bdbee899_2_357: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g3f4bdbee899_2_357: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After training, the saved model can score a new login event. The prediction script takes login details like country, region, device, operating system, browser, login time, RTT, and login success. The model returns a risk probability between 0 and 1 and then converts that probability into a final normal or suspicious label using the tuned threshold.</a:t>
            </a:r>
            <a:endParaRPr/>
          </a:p>
        </p:txBody>
      </p:sp>
      <p:sp>
        <p:nvSpPr>
          <p:cNvPr id="420" name="Google Shape;420;g3f4bdbee899_2_357: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f4bdbee899_2_407: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g3f4bdbee899_2_407: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The project is a strong prototype, but it has important limitations. The data is synthesized, the test set is balanced and more attack-heavy than real traffic, and Is Attack IP is a proxy for suspicious activity rather than confirmed account takeover. Good next steps would be testing on the natural class distribution, using time-based splitting, comparing more models, adding explainability, and building a dashboard.</a:t>
            </a:r>
            <a:endParaRPr/>
          </a:p>
        </p:txBody>
      </p:sp>
      <p:sp>
        <p:nvSpPr>
          <p:cNvPr id="471" name="Google Shape;471;g3f4bdbee899_2_407: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f4bdbee899_2_448:notes"/>
          <p:cNvSpPr>
            <a:spLocks noGrp="1" noRot="1" noChangeAspect="1"/>
          </p:cNvSpPr>
          <p:nvPr>
            <p:ph type="sldImg" idx="2"/>
          </p:nvPr>
        </p:nvSpPr>
        <p:spPr>
          <a:xfrm>
            <a:off x="685800" y="857250"/>
            <a:ext cx="54864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g3f4bdbee899_2_448: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a:t>To conclude, we built a complete end-to-end machine learning prototype for suspicious login detection. The key takeaway is that the model can detect most attack-IP logins by combining contextual login signals. We also kept the limitations honest: the results are useful for education and research, but the model is not production-ready. We used the RBA dataset, the dataset paper, and scikit-learn documentation as sources.</a:t>
            </a:r>
            <a:endParaRPr/>
          </a:p>
        </p:txBody>
      </p:sp>
      <p:sp>
        <p:nvSpPr>
          <p:cNvPr id="513" name="Google Shape;513;g3f4bdbee899_2_448: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4bdbee899_2_10: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g3f4bdbee899_2_10:notes"/>
          <p:cNvSpPr txBox="1">
            <a:spLocks noGrp="1"/>
          </p:cNvSpPr>
          <p:nvPr>
            <p:ph type="body" idx="1"/>
          </p:nvPr>
        </p:nvSpPr>
        <p:spPr>
          <a:xfrm>
            <a:off x="685800" y="3300413"/>
            <a:ext cx="5486400" cy="2700338"/>
          </a:xfrm>
          <a:prstGeom prst="rect">
            <a:avLst/>
          </a:prstGeom>
          <a:noFill/>
          <a:ln>
            <a:noFill/>
          </a:ln>
        </p:spPr>
        <p:txBody>
          <a:bodyPr spcFirstLastPara="1" wrap="square" lIns="91425" tIns="45700" rIns="91425" bIns="45700" anchor="t" anchorCtr="0">
            <a:noAutofit/>
          </a:bodyPr>
          <a:lstStyle/>
          <a:p>
            <a:pPr lvl="0"/>
            <a:r>
              <a:rPr lang="en-US" sz="1200" dirty="0"/>
              <a:t>We would like to acknowledge Dr. Bhavani and The University of Texas at Dallas for allowing us to be part of the UT Dallas Summer Program AI and Cybersecurity. We are thankful for the support and guidance throughout the program. This slide also includes a </a:t>
            </a:r>
            <a:r>
              <a:rPr lang="en-US" sz="1200"/>
              <a:t>QR-code for </a:t>
            </a:r>
            <a:r>
              <a:rPr lang="en-US" sz="1200" dirty="0"/>
              <a:t>our GitHub repository link. Thank you, and we are happy to answer questions.</a:t>
            </a:r>
            <a:endParaRPr dirty="0"/>
          </a:p>
        </p:txBody>
      </p:sp>
      <p:sp>
        <p:nvSpPr>
          <p:cNvPr id="63" name="Google Shape;63;g3f4bdbee899_2_10:notes"/>
          <p:cNvSpPr txBox="1">
            <a:spLocks noGrp="1"/>
          </p:cNvSpPr>
          <p:nvPr>
            <p:ph type="sldNum" idx="12"/>
          </p:nvPr>
        </p:nvSpPr>
        <p:spPr>
          <a:xfrm>
            <a:off x="3884613" y="6513910"/>
            <a:ext cx="2971800" cy="34409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p:cSld name="CONTENT">
    <p:bg>
      <p:bgPr>
        <a:solidFill>
          <a:srgbClr val="F5F8FC"/>
        </a:solidFill>
        <a:effectLst/>
      </p:bgPr>
    </p:bg>
    <p:spTree>
      <p:nvGrpSpPr>
        <p:cNvPr id="1" name="Shape 53"/>
        <p:cNvGrpSpPr/>
        <p:nvPr/>
      </p:nvGrpSpPr>
      <p:grpSpPr>
        <a:xfrm>
          <a:off x="0" y="0"/>
          <a:ext cx="0" cy="0"/>
          <a:chOff x="0" y="0"/>
          <a:chExt cx="0" cy="0"/>
        </a:xfrm>
      </p:grpSpPr>
      <p:sp>
        <p:nvSpPr>
          <p:cNvPr id="54" name="Google Shape;54;p15"/>
          <p:cNvSpPr/>
          <p:nvPr/>
        </p:nvSpPr>
        <p:spPr>
          <a:xfrm>
            <a:off x="0" y="0"/>
            <a:ext cx="9143771" cy="68580"/>
          </a:xfrm>
          <a:prstGeom prst="rect">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5" name="Google Shape;55;p15"/>
          <p:cNvSpPr/>
          <p:nvPr/>
        </p:nvSpPr>
        <p:spPr>
          <a:xfrm>
            <a:off x="445770" y="123444"/>
            <a:ext cx="582930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E7184"/>
              </a:buClr>
              <a:buSzPts val="600"/>
              <a:buFont typeface="Inter"/>
              <a:buNone/>
            </a:pPr>
            <a:r>
              <a:rPr lang="en" sz="600" b="1" i="0" u="none" strike="noStrike" cap="none">
                <a:solidFill>
                  <a:srgbClr val="5E7184"/>
                </a:solidFill>
                <a:latin typeface="Inter"/>
                <a:ea typeface="Inter"/>
                <a:cs typeface="Inter"/>
                <a:sym typeface="Inter"/>
              </a:rPr>
              <a:t>LOGIN THREAT DETECTION • MACHINE LEARNING PROJECT</a:t>
            </a:r>
            <a:endParaRPr sz="600" b="0" i="0" u="none" strike="noStrike" cap="none">
              <a:solidFill>
                <a:schemeClr val="dk1"/>
              </a:solidFill>
              <a:latin typeface="Inter"/>
              <a:ea typeface="Inter"/>
              <a:cs typeface="Inter"/>
              <a:sym typeface="Inter"/>
            </a:endParaRPr>
          </a:p>
        </p:txBody>
      </p:sp>
      <p:cxnSp>
        <p:nvCxnSpPr>
          <p:cNvPr id="56" name="Google Shape;56;p15"/>
          <p:cNvCxnSpPr/>
          <p:nvPr/>
        </p:nvCxnSpPr>
        <p:spPr>
          <a:xfrm>
            <a:off x="445770" y="4855464"/>
            <a:ext cx="8243316" cy="0"/>
          </a:xfrm>
          <a:prstGeom prst="straightConnector1">
            <a:avLst/>
          </a:prstGeom>
          <a:noFill/>
          <a:ln w="9525" cap="flat" cmpd="sng">
            <a:solidFill>
              <a:srgbClr val="DDE5EC"/>
            </a:solidFill>
            <a:prstDash val="solid"/>
            <a:round/>
            <a:headEnd type="none" w="sm" len="sm"/>
            <a:tailEnd type="none" w="sm" len="sm"/>
          </a:ln>
        </p:spPr>
      </p:cxnSp>
      <p:sp>
        <p:nvSpPr>
          <p:cNvPr id="57" name="Google Shape;57;p15"/>
          <p:cNvSpPr/>
          <p:nvPr/>
        </p:nvSpPr>
        <p:spPr>
          <a:xfrm>
            <a:off x="445770" y="4896612"/>
            <a:ext cx="1028700" cy="123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C8B99"/>
              </a:buClr>
              <a:buSzPts val="600"/>
              <a:buFont typeface="Inter"/>
              <a:buNone/>
            </a:pPr>
            <a:r>
              <a:rPr lang="en" sz="600">
                <a:solidFill>
                  <a:srgbClr val="7C8B99"/>
                </a:solidFill>
                <a:latin typeface="Inter"/>
                <a:ea typeface="Inter"/>
                <a:cs typeface="Inter"/>
                <a:sym typeface="Inter"/>
              </a:rPr>
              <a:t>Safe Login</a:t>
            </a:r>
            <a:endParaRPr sz="600" b="0" i="0" u="none" strike="noStrike" cap="none">
              <a:solidFill>
                <a:schemeClr val="dk1"/>
              </a:solidFill>
              <a:latin typeface="Inter"/>
              <a:ea typeface="Inter"/>
              <a:cs typeface="Inter"/>
              <a:sym typeface="Inter"/>
            </a:endParaRPr>
          </a:p>
        </p:txBody>
      </p:sp>
      <p:sp>
        <p:nvSpPr>
          <p:cNvPr id="58" name="Google Shape;58;p15"/>
          <p:cNvSpPr/>
          <p:nvPr/>
        </p:nvSpPr>
        <p:spPr>
          <a:xfrm>
            <a:off x="7269480" y="4896612"/>
            <a:ext cx="1371600" cy="12344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C8B99"/>
              </a:buClr>
              <a:buSzPts val="600"/>
              <a:buFont typeface="Inter"/>
              <a:buNone/>
            </a:pPr>
            <a:r>
              <a:rPr lang="en" sz="600" b="0" i="0" u="none" strike="noStrike" cap="none">
                <a:solidFill>
                  <a:srgbClr val="7C8B99"/>
                </a:solidFill>
                <a:latin typeface="Inter"/>
                <a:ea typeface="Inter"/>
                <a:cs typeface="Inter"/>
                <a:sym typeface="Inter"/>
              </a:rPr>
              <a:t>Programming Project</a:t>
            </a:r>
            <a:endParaRPr sz="600" b="0" i="0" u="none" strike="noStrike" cap="none">
              <a:solidFill>
                <a:schemeClr val="dk1"/>
              </a:solidFill>
              <a:latin typeface="Inter"/>
              <a:ea typeface="Inter"/>
              <a:cs typeface="Inter"/>
              <a:sym typeface="Inter"/>
            </a:endParaRPr>
          </a:p>
        </p:txBody>
      </p:sp>
      <p:sp>
        <p:nvSpPr>
          <p:cNvPr id="59" name="Google Shape;59;p15"/>
          <p:cNvSpPr txBox="1">
            <a:spLocks noGrp="1"/>
          </p:cNvSpPr>
          <p:nvPr>
            <p:ph type="sldNum" idx="12"/>
          </p:nvPr>
        </p:nvSpPr>
        <p:spPr>
          <a:xfrm>
            <a:off x="8695944" y="4882896"/>
            <a:ext cx="171450" cy="123444"/>
          </a:xfrm>
          <a:prstGeom prst="rect">
            <a:avLst/>
          </a:prstGeom>
          <a:noFill/>
          <a:ln>
            <a:noFill/>
          </a:ln>
        </p:spPr>
        <p:txBody>
          <a:bodyPr spcFirstLastPara="1" wrap="square" lIns="0" tIns="0" rIns="0" bIns="0" anchor="t" anchorCtr="0">
            <a:noAutofit/>
          </a:bodyPr>
          <a:lstStyle>
            <a:lvl1pPr marL="0" marR="0" lvl="0" indent="0" algn="r">
              <a:spcBef>
                <a:spcPts val="0"/>
              </a:spcBef>
              <a:buNone/>
              <a:defRPr sz="600" b="0" i="0" u="none" strike="noStrike" cap="none">
                <a:solidFill>
                  <a:srgbClr val="7C8B99"/>
                </a:solidFill>
                <a:latin typeface="Inter"/>
                <a:ea typeface="Inter"/>
                <a:cs typeface="Inter"/>
                <a:sym typeface="Inter"/>
              </a:defRPr>
            </a:lvl1pPr>
            <a:lvl2pPr marL="0" marR="0" lvl="1" indent="0" algn="r">
              <a:spcBef>
                <a:spcPts val="0"/>
              </a:spcBef>
              <a:buNone/>
              <a:defRPr sz="600" b="0" i="0" u="none" strike="noStrike" cap="none">
                <a:solidFill>
                  <a:srgbClr val="7C8B99"/>
                </a:solidFill>
                <a:latin typeface="Inter"/>
                <a:ea typeface="Inter"/>
                <a:cs typeface="Inter"/>
                <a:sym typeface="Inter"/>
              </a:defRPr>
            </a:lvl2pPr>
            <a:lvl3pPr marL="0" marR="0" lvl="2" indent="0" algn="r">
              <a:spcBef>
                <a:spcPts val="0"/>
              </a:spcBef>
              <a:buNone/>
              <a:defRPr sz="600" b="0" i="0" u="none" strike="noStrike" cap="none">
                <a:solidFill>
                  <a:srgbClr val="7C8B99"/>
                </a:solidFill>
                <a:latin typeface="Inter"/>
                <a:ea typeface="Inter"/>
                <a:cs typeface="Inter"/>
                <a:sym typeface="Inter"/>
              </a:defRPr>
            </a:lvl3pPr>
            <a:lvl4pPr marL="0" marR="0" lvl="3" indent="0" algn="r">
              <a:spcBef>
                <a:spcPts val="0"/>
              </a:spcBef>
              <a:buNone/>
              <a:defRPr sz="600" b="0" i="0" u="none" strike="noStrike" cap="none">
                <a:solidFill>
                  <a:srgbClr val="7C8B99"/>
                </a:solidFill>
                <a:latin typeface="Inter"/>
                <a:ea typeface="Inter"/>
                <a:cs typeface="Inter"/>
                <a:sym typeface="Inter"/>
              </a:defRPr>
            </a:lvl4pPr>
            <a:lvl5pPr marL="0" marR="0" lvl="4" indent="0" algn="r">
              <a:spcBef>
                <a:spcPts val="0"/>
              </a:spcBef>
              <a:buNone/>
              <a:defRPr sz="600" b="0" i="0" u="none" strike="noStrike" cap="none">
                <a:solidFill>
                  <a:srgbClr val="7C8B99"/>
                </a:solidFill>
                <a:latin typeface="Inter"/>
                <a:ea typeface="Inter"/>
                <a:cs typeface="Inter"/>
                <a:sym typeface="Inter"/>
              </a:defRPr>
            </a:lvl5pPr>
            <a:lvl6pPr marL="0" marR="0" lvl="5" indent="0" algn="r">
              <a:spcBef>
                <a:spcPts val="0"/>
              </a:spcBef>
              <a:buNone/>
              <a:defRPr sz="600" b="0" i="0" u="none" strike="noStrike" cap="none">
                <a:solidFill>
                  <a:srgbClr val="7C8B99"/>
                </a:solidFill>
                <a:latin typeface="Inter"/>
                <a:ea typeface="Inter"/>
                <a:cs typeface="Inter"/>
                <a:sym typeface="Inter"/>
              </a:defRPr>
            </a:lvl6pPr>
            <a:lvl7pPr marL="0" marR="0" lvl="6" indent="0" algn="r">
              <a:spcBef>
                <a:spcPts val="0"/>
              </a:spcBef>
              <a:buNone/>
              <a:defRPr sz="600" b="0" i="0" u="none" strike="noStrike" cap="none">
                <a:solidFill>
                  <a:srgbClr val="7C8B99"/>
                </a:solidFill>
                <a:latin typeface="Inter"/>
                <a:ea typeface="Inter"/>
                <a:cs typeface="Inter"/>
                <a:sym typeface="Inter"/>
              </a:defRPr>
            </a:lvl7pPr>
            <a:lvl8pPr marL="0" marR="0" lvl="7" indent="0" algn="r">
              <a:spcBef>
                <a:spcPts val="0"/>
              </a:spcBef>
              <a:buNone/>
              <a:defRPr sz="600" b="0" i="0" u="none" strike="noStrike" cap="none">
                <a:solidFill>
                  <a:srgbClr val="7C8B99"/>
                </a:solidFill>
                <a:latin typeface="Inter"/>
                <a:ea typeface="Inter"/>
                <a:cs typeface="Inter"/>
                <a:sym typeface="Inter"/>
              </a:defRPr>
            </a:lvl8pPr>
            <a:lvl9pPr marL="0" marR="0" lvl="8" indent="0" algn="r">
              <a:spcBef>
                <a:spcPts val="0"/>
              </a:spcBef>
              <a:buNone/>
              <a:defRPr sz="600" b="0" i="0" u="none" strike="noStrike" cap="none">
                <a:solidFill>
                  <a:srgbClr val="7C8B99"/>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695944" y="4882896"/>
            <a:ext cx="171450" cy="123444"/>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600" b="0" i="0" u="none" strike="noStrike" cap="none">
                <a:solidFill>
                  <a:srgbClr val="7C8B99"/>
                </a:solidFill>
                <a:latin typeface="Inter"/>
                <a:ea typeface="Inter"/>
                <a:cs typeface="Inter"/>
                <a:sym typeface="Inter"/>
              </a:defRPr>
            </a:lvl1pPr>
            <a:lvl2pPr marL="0" marR="0" lvl="1" indent="0" algn="r" rtl="0">
              <a:spcBef>
                <a:spcPts val="0"/>
              </a:spcBef>
              <a:buNone/>
              <a:defRPr sz="600" b="0" i="0" u="none" strike="noStrike" cap="none">
                <a:solidFill>
                  <a:srgbClr val="7C8B99"/>
                </a:solidFill>
                <a:latin typeface="Inter"/>
                <a:ea typeface="Inter"/>
                <a:cs typeface="Inter"/>
                <a:sym typeface="Inter"/>
              </a:defRPr>
            </a:lvl2pPr>
            <a:lvl3pPr marL="0" marR="0" lvl="2" indent="0" algn="r" rtl="0">
              <a:spcBef>
                <a:spcPts val="0"/>
              </a:spcBef>
              <a:buNone/>
              <a:defRPr sz="600" b="0" i="0" u="none" strike="noStrike" cap="none">
                <a:solidFill>
                  <a:srgbClr val="7C8B99"/>
                </a:solidFill>
                <a:latin typeface="Inter"/>
                <a:ea typeface="Inter"/>
                <a:cs typeface="Inter"/>
                <a:sym typeface="Inter"/>
              </a:defRPr>
            </a:lvl3pPr>
            <a:lvl4pPr marL="0" marR="0" lvl="3" indent="0" algn="r" rtl="0">
              <a:spcBef>
                <a:spcPts val="0"/>
              </a:spcBef>
              <a:buNone/>
              <a:defRPr sz="600" b="0" i="0" u="none" strike="noStrike" cap="none">
                <a:solidFill>
                  <a:srgbClr val="7C8B99"/>
                </a:solidFill>
                <a:latin typeface="Inter"/>
                <a:ea typeface="Inter"/>
                <a:cs typeface="Inter"/>
                <a:sym typeface="Inter"/>
              </a:defRPr>
            </a:lvl4pPr>
            <a:lvl5pPr marL="0" marR="0" lvl="4" indent="0" algn="r" rtl="0">
              <a:spcBef>
                <a:spcPts val="0"/>
              </a:spcBef>
              <a:buNone/>
              <a:defRPr sz="600" b="0" i="0" u="none" strike="noStrike" cap="none">
                <a:solidFill>
                  <a:srgbClr val="7C8B99"/>
                </a:solidFill>
                <a:latin typeface="Inter"/>
                <a:ea typeface="Inter"/>
                <a:cs typeface="Inter"/>
                <a:sym typeface="Inter"/>
              </a:defRPr>
            </a:lvl5pPr>
            <a:lvl6pPr marL="0" marR="0" lvl="5" indent="0" algn="r" rtl="0">
              <a:spcBef>
                <a:spcPts val="0"/>
              </a:spcBef>
              <a:buNone/>
              <a:defRPr sz="600" b="0" i="0" u="none" strike="noStrike" cap="none">
                <a:solidFill>
                  <a:srgbClr val="7C8B99"/>
                </a:solidFill>
                <a:latin typeface="Inter"/>
                <a:ea typeface="Inter"/>
                <a:cs typeface="Inter"/>
                <a:sym typeface="Inter"/>
              </a:defRPr>
            </a:lvl6pPr>
            <a:lvl7pPr marL="0" marR="0" lvl="6" indent="0" algn="r" rtl="0">
              <a:spcBef>
                <a:spcPts val="0"/>
              </a:spcBef>
              <a:buNone/>
              <a:defRPr sz="600" b="0" i="0" u="none" strike="noStrike" cap="none">
                <a:solidFill>
                  <a:srgbClr val="7C8B99"/>
                </a:solidFill>
                <a:latin typeface="Inter"/>
                <a:ea typeface="Inter"/>
                <a:cs typeface="Inter"/>
                <a:sym typeface="Inter"/>
              </a:defRPr>
            </a:lvl7pPr>
            <a:lvl8pPr marL="0" marR="0" lvl="7" indent="0" algn="r" rtl="0">
              <a:spcBef>
                <a:spcPts val="0"/>
              </a:spcBef>
              <a:buNone/>
              <a:defRPr sz="600" b="0" i="0" u="none" strike="noStrike" cap="none">
                <a:solidFill>
                  <a:srgbClr val="7C8B99"/>
                </a:solidFill>
                <a:latin typeface="Inter"/>
                <a:ea typeface="Inter"/>
                <a:cs typeface="Inter"/>
                <a:sym typeface="Inter"/>
              </a:defRPr>
            </a:lvl8pPr>
            <a:lvl9pPr marL="0" marR="0" lvl="8" indent="0" algn="r" rtl="0">
              <a:spcBef>
                <a:spcPts val="0"/>
              </a:spcBef>
              <a:buNone/>
              <a:defRPr sz="600" b="0" i="0" u="none" strike="noStrike" cap="none">
                <a:solidFill>
                  <a:srgbClr val="7C8B99"/>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2A"/>
        </a:solidFill>
        <a:effectLst/>
      </p:bgPr>
    </p:bg>
    <p:spTree>
      <p:nvGrpSpPr>
        <p:cNvPr id="1" name="Shape 64"/>
        <p:cNvGrpSpPr/>
        <p:nvPr/>
      </p:nvGrpSpPr>
      <p:grpSpPr>
        <a:xfrm>
          <a:off x="0" y="0"/>
          <a:ext cx="0" cy="0"/>
          <a:chOff x="0" y="0"/>
          <a:chExt cx="0" cy="0"/>
        </a:xfrm>
      </p:grpSpPr>
      <p:cxnSp>
        <p:nvCxnSpPr>
          <p:cNvPr id="65" name="Google Shape;65;p16"/>
          <p:cNvCxnSpPr/>
          <p:nvPr/>
        </p:nvCxnSpPr>
        <p:spPr>
          <a:xfrm flipH="1">
            <a:off x="336042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66" name="Google Shape;66;p16"/>
          <p:cNvCxnSpPr/>
          <p:nvPr/>
        </p:nvCxnSpPr>
        <p:spPr>
          <a:xfrm flipH="1">
            <a:off x="373761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67" name="Google Shape;67;p16"/>
          <p:cNvCxnSpPr/>
          <p:nvPr/>
        </p:nvCxnSpPr>
        <p:spPr>
          <a:xfrm flipH="1">
            <a:off x="411480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68" name="Google Shape;68;p16"/>
          <p:cNvCxnSpPr/>
          <p:nvPr/>
        </p:nvCxnSpPr>
        <p:spPr>
          <a:xfrm flipH="1">
            <a:off x="449199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69" name="Google Shape;69;p16"/>
          <p:cNvCxnSpPr/>
          <p:nvPr/>
        </p:nvCxnSpPr>
        <p:spPr>
          <a:xfrm flipH="1">
            <a:off x="486918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0" name="Google Shape;70;p16"/>
          <p:cNvCxnSpPr/>
          <p:nvPr/>
        </p:nvCxnSpPr>
        <p:spPr>
          <a:xfrm flipH="1">
            <a:off x="524637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1" name="Google Shape;71;p16"/>
          <p:cNvCxnSpPr/>
          <p:nvPr/>
        </p:nvCxnSpPr>
        <p:spPr>
          <a:xfrm flipH="1">
            <a:off x="562356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2" name="Google Shape;72;p16"/>
          <p:cNvCxnSpPr/>
          <p:nvPr/>
        </p:nvCxnSpPr>
        <p:spPr>
          <a:xfrm flipH="1">
            <a:off x="600075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3" name="Google Shape;73;p16"/>
          <p:cNvCxnSpPr/>
          <p:nvPr/>
        </p:nvCxnSpPr>
        <p:spPr>
          <a:xfrm flipH="1">
            <a:off x="6377940" y="0"/>
            <a:ext cx="1920240" cy="514350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4" name="Google Shape;74;p16"/>
          <p:cNvCxnSpPr/>
          <p:nvPr/>
        </p:nvCxnSpPr>
        <p:spPr>
          <a:xfrm>
            <a:off x="4526280" y="205740"/>
            <a:ext cx="473202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5" name="Google Shape;75;p16"/>
          <p:cNvCxnSpPr/>
          <p:nvPr/>
        </p:nvCxnSpPr>
        <p:spPr>
          <a:xfrm>
            <a:off x="4907280" y="720090"/>
            <a:ext cx="473190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6" name="Google Shape;76;p16"/>
          <p:cNvCxnSpPr/>
          <p:nvPr/>
        </p:nvCxnSpPr>
        <p:spPr>
          <a:xfrm>
            <a:off x="4698800" y="1234440"/>
            <a:ext cx="473190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7" name="Google Shape;77;p16"/>
          <p:cNvCxnSpPr/>
          <p:nvPr/>
        </p:nvCxnSpPr>
        <p:spPr>
          <a:xfrm>
            <a:off x="4526280" y="1748790"/>
            <a:ext cx="473202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8" name="Google Shape;78;p16"/>
          <p:cNvCxnSpPr/>
          <p:nvPr/>
        </p:nvCxnSpPr>
        <p:spPr>
          <a:xfrm>
            <a:off x="4373880" y="2263140"/>
            <a:ext cx="473190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79" name="Google Shape;79;p16"/>
          <p:cNvCxnSpPr/>
          <p:nvPr/>
        </p:nvCxnSpPr>
        <p:spPr>
          <a:xfrm>
            <a:off x="4145280" y="2777490"/>
            <a:ext cx="473190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80" name="Google Shape;80;p16"/>
          <p:cNvCxnSpPr/>
          <p:nvPr/>
        </p:nvCxnSpPr>
        <p:spPr>
          <a:xfrm>
            <a:off x="3992880" y="3291840"/>
            <a:ext cx="4731900" cy="0"/>
          </a:xfrm>
          <a:prstGeom prst="straightConnector1">
            <a:avLst/>
          </a:prstGeom>
          <a:noFill/>
          <a:ln w="9525" cap="flat" cmpd="sng">
            <a:solidFill>
              <a:srgbClr val="123B50">
                <a:alpha val="54902"/>
              </a:srgbClr>
            </a:solidFill>
            <a:prstDash val="solid"/>
            <a:round/>
            <a:headEnd type="none" w="sm" len="sm"/>
            <a:tailEnd type="none" w="sm" len="sm"/>
          </a:ln>
        </p:spPr>
      </p:cxnSp>
      <p:cxnSp>
        <p:nvCxnSpPr>
          <p:cNvPr id="81" name="Google Shape;81;p16"/>
          <p:cNvCxnSpPr/>
          <p:nvPr/>
        </p:nvCxnSpPr>
        <p:spPr>
          <a:xfrm>
            <a:off x="3797243" y="3806190"/>
            <a:ext cx="4731900" cy="0"/>
          </a:xfrm>
          <a:prstGeom prst="straightConnector1">
            <a:avLst/>
          </a:prstGeom>
          <a:noFill/>
          <a:ln w="9525" cap="flat" cmpd="sng">
            <a:solidFill>
              <a:srgbClr val="123B50">
                <a:alpha val="54902"/>
              </a:srgbClr>
            </a:solidFill>
            <a:prstDash val="solid"/>
            <a:round/>
            <a:headEnd type="none" w="sm" len="sm"/>
            <a:tailEnd type="none" w="sm" len="sm"/>
          </a:ln>
        </p:spPr>
      </p:cxnSp>
      <p:sp>
        <p:nvSpPr>
          <p:cNvPr id="82" name="Google Shape;82;p16"/>
          <p:cNvSpPr/>
          <p:nvPr/>
        </p:nvSpPr>
        <p:spPr>
          <a:xfrm>
            <a:off x="5554980" y="582930"/>
            <a:ext cx="2777490" cy="2777490"/>
          </a:xfrm>
          <a:prstGeom prst="ellipse">
            <a:avLst/>
          </a:prstGeom>
          <a:solidFill>
            <a:srgbClr val="0C3042"/>
          </a:solidFill>
          <a:ln w="15225" cap="flat" cmpd="sng">
            <a:solidFill>
              <a:srgbClr val="1A5369"/>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3" name="Google Shape;83;p16"/>
          <p:cNvSpPr/>
          <p:nvPr/>
        </p:nvSpPr>
        <p:spPr>
          <a:xfrm>
            <a:off x="5932170" y="960120"/>
            <a:ext cx="2023200" cy="2023200"/>
          </a:xfrm>
          <a:prstGeom prst="ellipse">
            <a:avLst/>
          </a:prstGeom>
          <a:solidFill>
            <a:srgbClr val="0F4050"/>
          </a:solidFill>
          <a:ln w="10150" cap="flat" cmpd="sng">
            <a:solidFill>
              <a:srgbClr val="2C6175"/>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4" name="Google Shape;84;p16"/>
          <p:cNvSpPr/>
          <p:nvPr/>
        </p:nvSpPr>
        <p:spPr>
          <a:xfrm rot="10800000">
            <a:off x="6206525" y="1165775"/>
            <a:ext cx="1508700" cy="1680300"/>
          </a:xfrm>
          <a:prstGeom prst="pentagon">
            <a:avLst>
              <a:gd name="hf" fmla="val 105146"/>
              <a:gd name="vf" fmla="val 110557"/>
            </a:avLst>
          </a:prstGeom>
          <a:solidFill>
            <a:srgbClr val="22D3A6">
              <a:alpha val="94902"/>
            </a:srgbClr>
          </a:solidFill>
          <a:ln w="15225" cap="flat" cmpd="sng">
            <a:solidFill>
              <a:srgbClr val="52E2B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5" name="Google Shape;85;p16"/>
          <p:cNvSpPr/>
          <p:nvPr/>
        </p:nvSpPr>
        <p:spPr>
          <a:xfrm>
            <a:off x="6590538" y="1794613"/>
            <a:ext cx="740700" cy="562500"/>
          </a:xfrm>
          <a:prstGeom prst="roundRect">
            <a:avLst>
              <a:gd name="adj" fmla="val 16667"/>
            </a:avLst>
          </a:prstGeom>
          <a:solidFill>
            <a:srgbClr val="071B2A"/>
          </a:solidFill>
          <a:ln w="12700" cap="flat" cmpd="sng">
            <a:solidFill>
              <a:srgbClr val="071B2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6" name="Google Shape;86;p16"/>
          <p:cNvSpPr/>
          <p:nvPr/>
        </p:nvSpPr>
        <p:spPr>
          <a:xfrm>
            <a:off x="6693408" y="1472287"/>
            <a:ext cx="534900" cy="534900"/>
          </a:xfrm>
          <a:prstGeom prst="arc">
            <a:avLst>
              <a:gd name="adj1" fmla="val 16200000"/>
              <a:gd name="adj2" fmla="val 0"/>
            </a:avLst>
          </a:prstGeom>
          <a:solidFill>
            <a:srgbClr val="071B2A">
              <a:alpha val="0"/>
            </a:srgbClr>
          </a:solidFill>
          <a:ln w="48250" cap="flat" cmpd="sng">
            <a:solidFill>
              <a:srgbClr val="071B2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7" name="Google Shape;87;p16"/>
          <p:cNvSpPr/>
          <p:nvPr/>
        </p:nvSpPr>
        <p:spPr>
          <a:xfrm>
            <a:off x="6892290" y="1947672"/>
            <a:ext cx="150876" cy="150876"/>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8" name="Google Shape;88;p16"/>
          <p:cNvSpPr/>
          <p:nvPr/>
        </p:nvSpPr>
        <p:spPr>
          <a:xfrm>
            <a:off x="6947154" y="2064258"/>
            <a:ext cx="48006" cy="137160"/>
          </a:xfrm>
          <a:prstGeom prst="rect">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9" name="Google Shape;89;p16"/>
          <p:cNvSpPr/>
          <p:nvPr/>
        </p:nvSpPr>
        <p:spPr>
          <a:xfrm>
            <a:off x="5436057" y="3703320"/>
            <a:ext cx="82200" cy="8220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0" name="Google Shape;90;p16"/>
          <p:cNvSpPr/>
          <p:nvPr/>
        </p:nvSpPr>
        <p:spPr>
          <a:xfrm>
            <a:off x="5870225" y="4011930"/>
            <a:ext cx="82200" cy="82200"/>
          </a:xfrm>
          <a:prstGeom prst="ellipse">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1" name="Google Shape;91;p16"/>
          <p:cNvSpPr/>
          <p:nvPr/>
        </p:nvSpPr>
        <p:spPr>
          <a:xfrm>
            <a:off x="6327597" y="3600450"/>
            <a:ext cx="82200" cy="8220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2" name="Google Shape;92;p16"/>
          <p:cNvSpPr/>
          <p:nvPr/>
        </p:nvSpPr>
        <p:spPr>
          <a:xfrm>
            <a:off x="6830345" y="3943350"/>
            <a:ext cx="82200" cy="82200"/>
          </a:xfrm>
          <a:prstGeom prst="ellipse">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3" name="Google Shape;93;p16"/>
          <p:cNvSpPr/>
          <p:nvPr/>
        </p:nvSpPr>
        <p:spPr>
          <a:xfrm>
            <a:off x="7356297" y="3531870"/>
            <a:ext cx="82200" cy="8220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4" name="Google Shape;94;p16"/>
          <p:cNvSpPr/>
          <p:nvPr/>
        </p:nvSpPr>
        <p:spPr>
          <a:xfrm>
            <a:off x="7767777" y="3874770"/>
            <a:ext cx="82200" cy="82200"/>
          </a:xfrm>
          <a:prstGeom prst="ellipse">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5" name="Google Shape;95;p16"/>
          <p:cNvSpPr/>
          <p:nvPr/>
        </p:nvSpPr>
        <p:spPr>
          <a:xfrm>
            <a:off x="514350" y="857250"/>
            <a:ext cx="3977640" cy="5829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Inter"/>
              <a:buNone/>
            </a:pPr>
            <a:r>
              <a:rPr lang="en" sz="2600" b="1">
                <a:solidFill>
                  <a:srgbClr val="FFFFFF"/>
                </a:solidFill>
                <a:latin typeface="Inter"/>
                <a:ea typeface="Inter"/>
                <a:cs typeface="Inter"/>
                <a:sym typeface="Inter"/>
              </a:rPr>
              <a:t>Safe Login</a:t>
            </a:r>
            <a:endParaRPr sz="2600" b="0" i="0" u="none" strike="noStrike" cap="none">
              <a:solidFill>
                <a:schemeClr val="dk1"/>
              </a:solidFill>
              <a:latin typeface="Inter"/>
              <a:ea typeface="Inter"/>
              <a:cs typeface="Inter"/>
              <a:sym typeface="Inter"/>
            </a:endParaRPr>
          </a:p>
        </p:txBody>
      </p:sp>
      <p:sp>
        <p:nvSpPr>
          <p:cNvPr id="96" name="Google Shape;96;p16"/>
          <p:cNvSpPr/>
          <p:nvPr/>
        </p:nvSpPr>
        <p:spPr>
          <a:xfrm>
            <a:off x="514350" y="1405890"/>
            <a:ext cx="4594860" cy="9258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100"/>
              <a:buFont typeface="Inter"/>
              <a:buNone/>
            </a:pPr>
            <a:r>
              <a:rPr lang="en" sz="2100" b="1" i="0" u="none" strike="noStrike" cap="none">
                <a:solidFill>
                  <a:srgbClr val="FFFFFF"/>
                </a:solidFill>
                <a:latin typeface="Inter"/>
                <a:ea typeface="Inter"/>
                <a:cs typeface="Inter"/>
                <a:sym typeface="Inter"/>
              </a:rPr>
              <a:t>Detecting Suspicious Logins</a:t>
            </a:r>
            <a:endParaRPr sz="21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FFFFFF"/>
              </a:buClr>
              <a:buSzPts val="2100"/>
              <a:buFont typeface="Inter"/>
              <a:buNone/>
            </a:pPr>
            <a:r>
              <a:rPr lang="en" sz="2100" b="1" i="0" u="none" strike="noStrike" cap="none">
                <a:solidFill>
                  <a:srgbClr val="FFFFFF"/>
                </a:solidFill>
                <a:latin typeface="Inter"/>
                <a:ea typeface="Inter"/>
                <a:cs typeface="Inter"/>
                <a:sym typeface="Inter"/>
              </a:rPr>
              <a:t>with Machine Learning</a:t>
            </a:r>
            <a:endParaRPr sz="2100" b="0" i="0" u="none" strike="noStrike" cap="none">
              <a:solidFill>
                <a:schemeClr val="dk1"/>
              </a:solidFill>
              <a:latin typeface="Inter"/>
              <a:ea typeface="Inter"/>
              <a:cs typeface="Inter"/>
              <a:sym typeface="Inter"/>
            </a:endParaRPr>
          </a:p>
        </p:txBody>
      </p:sp>
      <p:sp>
        <p:nvSpPr>
          <p:cNvPr id="97" name="Google Shape;97;p16"/>
          <p:cNvSpPr/>
          <p:nvPr/>
        </p:nvSpPr>
        <p:spPr>
          <a:xfrm>
            <a:off x="534924" y="2482596"/>
            <a:ext cx="4080510" cy="5349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BD0DC"/>
              </a:buClr>
              <a:buSzPts val="1100"/>
              <a:buFont typeface="Inter"/>
              <a:buNone/>
            </a:pPr>
            <a:r>
              <a:rPr lang="en" sz="1100" b="0" i="0" u="none" strike="noStrike" cap="none">
                <a:solidFill>
                  <a:srgbClr val="BBD0DC"/>
                </a:solidFill>
                <a:latin typeface="Inter"/>
                <a:ea typeface="Inter"/>
                <a:cs typeface="Inter"/>
                <a:sym typeface="Inter"/>
              </a:rPr>
              <a:t>A Python-based cybersecurity classification project using the Risk-Based Authentication dataset</a:t>
            </a:r>
            <a:endParaRPr sz="1100" b="0" i="0" u="none" strike="noStrike" cap="none">
              <a:solidFill>
                <a:schemeClr val="dk1"/>
              </a:solidFill>
              <a:latin typeface="Inter"/>
              <a:ea typeface="Inter"/>
              <a:cs typeface="Inter"/>
              <a:sym typeface="Inter"/>
            </a:endParaRPr>
          </a:p>
        </p:txBody>
      </p:sp>
      <p:sp>
        <p:nvSpPr>
          <p:cNvPr id="98" name="Google Shape;98;p16"/>
          <p:cNvSpPr/>
          <p:nvPr/>
        </p:nvSpPr>
        <p:spPr>
          <a:xfrm>
            <a:off x="534924" y="3257550"/>
            <a:ext cx="788670" cy="233172"/>
          </a:xfrm>
          <a:prstGeom prst="roundRect">
            <a:avLst>
              <a:gd name="adj" fmla="val 16667"/>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9" name="Google Shape;99;p16"/>
          <p:cNvSpPr/>
          <p:nvPr/>
        </p:nvSpPr>
        <p:spPr>
          <a:xfrm>
            <a:off x="589788" y="3291840"/>
            <a:ext cx="678942"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600"/>
              <a:buFont typeface="Inter"/>
              <a:buNone/>
            </a:pPr>
            <a:r>
              <a:rPr lang="en" sz="600" b="1" i="0" u="none" strike="noStrike" cap="none">
                <a:solidFill>
                  <a:srgbClr val="22D3A6"/>
                </a:solidFill>
                <a:latin typeface="Inter"/>
                <a:ea typeface="Inter"/>
                <a:cs typeface="Inter"/>
                <a:sym typeface="Inter"/>
              </a:rPr>
              <a:t>PYTHON</a:t>
            </a:r>
            <a:endParaRPr sz="600" b="0" i="0" u="none" strike="noStrike" cap="none">
              <a:solidFill>
                <a:schemeClr val="dk1"/>
              </a:solidFill>
              <a:latin typeface="Inter"/>
              <a:ea typeface="Inter"/>
              <a:cs typeface="Inter"/>
              <a:sym typeface="Inter"/>
            </a:endParaRPr>
          </a:p>
        </p:txBody>
      </p:sp>
      <p:sp>
        <p:nvSpPr>
          <p:cNvPr id="100" name="Google Shape;100;p16"/>
          <p:cNvSpPr/>
          <p:nvPr/>
        </p:nvSpPr>
        <p:spPr>
          <a:xfrm>
            <a:off x="1405890" y="3257550"/>
            <a:ext cx="1220724" cy="233172"/>
          </a:xfrm>
          <a:prstGeom prst="roundRect">
            <a:avLst>
              <a:gd name="adj" fmla="val 16667"/>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1" name="Google Shape;101;p16"/>
          <p:cNvSpPr/>
          <p:nvPr/>
        </p:nvSpPr>
        <p:spPr>
          <a:xfrm>
            <a:off x="1460754" y="3291840"/>
            <a:ext cx="1110996"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CC9F0"/>
              </a:buClr>
              <a:buSzPts val="600"/>
              <a:buFont typeface="Inter"/>
              <a:buNone/>
            </a:pPr>
            <a:r>
              <a:rPr lang="en" sz="600" b="1" i="0" u="none" strike="noStrike" cap="none">
                <a:solidFill>
                  <a:srgbClr val="4CC9F0"/>
                </a:solidFill>
                <a:latin typeface="Inter"/>
                <a:ea typeface="Inter"/>
                <a:cs typeface="Inter"/>
                <a:sym typeface="Inter"/>
              </a:rPr>
              <a:t>RANDOM FOREST</a:t>
            </a:r>
            <a:endParaRPr sz="600" b="0" i="0" u="none" strike="noStrike" cap="none">
              <a:solidFill>
                <a:schemeClr val="dk1"/>
              </a:solidFill>
              <a:latin typeface="Inter"/>
              <a:ea typeface="Inter"/>
              <a:cs typeface="Inter"/>
              <a:sym typeface="Inter"/>
            </a:endParaRPr>
          </a:p>
        </p:txBody>
      </p:sp>
      <p:sp>
        <p:nvSpPr>
          <p:cNvPr id="102" name="Google Shape;102;p16"/>
          <p:cNvSpPr/>
          <p:nvPr/>
        </p:nvSpPr>
        <p:spPr>
          <a:xfrm>
            <a:off x="2708910" y="3257550"/>
            <a:ext cx="1131570" cy="233172"/>
          </a:xfrm>
          <a:prstGeom prst="roundRect">
            <a:avLst>
              <a:gd name="adj" fmla="val 16667"/>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3" name="Google Shape;103;p16"/>
          <p:cNvSpPr/>
          <p:nvPr/>
        </p:nvSpPr>
        <p:spPr>
          <a:xfrm>
            <a:off x="2763774" y="3291840"/>
            <a:ext cx="1021842"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DBE6"/>
              </a:buClr>
              <a:buSzPts val="600"/>
              <a:buFont typeface="Inter"/>
              <a:buNone/>
            </a:pPr>
            <a:r>
              <a:rPr lang="en" sz="600" b="1" i="0" u="none" strike="noStrike" cap="none">
                <a:solidFill>
                  <a:srgbClr val="C8DBE6"/>
                </a:solidFill>
                <a:latin typeface="Inter"/>
                <a:ea typeface="Inter"/>
                <a:cs typeface="Inter"/>
                <a:sym typeface="Inter"/>
              </a:rPr>
              <a:t>CYBERSECURITY</a:t>
            </a:r>
            <a:endParaRPr sz="600" b="0" i="0" u="none" strike="noStrike" cap="none">
              <a:solidFill>
                <a:schemeClr val="dk1"/>
              </a:solidFill>
              <a:latin typeface="Inter"/>
              <a:ea typeface="Inter"/>
              <a:cs typeface="Inter"/>
              <a:sym typeface="Inter"/>
            </a:endParaRPr>
          </a:p>
        </p:txBody>
      </p:sp>
      <p:sp>
        <p:nvSpPr>
          <p:cNvPr id="104" name="Google Shape;104;p16"/>
          <p:cNvSpPr/>
          <p:nvPr/>
        </p:nvSpPr>
        <p:spPr>
          <a:xfrm>
            <a:off x="534924" y="4594860"/>
            <a:ext cx="2606040" cy="17145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A7B9"/>
              </a:buClr>
              <a:buSzPts val="800"/>
              <a:buFont typeface="Inter"/>
              <a:buNone/>
            </a:pPr>
            <a:r>
              <a:rPr lang="en" sz="800" b="0" i="0" u="none" strike="noStrike" cap="none">
                <a:solidFill>
                  <a:srgbClr val="85A7B9"/>
                </a:solidFill>
                <a:latin typeface="Inter"/>
                <a:ea typeface="Inter"/>
                <a:cs typeface="Inter"/>
                <a:sym typeface="Inter"/>
              </a:rPr>
              <a:t>Programming Project Presentation</a:t>
            </a:r>
            <a:endParaRPr sz="800" b="0" i="0" u="none" strike="noStrike" cap="none">
              <a:solidFill>
                <a:schemeClr val="dk1"/>
              </a:solidFill>
              <a:latin typeface="Inter"/>
              <a:ea typeface="Inter"/>
              <a:cs typeface="Inter"/>
              <a:sym typeface="Inter"/>
            </a:endParaRPr>
          </a:p>
        </p:txBody>
      </p:sp>
      <p:sp>
        <p:nvSpPr>
          <p:cNvPr id="105" name="Google Shape;105;p16"/>
          <p:cNvSpPr/>
          <p:nvPr/>
        </p:nvSpPr>
        <p:spPr>
          <a:xfrm rot="-5400000">
            <a:off x="6693410" y="1472305"/>
            <a:ext cx="534900" cy="534900"/>
          </a:xfrm>
          <a:prstGeom prst="arc">
            <a:avLst>
              <a:gd name="adj1" fmla="val 16200000"/>
              <a:gd name="adj2" fmla="val 0"/>
            </a:avLst>
          </a:prstGeom>
          <a:solidFill>
            <a:srgbClr val="071B2A">
              <a:alpha val="0"/>
            </a:srgbClr>
          </a:solidFill>
          <a:ln w="48250" cap="flat" cmpd="sng">
            <a:solidFill>
              <a:srgbClr val="071B2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6" name="Google Shape;106;p16"/>
          <p:cNvSpPr txBox="1"/>
          <p:nvPr/>
        </p:nvSpPr>
        <p:spPr>
          <a:xfrm>
            <a:off x="438800" y="3632263"/>
            <a:ext cx="3521100" cy="5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FFFF"/>
                </a:solidFill>
              </a:rPr>
              <a:t>By: Pranav Das, Julia Jeng, Sahas Vijay, Aarush Kikkuru</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Why this project matters</a:t>
            </a:r>
            <a:endParaRPr sz="2100" b="0" i="0" u="none" strike="noStrike" cap="none">
              <a:solidFill>
                <a:schemeClr val="dk1"/>
              </a:solidFill>
              <a:latin typeface="Inter"/>
              <a:ea typeface="Inter"/>
              <a:cs typeface="Inter"/>
              <a:sym typeface="Inter"/>
            </a:endParaRPr>
          </a:p>
        </p:txBody>
      </p:sp>
      <p:sp>
        <p:nvSpPr>
          <p:cNvPr id="113" name="Google Shape;113;p17"/>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A login can look normal on the surface while still carrying multiple risk signals.</a:t>
            </a:r>
            <a:endParaRPr sz="900" b="0" i="0" u="none" strike="noStrike" cap="none">
              <a:solidFill>
                <a:schemeClr val="dk1"/>
              </a:solidFill>
              <a:latin typeface="Inter"/>
              <a:ea typeface="Inter"/>
              <a:cs typeface="Inter"/>
              <a:sym typeface="Inter"/>
            </a:endParaRPr>
          </a:p>
        </p:txBody>
      </p:sp>
      <p:sp>
        <p:nvSpPr>
          <p:cNvPr id="114" name="Google Shape;114;p17"/>
          <p:cNvSpPr/>
          <p:nvPr/>
        </p:nvSpPr>
        <p:spPr>
          <a:xfrm>
            <a:off x="466344" y="1268730"/>
            <a:ext cx="2249424" cy="2091690"/>
          </a:xfrm>
          <a:prstGeom prst="roundRect">
            <a:avLst>
              <a:gd name="adj" fmla="val 393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5" name="Google Shape;115;p17"/>
          <p:cNvSpPr/>
          <p:nvPr/>
        </p:nvSpPr>
        <p:spPr>
          <a:xfrm>
            <a:off x="617220" y="1426464"/>
            <a:ext cx="377190" cy="377190"/>
          </a:xfrm>
          <a:prstGeom prst="ellipse">
            <a:avLst/>
          </a:prstGeom>
          <a:solidFill>
            <a:srgbClr val="EAF2FF"/>
          </a:solidFill>
          <a:ln w="12700" cap="flat" cmpd="sng">
            <a:solidFill>
              <a:srgbClr val="EAF2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6" name="Google Shape;116;p17"/>
          <p:cNvSpPr/>
          <p:nvPr/>
        </p:nvSpPr>
        <p:spPr>
          <a:xfrm>
            <a:off x="617220" y="1553340"/>
            <a:ext cx="3771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86FF"/>
              </a:buClr>
              <a:buSzPts val="800"/>
              <a:buFont typeface="Inter"/>
              <a:buNone/>
            </a:pPr>
            <a:r>
              <a:rPr lang="en" sz="800" b="1" i="0" u="none" strike="noStrike" cap="none">
                <a:solidFill>
                  <a:srgbClr val="3A86FF"/>
                </a:solidFill>
                <a:latin typeface="Inter"/>
                <a:ea typeface="Inter"/>
                <a:cs typeface="Inter"/>
                <a:sym typeface="Inter"/>
              </a:rPr>
              <a:t>01</a:t>
            </a:r>
            <a:endParaRPr sz="800" b="0" i="0" u="none" strike="noStrike" cap="none">
              <a:solidFill>
                <a:schemeClr val="dk1"/>
              </a:solidFill>
              <a:latin typeface="Inter"/>
              <a:ea typeface="Inter"/>
              <a:cs typeface="Inter"/>
              <a:sym typeface="Inter"/>
            </a:endParaRPr>
          </a:p>
        </p:txBody>
      </p:sp>
      <p:sp>
        <p:nvSpPr>
          <p:cNvPr id="117" name="Google Shape;117;p17"/>
          <p:cNvSpPr/>
          <p:nvPr/>
        </p:nvSpPr>
        <p:spPr>
          <a:xfrm>
            <a:off x="617220" y="1975104"/>
            <a:ext cx="1940814" cy="3771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300"/>
              <a:buFont typeface="Inter"/>
              <a:buNone/>
            </a:pPr>
            <a:r>
              <a:rPr lang="en" sz="1300" b="1" i="0" u="none" strike="noStrike" cap="none">
                <a:solidFill>
                  <a:srgbClr val="122637"/>
                </a:solidFill>
                <a:latin typeface="Inter"/>
                <a:ea typeface="Inter"/>
                <a:cs typeface="Inter"/>
                <a:sym typeface="Inter"/>
              </a:rPr>
              <a:t>Passwords are not enough</a:t>
            </a:r>
            <a:endParaRPr sz="1300" b="0" i="0" u="none" strike="noStrike" cap="none">
              <a:solidFill>
                <a:schemeClr val="dk1"/>
              </a:solidFill>
              <a:latin typeface="Inter"/>
              <a:ea typeface="Inter"/>
              <a:cs typeface="Inter"/>
              <a:sym typeface="Inter"/>
            </a:endParaRPr>
          </a:p>
        </p:txBody>
      </p:sp>
      <p:sp>
        <p:nvSpPr>
          <p:cNvPr id="118" name="Google Shape;118;p17"/>
          <p:cNvSpPr/>
          <p:nvPr/>
        </p:nvSpPr>
        <p:spPr>
          <a:xfrm>
            <a:off x="617220" y="2414016"/>
            <a:ext cx="1906524" cy="7200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A correct password does not prove that the person logging in is the legitimate account owner.</a:t>
            </a:r>
            <a:endParaRPr sz="800" b="0" i="0" u="none" strike="noStrike" cap="none">
              <a:solidFill>
                <a:schemeClr val="dk1"/>
              </a:solidFill>
              <a:latin typeface="Inter"/>
              <a:ea typeface="Inter"/>
              <a:cs typeface="Inter"/>
              <a:sym typeface="Inter"/>
            </a:endParaRPr>
          </a:p>
        </p:txBody>
      </p:sp>
      <p:sp>
        <p:nvSpPr>
          <p:cNvPr id="119" name="Google Shape;119;p17"/>
          <p:cNvSpPr/>
          <p:nvPr/>
        </p:nvSpPr>
        <p:spPr>
          <a:xfrm>
            <a:off x="3038094" y="1268730"/>
            <a:ext cx="2249424" cy="2091690"/>
          </a:xfrm>
          <a:prstGeom prst="roundRect">
            <a:avLst>
              <a:gd name="adj" fmla="val 393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0" name="Google Shape;120;p17"/>
          <p:cNvSpPr/>
          <p:nvPr/>
        </p:nvSpPr>
        <p:spPr>
          <a:xfrm>
            <a:off x="3188970" y="1426464"/>
            <a:ext cx="377190" cy="377190"/>
          </a:xfrm>
          <a:prstGeom prst="ellipse">
            <a:avLst/>
          </a:prstGeom>
          <a:solidFill>
            <a:srgbClr val="E5FAF4"/>
          </a:solidFill>
          <a:ln w="12700" cap="flat" cmpd="sng">
            <a:solidFill>
              <a:srgbClr val="E5FAF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1" name="Google Shape;121;p17"/>
          <p:cNvSpPr/>
          <p:nvPr/>
        </p:nvSpPr>
        <p:spPr>
          <a:xfrm>
            <a:off x="3188970" y="1556765"/>
            <a:ext cx="3771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800"/>
              <a:buFont typeface="Inter"/>
              <a:buNone/>
            </a:pPr>
            <a:r>
              <a:rPr lang="en" sz="800" b="1" i="0" u="none" strike="noStrike" cap="none">
                <a:solidFill>
                  <a:srgbClr val="22D3A6"/>
                </a:solidFill>
                <a:latin typeface="Inter"/>
                <a:ea typeface="Inter"/>
                <a:cs typeface="Inter"/>
                <a:sym typeface="Inter"/>
              </a:rPr>
              <a:t>02</a:t>
            </a:r>
            <a:endParaRPr sz="800" b="0" i="0" u="none" strike="noStrike" cap="none">
              <a:solidFill>
                <a:schemeClr val="dk1"/>
              </a:solidFill>
              <a:latin typeface="Inter"/>
              <a:ea typeface="Inter"/>
              <a:cs typeface="Inter"/>
              <a:sym typeface="Inter"/>
            </a:endParaRPr>
          </a:p>
        </p:txBody>
      </p:sp>
      <p:sp>
        <p:nvSpPr>
          <p:cNvPr id="122" name="Google Shape;122;p17"/>
          <p:cNvSpPr/>
          <p:nvPr/>
        </p:nvSpPr>
        <p:spPr>
          <a:xfrm>
            <a:off x="3188970" y="1975104"/>
            <a:ext cx="1940814" cy="3771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300"/>
              <a:buFont typeface="Inter"/>
              <a:buNone/>
            </a:pPr>
            <a:r>
              <a:rPr lang="en" sz="1300" b="1" i="0" u="none" strike="noStrike" cap="none">
                <a:solidFill>
                  <a:srgbClr val="122637"/>
                </a:solidFill>
                <a:latin typeface="Inter"/>
                <a:ea typeface="Inter"/>
                <a:cs typeface="Inter"/>
                <a:sym typeface="Inter"/>
              </a:rPr>
              <a:t>Context reveals risk</a:t>
            </a:r>
            <a:endParaRPr sz="1300" b="0" i="0" u="none" strike="noStrike" cap="none">
              <a:solidFill>
                <a:schemeClr val="dk1"/>
              </a:solidFill>
              <a:latin typeface="Inter"/>
              <a:ea typeface="Inter"/>
              <a:cs typeface="Inter"/>
              <a:sym typeface="Inter"/>
            </a:endParaRPr>
          </a:p>
        </p:txBody>
      </p:sp>
      <p:sp>
        <p:nvSpPr>
          <p:cNvPr id="123" name="Google Shape;123;p17"/>
          <p:cNvSpPr/>
          <p:nvPr/>
        </p:nvSpPr>
        <p:spPr>
          <a:xfrm>
            <a:off x="3188970" y="2414016"/>
            <a:ext cx="1906524" cy="7200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Time, location, device, network, latency, and login success patterns can make suspicious activity easier to detect.</a:t>
            </a:r>
            <a:endParaRPr sz="800" b="0" i="0" u="none" strike="noStrike" cap="none">
              <a:solidFill>
                <a:schemeClr val="dk1"/>
              </a:solidFill>
              <a:latin typeface="Inter"/>
              <a:ea typeface="Inter"/>
              <a:cs typeface="Inter"/>
              <a:sym typeface="Inter"/>
            </a:endParaRPr>
          </a:p>
        </p:txBody>
      </p:sp>
      <p:sp>
        <p:nvSpPr>
          <p:cNvPr id="124" name="Google Shape;124;p17"/>
          <p:cNvSpPr/>
          <p:nvPr/>
        </p:nvSpPr>
        <p:spPr>
          <a:xfrm>
            <a:off x="5609844" y="1268730"/>
            <a:ext cx="2249424" cy="2091690"/>
          </a:xfrm>
          <a:prstGeom prst="roundRect">
            <a:avLst>
              <a:gd name="adj" fmla="val 393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5" name="Google Shape;125;p17"/>
          <p:cNvSpPr/>
          <p:nvPr/>
        </p:nvSpPr>
        <p:spPr>
          <a:xfrm>
            <a:off x="5760720" y="1426464"/>
            <a:ext cx="377190" cy="377190"/>
          </a:xfrm>
          <a:prstGeom prst="ellipse">
            <a:avLst/>
          </a:prstGeom>
          <a:solidFill>
            <a:srgbClr val="FFF0F0"/>
          </a:solidFill>
          <a:ln w="12700" cap="flat" cmpd="sng">
            <a:solidFill>
              <a:srgbClr val="FFF0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6" name="Google Shape;126;p17"/>
          <p:cNvSpPr/>
          <p:nvPr/>
        </p:nvSpPr>
        <p:spPr>
          <a:xfrm>
            <a:off x="5760720" y="1553277"/>
            <a:ext cx="3771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6B6B"/>
              </a:buClr>
              <a:buSzPts val="800"/>
              <a:buFont typeface="Inter"/>
              <a:buNone/>
            </a:pPr>
            <a:r>
              <a:rPr lang="en" sz="800" b="1" i="0" u="none" strike="noStrike" cap="none">
                <a:solidFill>
                  <a:srgbClr val="FF6B6B"/>
                </a:solidFill>
                <a:latin typeface="Inter"/>
                <a:ea typeface="Inter"/>
                <a:cs typeface="Inter"/>
                <a:sym typeface="Inter"/>
              </a:rPr>
              <a:t>03</a:t>
            </a:r>
            <a:endParaRPr sz="800" b="0" i="0" u="none" strike="noStrike" cap="none">
              <a:solidFill>
                <a:schemeClr val="dk1"/>
              </a:solidFill>
              <a:latin typeface="Inter"/>
              <a:ea typeface="Inter"/>
              <a:cs typeface="Inter"/>
              <a:sym typeface="Inter"/>
            </a:endParaRPr>
          </a:p>
        </p:txBody>
      </p:sp>
      <p:sp>
        <p:nvSpPr>
          <p:cNvPr id="127" name="Google Shape;127;p17"/>
          <p:cNvSpPr/>
          <p:nvPr/>
        </p:nvSpPr>
        <p:spPr>
          <a:xfrm>
            <a:off x="5760720" y="1975104"/>
            <a:ext cx="1940814" cy="3771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300"/>
              <a:buFont typeface="Inter"/>
              <a:buNone/>
            </a:pPr>
            <a:r>
              <a:rPr lang="en" sz="1300" b="1" i="0" u="none" strike="noStrike" cap="none">
                <a:solidFill>
                  <a:srgbClr val="122637"/>
                </a:solidFill>
                <a:latin typeface="Inter"/>
                <a:ea typeface="Inter"/>
                <a:cs typeface="Inter"/>
                <a:sym typeface="Inter"/>
              </a:rPr>
              <a:t>ML combines signals</a:t>
            </a:r>
            <a:endParaRPr sz="1300" b="0" i="0" u="none" strike="noStrike" cap="none">
              <a:solidFill>
                <a:schemeClr val="dk1"/>
              </a:solidFill>
              <a:latin typeface="Inter"/>
              <a:ea typeface="Inter"/>
              <a:cs typeface="Inter"/>
              <a:sym typeface="Inter"/>
            </a:endParaRPr>
          </a:p>
        </p:txBody>
      </p:sp>
      <p:sp>
        <p:nvSpPr>
          <p:cNvPr id="128" name="Google Shape;128;p17"/>
          <p:cNvSpPr/>
          <p:nvPr/>
        </p:nvSpPr>
        <p:spPr>
          <a:xfrm>
            <a:off x="5760720" y="2414016"/>
            <a:ext cx="1906524" cy="72009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A classification model can evaluate many weak signals together and assign a risk decision to each login.</a:t>
            </a:r>
            <a:endParaRPr sz="800" b="0" i="0" u="none" strike="noStrike" cap="none">
              <a:solidFill>
                <a:schemeClr val="dk1"/>
              </a:solidFill>
              <a:latin typeface="Inter"/>
              <a:ea typeface="Inter"/>
              <a:cs typeface="Inter"/>
              <a:sym typeface="Inter"/>
            </a:endParaRPr>
          </a:p>
        </p:txBody>
      </p:sp>
      <p:sp>
        <p:nvSpPr>
          <p:cNvPr id="129" name="Google Shape;129;p17"/>
          <p:cNvSpPr/>
          <p:nvPr/>
        </p:nvSpPr>
        <p:spPr>
          <a:xfrm>
            <a:off x="809244" y="3655314"/>
            <a:ext cx="7523100" cy="569100"/>
          </a:xfrm>
          <a:prstGeom prst="roundRect">
            <a:avLst>
              <a:gd name="adj" fmla="val 16667"/>
            </a:avLst>
          </a:prstGeom>
          <a:solidFill>
            <a:srgbClr val="071B2A"/>
          </a:solidFill>
          <a:ln w="12700" cap="flat" cmpd="sng">
            <a:solidFill>
              <a:srgbClr val="071B2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0" name="Google Shape;130;p17"/>
          <p:cNvSpPr/>
          <p:nvPr/>
        </p:nvSpPr>
        <p:spPr>
          <a:xfrm>
            <a:off x="1014984" y="3859701"/>
            <a:ext cx="994500" cy="137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Project question</a:t>
            </a:r>
            <a:endParaRPr sz="700" b="0" i="0" u="none" strike="noStrike" cap="none">
              <a:solidFill>
                <a:schemeClr val="dk1"/>
              </a:solidFill>
              <a:latin typeface="Inter"/>
              <a:ea typeface="Inter"/>
              <a:cs typeface="Inter"/>
              <a:sym typeface="Inter"/>
            </a:endParaRPr>
          </a:p>
        </p:txBody>
      </p:sp>
      <p:sp>
        <p:nvSpPr>
          <p:cNvPr id="131" name="Google Shape;131;p17"/>
          <p:cNvSpPr/>
          <p:nvPr/>
        </p:nvSpPr>
        <p:spPr>
          <a:xfrm>
            <a:off x="2112264" y="3811695"/>
            <a:ext cx="5726400" cy="212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Inter"/>
              <a:buNone/>
            </a:pPr>
            <a:r>
              <a:rPr lang="en" sz="1300" b="1" i="0" u="none" strike="noStrike" cap="none">
                <a:solidFill>
                  <a:srgbClr val="FFFFFF"/>
                </a:solidFill>
                <a:latin typeface="Inter"/>
                <a:ea typeface="Inter"/>
                <a:cs typeface="Inter"/>
                <a:sym typeface="Inter"/>
              </a:rPr>
              <a:t>Can a machine learning model use login context to identify suspicious activity?</a:t>
            </a:r>
            <a:endParaRPr sz="1300" b="0" i="0" u="none" strike="noStrike" cap="none">
              <a:solidFill>
                <a:schemeClr val="dk1"/>
              </a:solidFill>
              <a:latin typeface="Inter"/>
              <a:ea typeface="Inter"/>
              <a:cs typeface="Inter"/>
              <a:sym typeface="Inter"/>
            </a:endParaRPr>
          </a:p>
        </p:txBody>
      </p:sp>
      <p:sp>
        <p:nvSpPr>
          <p:cNvPr id="132" name="Google Shape;132;p17"/>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2</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Project objective</a:t>
            </a:r>
            <a:endParaRPr sz="2100" b="0" i="0" u="none" strike="noStrike" cap="none">
              <a:solidFill>
                <a:schemeClr val="dk1"/>
              </a:solidFill>
              <a:latin typeface="Inter"/>
              <a:ea typeface="Inter"/>
              <a:cs typeface="Inter"/>
              <a:sym typeface="Inter"/>
            </a:endParaRPr>
          </a:p>
        </p:txBody>
      </p:sp>
      <p:sp>
        <p:nvSpPr>
          <p:cNvPr id="139" name="Google Shape;139;p18"/>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Convert raw login activity into a clear, explainable security decision.</a:t>
            </a:r>
            <a:endParaRPr sz="900" b="0" i="0" u="none" strike="noStrike" cap="none">
              <a:solidFill>
                <a:schemeClr val="dk1"/>
              </a:solidFill>
              <a:latin typeface="Inter"/>
              <a:ea typeface="Inter"/>
              <a:cs typeface="Inter"/>
              <a:sym typeface="Inter"/>
            </a:endParaRPr>
          </a:p>
        </p:txBody>
      </p:sp>
      <p:sp>
        <p:nvSpPr>
          <p:cNvPr id="140" name="Google Shape;140;p18"/>
          <p:cNvSpPr/>
          <p:nvPr/>
        </p:nvSpPr>
        <p:spPr>
          <a:xfrm>
            <a:off x="651510" y="1323594"/>
            <a:ext cx="96012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INPUT</a:t>
            </a:r>
            <a:endParaRPr sz="700" b="0" i="0" u="none" strike="noStrike" cap="none">
              <a:solidFill>
                <a:schemeClr val="dk1"/>
              </a:solidFill>
              <a:latin typeface="Inter"/>
              <a:ea typeface="Inter"/>
              <a:cs typeface="Inter"/>
              <a:sym typeface="Inter"/>
            </a:endParaRPr>
          </a:p>
        </p:txBody>
      </p:sp>
      <p:sp>
        <p:nvSpPr>
          <p:cNvPr id="141" name="Google Shape;141;p18"/>
          <p:cNvSpPr/>
          <p:nvPr/>
        </p:nvSpPr>
        <p:spPr>
          <a:xfrm>
            <a:off x="4101084" y="1323594"/>
            <a:ext cx="96012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MODEL</a:t>
            </a:r>
            <a:endParaRPr sz="700" b="0" i="0" u="none" strike="noStrike" cap="none">
              <a:solidFill>
                <a:schemeClr val="dk1"/>
              </a:solidFill>
              <a:latin typeface="Inter"/>
              <a:ea typeface="Inter"/>
              <a:cs typeface="Inter"/>
              <a:sym typeface="Inter"/>
            </a:endParaRPr>
          </a:p>
        </p:txBody>
      </p:sp>
      <p:sp>
        <p:nvSpPr>
          <p:cNvPr id="142" name="Google Shape;142;p18"/>
          <p:cNvSpPr/>
          <p:nvPr/>
        </p:nvSpPr>
        <p:spPr>
          <a:xfrm>
            <a:off x="7002036" y="1368157"/>
            <a:ext cx="960000" cy="150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OUTPUT</a:t>
            </a:r>
            <a:endParaRPr sz="700" b="0" i="0" u="none" strike="noStrike" cap="none">
              <a:solidFill>
                <a:schemeClr val="dk1"/>
              </a:solidFill>
              <a:latin typeface="Inter"/>
              <a:ea typeface="Inter"/>
              <a:cs typeface="Inter"/>
              <a:sym typeface="Inter"/>
            </a:endParaRPr>
          </a:p>
        </p:txBody>
      </p:sp>
      <p:sp>
        <p:nvSpPr>
          <p:cNvPr id="143" name="Google Shape;143;p18"/>
          <p:cNvSpPr/>
          <p:nvPr/>
        </p:nvSpPr>
        <p:spPr>
          <a:xfrm>
            <a:off x="562356" y="1563624"/>
            <a:ext cx="2228850" cy="1933956"/>
          </a:xfrm>
          <a:prstGeom prst="roundRect">
            <a:avLst>
              <a:gd name="adj" fmla="val 4255"/>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 name="Google Shape;144;p18"/>
          <p:cNvSpPr/>
          <p:nvPr/>
        </p:nvSpPr>
        <p:spPr>
          <a:xfrm>
            <a:off x="754380" y="1817370"/>
            <a:ext cx="370332" cy="370332"/>
          </a:xfrm>
          <a:prstGeom prst="ellipse">
            <a:avLst/>
          </a:prstGeom>
          <a:solidFill>
            <a:srgbClr val="EAF2FF"/>
          </a:solidFill>
          <a:ln w="12700" cap="flat" cmpd="sng">
            <a:solidFill>
              <a:srgbClr val="EAF2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5" name="Google Shape;145;p18"/>
          <p:cNvSpPr/>
          <p:nvPr/>
        </p:nvSpPr>
        <p:spPr>
          <a:xfrm>
            <a:off x="857250" y="1906524"/>
            <a:ext cx="164592" cy="164592"/>
          </a:xfrm>
          <a:prstGeom prst="ellipse">
            <a:avLst/>
          </a:prstGeom>
          <a:solidFill>
            <a:srgbClr val="EAF2FF">
              <a:alpha val="0"/>
            </a:srgbClr>
          </a:solidFill>
          <a:ln w="165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146" name="Google Shape;146;p18"/>
          <p:cNvCxnSpPr/>
          <p:nvPr/>
        </p:nvCxnSpPr>
        <p:spPr>
          <a:xfrm rot="10800000">
            <a:off x="939546" y="1940814"/>
            <a:ext cx="0" cy="48006"/>
          </a:xfrm>
          <a:prstGeom prst="straightConnector1">
            <a:avLst/>
          </a:prstGeom>
          <a:noFill/>
          <a:ln w="15225" cap="flat" cmpd="sng">
            <a:solidFill>
              <a:srgbClr val="3A86FF"/>
            </a:solidFill>
            <a:prstDash val="solid"/>
            <a:round/>
            <a:headEnd type="none" w="sm" len="sm"/>
            <a:tailEnd type="none" w="sm" len="sm"/>
          </a:ln>
        </p:spPr>
      </p:cxnSp>
      <p:cxnSp>
        <p:nvCxnSpPr>
          <p:cNvPr id="147" name="Google Shape;147;p18"/>
          <p:cNvCxnSpPr/>
          <p:nvPr/>
        </p:nvCxnSpPr>
        <p:spPr>
          <a:xfrm>
            <a:off x="939546" y="1988820"/>
            <a:ext cx="48006" cy="27432"/>
          </a:xfrm>
          <a:prstGeom prst="straightConnector1">
            <a:avLst/>
          </a:prstGeom>
          <a:noFill/>
          <a:ln w="15225" cap="flat" cmpd="sng">
            <a:solidFill>
              <a:srgbClr val="3A86FF"/>
            </a:solidFill>
            <a:prstDash val="solid"/>
            <a:round/>
            <a:headEnd type="none" w="sm" len="sm"/>
            <a:tailEnd type="none" w="sm" len="sm"/>
          </a:ln>
        </p:spPr>
      </p:cxnSp>
      <p:sp>
        <p:nvSpPr>
          <p:cNvPr id="148" name="Google Shape;148;p18"/>
          <p:cNvSpPr/>
          <p:nvPr/>
        </p:nvSpPr>
        <p:spPr>
          <a:xfrm>
            <a:off x="754380" y="2311146"/>
            <a:ext cx="370332" cy="370332"/>
          </a:xfrm>
          <a:prstGeom prst="ellipse">
            <a:avLst/>
          </a:prstGeom>
          <a:solidFill>
            <a:srgbClr val="E5FAF4"/>
          </a:solidFill>
          <a:ln w="12700" cap="flat" cmpd="sng">
            <a:solidFill>
              <a:srgbClr val="E5FAF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 name="Google Shape;149;p18"/>
          <p:cNvSpPr/>
          <p:nvPr/>
        </p:nvSpPr>
        <p:spPr>
          <a:xfrm>
            <a:off x="850392" y="2400300"/>
            <a:ext cx="178308" cy="178308"/>
          </a:xfrm>
          <a:prstGeom prst="ellipse">
            <a:avLst/>
          </a:prstGeom>
          <a:solidFill>
            <a:srgbClr val="E5FAF4">
              <a:alpha val="0"/>
            </a:srgbClr>
          </a:solidFill>
          <a:ln w="15225"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150" name="Google Shape;150;p18"/>
          <p:cNvCxnSpPr/>
          <p:nvPr/>
        </p:nvCxnSpPr>
        <p:spPr>
          <a:xfrm>
            <a:off x="939546" y="2400300"/>
            <a:ext cx="0" cy="178308"/>
          </a:xfrm>
          <a:prstGeom prst="straightConnector1">
            <a:avLst/>
          </a:prstGeom>
          <a:noFill/>
          <a:ln w="11425" cap="flat" cmpd="sng">
            <a:solidFill>
              <a:srgbClr val="22D3A6"/>
            </a:solidFill>
            <a:prstDash val="solid"/>
            <a:round/>
            <a:headEnd type="none" w="sm" len="sm"/>
            <a:tailEnd type="none" w="sm" len="sm"/>
          </a:ln>
        </p:spPr>
      </p:cxnSp>
      <p:cxnSp>
        <p:nvCxnSpPr>
          <p:cNvPr id="151" name="Google Shape;151;p18"/>
          <p:cNvCxnSpPr/>
          <p:nvPr/>
        </p:nvCxnSpPr>
        <p:spPr>
          <a:xfrm>
            <a:off x="850392" y="2489454"/>
            <a:ext cx="178308" cy="0"/>
          </a:xfrm>
          <a:prstGeom prst="straightConnector1">
            <a:avLst/>
          </a:prstGeom>
          <a:noFill/>
          <a:ln w="11425" cap="flat" cmpd="sng">
            <a:solidFill>
              <a:srgbClr val="22D3A6"/>
            </a:solidFill>
            <a:prstDash val="solid"/>
            <a:round/>
            <a:headEnd type="none" w="sm" len="sm"/>
            <a:tailEnd type="none" w="sm" len="sm"/>
          </a:ln>
        </p:spPr>
      </p:cxnSp>
      <p:sp>
        <p:nvSpPr>
          <p:cNvPr id="152" name="Google Shape;152;p18"/>
          <p:cNvSpPr/>
          <p:nvPr/>
        </p:nvSpPr>
        <p:spPr>
          <a:xfrm>
            <a:off x="754380" y="2804922"/>
            <a:ext cx="370332" cy="370332"/>
          </a:xfrm>
          <a:prstGeom prst="ellipse">
            <a:avLst/>
          </a:prstGeom>
          <a:solidFill>
            <a:srgbClr val="FFF0F0"/>
          </a:solidFill>
          <a:ln w="12700" cap="flat" cmpd="sng">
            <a:solidFill>
              <a:srgbClr val="FFF0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3" name="Google Shape;153;p18"/>
          <p:cNvSpPr/>
          <p:nvPr/>
        </p:nvSpPr>
        <p:spPr>
          <a:xfrm>
            <a:off x="850392" y="2894076"/>
            <a:ext cx="185166" cy="144018"/>
          </a:xfrm>
          <a:prstGeom prst="roundRect">
            <a:avLst>
              <a:gd name="adj" fmla="val 16667"/>
            </a:avLst>
          </a:prstGeom>
          <a:solidFill>
            <a:srgbClr val="FFF0F0">
              <a:alpha val="0"/>
            </a:srgbClr>
          </a:solidFill>
          <a:ln w="165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154" name="Google Shape;154;p18"/>
          <p:cNvCxnSpPr/>
          <p:nvPr/>
        </p:nvCxnSpPr>
        <p:spPr>
          <a:xfrm>
            <a:off x="898398" y="3065526"/>
            <a:ext cx="89154" cy="0"/>
          </a:xfrm>
          <a:prstGeom prst="straightConnector1">
            <a:avLst/>
          </a:prstGeom>
          <a:noFill/>
          <a:ln w="16500" cap="flat" cmpd="sng">
            <a:solidFill>
              <a:srgbClr val="FF6B6B"/>
            </a:solidFill>
            <a:prstDash val="solid"/>
            <a:round/>
            <a:headEnd type="none" w="sm" len="sm"/>
            <a:tailEnd type="none" w="sm" len="sm"/>
          </a:ln>
        </p:spPr>
      </p:cxnSp>
      <p:sp>
        <p:nvSpPr>
          <p:cNvPr id="155" name="Google Shape;155;p18"/>
          <p:cNvSpPr/>
          <p:nvPr/>
        </p:nvSpPr>
        <p:spPr>
          <a:xfrm>
            <a:off x="1248156" y="1858518"/>
            <a:ext cx="116586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Login time</a:t>
            </a:r>
            <a:endParaRPr sz="900" b="0" i="0" u="none" strike="noStrike" cap="none">
              <a:solidFill>
                <a:schemeClr val="dk1"/>
              </a:solidFill>
              <a:latin typeface="Inter"/>
              <a:ea typeface="Inter"/>
              <a:cs typeface="Inter"/>
              <a:sym typeface="Inter"/>
            </a:endParaRPr>
          </a:p>
        </p:txBody>
      </p:sp>
      <p:sp>
        <p:nvSpPr>
          <p:cNvPr id="156" name="Google Shape;156;p18"/>
          <p:cNvSpPr/>
          <p:nvPr/>
        </p:nvSpPr>
        <p:spPr>
          <a:xfrm>
            <a:off x="1248156" y="2352294"/>
            <a:ext cx="116586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Location &amp; ASN</a:t>
            </a:r>
            <a:endParaRPr sz="900" b="0" i="0" u="none" strike="noStrike" cap="none">
              <a:solidFill>
                <a:schemeClr val="dk1"/>
              </a:solidFill>
              <a:latin typeface="Inter"/>
              <a:ea typeface="Inter"/>
              <a:cs typeface="Inter"/>
              <a:sym typeface="Inter"/>
            </a:endParaRPr>
          </a:p>
        </p:txBody>
      </p:sp>
      <p:sp>
        <p:nvSpPr>
          <p:cNvPr id="157" name="Google Shape;157;p18"/>
          <p:cNvSpPr/>
          <p:nvPr/>
        </p:nvSpPr>
        <p:spPr>
          <a:xfrm>
            <a:off x="1248156" y="2846070"/>
            <a:ext cx="133731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Device, OS &amp; browser</a:t>
            </a:r>
            <a:endParaRPr sz="900" b="0" i="0" u="none" strike="noStrike" cap="none">
              <a:solidFill>
                <a:schemeClr val="dk1"/>
              </a:solidFill>
              <a:latin typeface="Inter"/>
              <a:ea typeface="Inter"/>
              <a:cs typeface="Inter"/>
              <a:sym typeface="Inter"/>
            </a:endParaRPr>
          </a:p>
        </p:txBody>
      </p:sp>
      <p:sp>
        <p:nvSpPr>
          <p:cNvPr id="158" name="Google Shape;158;p18"/>
          <p:cNvSpPr/>
          <p:nvPr/>
        </p:nvSpPr>
        <p:spPr>
          <a:xfrm>
            <a:off x="754380" y="3236976"/>
            <a:ext cx="171450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0" i="0" u="none" strike="noStrike" cap="none">
                <a:solidFill>
                  <a:srgbClr val="6B7F90"/>
                </a:solidFill>
                <a:latin typeface="Inter"/>
                <a:ea typeface="Inter"/>
                <a:cs typeface="Inter"/>
                <a:sym typeface="Inter"/>
              </a:rPr>
              <a:t>＋ login success and round-trip time</a:t>
            </a:r>
            <a:endParaRPr sz="700" b="0" i="0" u="none" strike="noStrike" cap="none">
              <a:solidFill>
                <a:schemeClr val="dk1"/>
              </a:solidFill>
              <a:latin typeface="Inter"/>
              <a:ea typeface="Inter"/>
              <a:cs typeface="Inter"/>
              <a:sym typeface="Inter"/>
            </a:endParaRPr>
          </a:p>
        </p:txBody>
      </p:sp>
      <p:sp>
        <p:nvSpPr>
          <p:cNvPr id="159" name="Google Shape;159;p18"/>
          <p:cNvSpPr/>
          <p:nvPr/>
        </p:nvSpPr>
        <p:spPr>
          <a:xfrm>
            <a:off x="2935224" y="2160270"/>
            <a:ext cx="562356" cy="699516"/>
          </a:xfrm>
          <a:prstGeom prst="chevron">
            <a:avLst>
              <a:gd name="adj" fmla="val 50000"/>
            </a:avLst>
          </a:prstGeom>
          <a:solidFill>
            <a:srgbClr val="D7E6EE"/>
          </a:solidFill>
          <a:ln w="12700" cap="flat" cmpd="sng">
            <a:solidFill>
              <a:srgbClr val="D7E6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0" name="Google Shape;160;p18"/>
          <p:cNvSpPr/>
          <p:nvPr/>
        </p:nvSpPr>
        <p:spPr>
          <a:xfrm>
            <a:off x="3552444" y="1563624"/>
            <a:ext cx="2091690" cy="1933956"/>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1" name="Google Shape;161;p18"/>
          <p:cNvSpPr/>
          <p:nvPr/>
        </p:nvSpPr>
        <p:spPr>
          <a:xfrm>
            <a:off x="4402836" y="1872234"/>
            <a:ext cx="370332" cy="370332"/>
          </a:xfrm>
          <a:prstGeom prst="ellipse">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162" name="Google Shape;162;p18"/>
          <p:cNvCxnSpPr/>
          <p:nvPr/>
        </p:nvCxnSpPr>
        <p:spPr>
          <a:xfrm>
            <a:off x="4588002" y="1954530"/>
            <a:ext cx="0" cy="198882"/>
          </a:xfrm>
          <a:prstGeom prst="straightConnector1">
            <a:avLst/>
          </a:prstGeom>
          <a:noFill/>
          <a:ln w="13950" cap="flat" cmpd="sng">
            <a:solidFill>
              <a:srgbClr val="22D3A6"/>
            </a:solidFill>
            <a:prstDash val="solid"/>
            <a:round/>
            <a:headEnd type="none" w="sm" len="sm"/>
            <a:tailEnd type="none" w="sm" len="sm"/>
          </a:ln>
        </p:spPr>
      </p:cxnSp>
      <p:cxnSp>
        <p:nvCxnSpPr>
          <p:cNvPr id="163" name="Google Shape;163;p18"/>
          <p:cNvCxnSpPr/>
          <p:nvPr/>
        </p:nvCxnSpPr>
        <p:spPr>
          <a:xfrm rot="10800000" flipH="1">
            <a:off x="4505706" y="1995678"/>
            <a:ext cx="82296" cy="48006"/>
          </a:xfrm>
          <a:prstGeom prst="straightConnector1">
            <a:avLst/>
          </a:prstGeom>
          <a:noFill/>
          <a:ln w="13950" cap="flat" cmpd="sng">
            <a:solidFill>
              <a:srgbClr val="22D3A6"/>
            </a:solidFill>
            <a:prstDash val="solid"/>
            <a:round/>
            <a:headEnd type="none" w="sm" len="sm"/>
            <a:tailEnd type="none" w="sm" len="sm"/>
          </a:ln>
        </p:spPr>
      </p:cxnSp>
      <p:cxnSp>
        <p:nvCxnSpPr>
          <p:cNvPr id="164" name="Google Shape;164;p18"/>
          <p:cNvCxnSpPr/>
          <p:nvPr/>
        </p:nvCxnSpPr>
        <p:spPr>
          <a:xfrm rot="10800000" flipH="1">
            <a:off x="4588002" y="1995678"/>
            <a:ext cx="82296" cy="48006"/>
          </a:xfrm>
          <a:prstGeom prst="straightConnector1">
            <a:avLst/>
          </a:prstGeom>
          <a:noFill/>
          <a:ln w="13950" cap="flat" cmpd="sng">
            <a:solidFill>
              <a:srgbClr val="22D3A6"/>
            </a:solidFill>
            <a:prstDash val="solid"/>
            <a:round/>
            <a:headEnd type="none" w="sm" len="sm"/>
            <a:tailEnd type="none" w="sm" len="sm"/>
          </a:ln>
        </p:spPr>
      </p:cxnSp>
      <p:sp>
        <p:nvSpPr>
          <p:cNvPr id="165" name="Google Shape;165;p18"/>
          <p:cNvSpPr/>
          <p:nvPr/>
        </p:nvSpPr>
        <p:spPr>
          <a:xfrm>
            <a:off x="4478274" y="1954530"/>
            <a:ext cx="68580" cy="6858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6" name="Google Shape;166;p18"/>
          <p:cNvSpPr/>
          <p:nvPr/>
        </p:nvSpPr>
        <p:spPr>
          <a:xfrm>
            <a:off x="4636008" y="1954530"/>
            <a:ext cx="68580" cy="6858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7" name="Google Shape;167;p18"/>
          <p:cNvSpPr/>
          <p:nvPr/>
        </p:nvSpPr>
        <p:spPr>
          <a:xfrm>
            <a:off x="4553712" y="2125980"/>
            <a:ext cx="68580" cy="6858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8" name="Google Shape;168;p18"/>
          <p:cNvSpPr/>
          <p:nvPr/>
        </p:nvSpPr>
        <p:spPr>
          <a:xfrm>
            <a:off x="3847338" y="2414016"/>
            <a:ext cx="1508760" cy="2331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Inter"/>
              <a:buNone/>
            </a:pPr>
            <a:r>
              <a:rPr lang="en" sz="1400" b="1" i="0" u="none" strike="noStrike" cap="none">
                <a:solidFill>
                  <a:srgbClr val="FFFFFF"/>
                </a:solidFill>
                <a:latin typeface="Inter"/>
                <a:ea typeface="Inter"/>
                <a:cs typeface="Inter"/>
                <a:sym typeface="Inter"/>
              </a:rPr>
              <a:t>Random Forest</a:t>
            </a:r>
            <a:endParaRPr sz="1400" b="0" i="0" u="none" strike="noStrike" cap="none">
              <a:solidFill>
                <a:schemeClr val="dk1"/>
              </a:solidFill>
              <a:latin typeface="Inter"/>
              <a:ea typeface="Inter"/>
              <a:cs typeface="Inter"/>
              <a:sym typeface="Inter"/>
            </a:endParaRPr>
          </a:p>
        </p:txBody>
      </p:sp>
      <p:sp>
        <p:nvSpPr>
          <p:cNvPr id="169" name="Google Shape;169;p18"/>
          <p:cNvSpPr/>
          <p:nvPr/>
        </p:nvSpPr>
        <p:spPr>
          <a:xfrm>
            <a:off x="3854196" y="2798064"/>
            <a:ext cx="1495044" cy="4251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FD3DE"/>
              </a:buClr>
              <a:buSzPts val="800"/>
              <a:buFont typeface="Inter"/>
              <a:buNone/>
            </a:pPr>
            <a:r>
              <a:rPr lang="en" sz="800" b="0" i="0" u="none" strike="noStrike" cap="none">
                <a:solidFill>
                  <a:srgbClr val="BFD3DE"/>
                </a:solidFill>
                <a:latin typeface="Inter"/>
                <a:ea typeface="Inter"/>
                <a:cs typeface="Inter"/>
                <a:sym typeface="Inter"/>
              </a:rPr>
              <a:t>Combines many decision trees</a:t>
            </a:r>
            <a:endParaRPr sz="800" b="0" i="0" u="none" strike="noStrike" cap="none">
              <a:solidFill>
                <a:schemeClr val="dk1"/>
              </a:solidFill>
              <a:latin typeface="Inter"/>
              <a:ea typeface="Inter"/>
              <a:cs typeface="Inter"/>
              <a:sym typeface="Inter"/>
            </a:endParaRPr>
          </a:p>
          <a:p>
            <a:pPr marL="0" marR="0" lvl="0" indent="0" algn="ctr" rtl="0">
              <a:spcBef>
                <a:spcPts val="0"/>
              </a:spcBef>
              <a:spcAft>
                <a:spcPts val="0"/>
              </a:spcAft>
              <a:buClr>
                <a:srgbClr val="BFD3DE"/>
              </a:buClr>
              <a:buSzPts val="800"/>
              <a:buFont typeface="Inter"/>
              <a:buNone/>
            </a:pPr>
            <a:r>
              <a:rPr lang="en" sz="800" b="0" i="0" u="none" strike="noStrike" cap="none">
                <a:solidFill>
                  <a:srgbClr val="BFD3DE"/>
                </a:solidFill>
                <a:latin typeface="Inter"/>
                <a:ea typeface="Inter"/>
                <a:cs typeface="Inter"/>
                <a:sym typeface="Inter"/>
              </a:rPr>
              <a:t>to classify each login</a:t>
            </a:r>
            <a:endParaRPr sz="800" b="0" i="0" u="none" strike="noStrike" cap="none">
              <a:solidFill>
                <a:schemeClr val="dk1"/>
              </a:solidFill>
              <a:latin typeface="Inter"/>
              <a:ea typeface="Inter"/>
              <a:cs typeface="Inter"/>
              <a:sym typeface="Inter"/>
            </a:endParaRPr>
          </a:p>
        </p:txBody>
      </p:sp>
      <p:sp>
        <p:nvSpPr>
          <p:cNvPr id="170" name="Google Shape;170;p18"/>
          <p:cNvSpPr/>
          <p:nvPr/>
        </p:nvSpPr>
        <p:spPr>
          <a:xfrm>
            <a:off x="5781294" y="2160270"/>
            <a:ext cx="562356" cy="699516"/>
          </a:xfrm>
          <a:prstGeom prst="chevron">
            <a:avLst>
              <a:gd name="adj" fmla="val 50000"/>
            </a:avLst>
          </a:prstGeom>
          <a:solidFill>
            <a:srgbClr val="D7E6EE"/>
          </a:solidFill>
          <a:ln w="12700" cap="flat" cmpd="sng">
            <a:solidFill>
              <a:srgbClr val="D7E6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1" name="Google Shape;171;p18"/>
          <p:cNvSpPr/>
          <p:nvPr/>
        </p:nvSpPr>
        <p:spPr>
          <a:xfrm>
            <a:off x="6494526" y="1591056"/>
            <a:ext cx="1885800" cy="768000"/>
          </a:xfrm>
          <a:prstGeom prst="roundRect">
            <a:avLst>
              <a:gd name="adj" fmla="val 16667"/>
            </a:avLst>
          </a:prstGeom>
          <a:solidFill>
            <a:srgbClr val="E5FAF4"/>
          </a:solidFill>
          <a:ln w="10150" cap="flat" cmpd="sng">
            <a:solidFill>
              <a:srgbClr val="E5FAF4"/>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2" name="Google Shape;172;p18"/>
          <p:cNvSpPr/>
          <p:nvPr/>
        </p:nvSpPr>
        <p:spPr>
          <a:xfrm>
            <a:off x="6693408" y="1807498"/>
            <a:ext cx="308700" cy="308700"/>
          </a:xfrm>
          <a:prstGeom prst="ellipse">
            <a:avLst/>
          </a:prstGeom>
          <a:solidFill>
            <a:srgbClr val="2FCB84"/>
          </a:solidFill>
          <a:ln w="12700" cap="flat" cmpd="sng">
            <a:solidFill>
              <a:srgbClr val="2FCB8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3" name="Google Shape;173;p18"/>
          <p:cNvSpPr/>
          <p:nvPr/>
        </p:nvSpPr>
        <p:spPr>
          <a:xfrm>
            <a:off x="6693408" y="1891455"/>
            <a:ext cx="3087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Inter"/>
              <a:buNone/>
            </a:pPr>
            <a:r>
              <a:rPr lang="en" sz="1000" b="1" i="0" u="none" strike="noStrike" cap="none">
                <a:solidFill>
                  <a:srgbClr val="FFFFFF"/>
                </a:solidFill>
                <a:latin typeface="Inter"/>
                <a:ea typeface="Inter"/>
                <a:cs typeface="Inter"/>
                <a:sym typeface="Inter"/>
              </a:rPr>
              <a:t>✓</a:t>
            </a:r>
            <a:endParaRPr sz="1000" b="0" i="0" u="none" strike="noStrike" cap="none">
              <a:solidFill>
                <a:schemeClr val="dk1"/>
              </a:solidFill>
              <a:latin typeface="Inter"/>
              <a:ea typeface="Inter"/>
              <a:cs typeface="Inter"/>
              <a:sym typeface="Inter"/>
            </a:endParaRPr>
          </a:p>
        </p:txBody>
      </p:sp>
      <p:sp>
        <p:nvSpPr>
          <p:cNvPr id="174" name="Google Shape;174;p18"/>
          <p:cNvSpPr/>
          <p:nvPr/>
        </p:nvSpPr>
        <p:spPr>
          <a:xfrm>
            <a:off x="7098030" y="1870051"/>
            <a:ext cx="1062900" cy="1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Normal / Low Risk</a:t>
            </a:r>
            <a:endParaRPr sz="900" b="0" i="0" u="none" strike="noStrike" cap="none">
              <a:solidFill>
                <a:schemeClr val="dk1"/>
              </a:solidFill>
              <a:latin typeface="Inter"/>
              <a:ea typeface="Inter"/>
              <a:cs typeface="Inter"/>
              <a:sym typeface="Inter"/>
            </a:endParaRPr>
          </a:p>
        </p:txBody>
      </p:sp>
      <p:sp>
        <p:nvSpPr>
          <p:cNvPr id="175" name="Google Shape;175;p18"/>
          <p:cNvSpPr/>
          <p:nvPr/>
        </p:nvSpPr>
        <p:spPr>
          <a:xfrm>
            <a:off x="6494526" y="2592324"/>
            <a:ext cx="1885950" cy="768096"/>
          </a:xfrm>
          <a:prstGeom prst="roundRect">
            <a:avLst>
              <a:gd name="adj" fmla="val 16667"/>
            </a:avLst>
          </a:prstGeom>
          <a:solidFill>
            <a:srgbClr val="FFF0F0"/>
          </a:solidFill>
          <a:ln w="10150" cap="flat" cmpd="sng">
            <a:solidFill>
              <a:srgbClr val="FFF0F0"/>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6" name="Google Shape;176;p18"/>
          <p:cNvSpPr/>
          <p:nvPr/>
        </p:nvSpPr>
        <p:spPr>
          <a:xfrm>
            <a:off x="6693408" y="2840873"/>
            <a:ext cx="308700" cy="308700"/>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7" name="Google Shape;177;p18"/>
          <p:cNvSpPr/>
          <p:nvPr/>
        </p:nvSpPr>
        <p:spPr>
          <a:xfrm>
            <a:off x="6693408" y="2928674"/>
            <a:ext cx="3087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Inter"/>
              <a:buNone/>
            </a:pPr>
            <a:r>
              <a:rPr lang="en" sz="1000" b="1" i="0" u="none" strike="noStrike" cap="none">
                <a:solidFill>
                  <a:srgbClr val="FFFFFF"/>
                </a:solidFill>
                <a:latin typeface="Inter"/>
                <a:ea typeface="Inter"/>
                <a:cs typeface="Inter"/>
                <a:sym typeface="Inter"/>
              </a:rPr>
              <a:t>!</a:t>
            </a:r>
            <a:endParaRPr sz="1000" b="0" i="0" u="none" strike="noStrike" cap="none">
              <a:solidFill>
                <a:schemeClr val="dk1"/>
              </a:solidFill>
              <a:latin typeface="Inter"/>
              <a:ea typeface="Inter"/>
              <a:cs typeface="Inter"/>
              <a:sym typeface="Inter"/>
            </a:endParaRPr>
          </a:p>
        </p:txBody>
      </p:sp>
      <p:sp>
        <p:nvSpPr>
          <p:cNvPr id="178" name="Google Shape;178;p18"/>
          <p:cNvSpPr/>
          <p:nvPr/>
        </p:nvSpPr>
        <p:spPr>
          <a:xfrm>
            <a:off x="7098030" y="2896567"/>
            <a:ext cx="1110900" cy="1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Suspicious / Malicious</a:t>
            </a:r>
            <a:endParaRPr sz="900" b="0" i="0" u="none" strike="noStrike" cap="none">
              <a:solidFill>
                <a:schemeClr val="dk1"/>
              </a:solidFill>
              <a:latin typeface="Inter"/>
              <a:ea typeface="Inter"/>
              <a:cs typeface="Inter"/>
              <a:sym typeface="Inter"/>
            </a:endParaRPr>
          </a:p>
        </p:txBody>
      </p:sp>
      <p:sp>
        <p:nvSpPr>
          <p:cNvPr id="179" name="Google Shape;179;p18"/>
          <p:cNvSpPr/>
          <p:nvPr/>
        </p:nvSpPr>
        <p:spPr>
          <a:xfrm>
            <a:off x="1508760" y="3874770"/>
            <a:ext cx="6137910" cy="30861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900"/>
              <a:buFont typeface="Inter"/>
              <a:buNone/>
            </a:pPr>
            <a:r>
              <a:rPr lang="en" sz="900" b="0" i="0" u="none" strike="noStrike" cap="none">
                <a:solidFill>
                  <a:srgbClr val="31475A"/>
                </a:solidFill>
                <a:latin typeface="Inter"/>
                <a:ea typeface="Inter"/>
                <a:cs typeface="Inter"/>
                <a:sym typeface="Inter"/>
              </a:rPr>
              <a:t>The system returns both a probability and a final label based on a tuned decision threshold.</a:t>
            </a:r>
            <a:endParaRPr sz="900" b="0" i="0" u="none" strike="noStrike" cap="none">
              <a:solidFill>
                <a:schemeClr val="dk1"/>
              </a:solidFill>
              <a:latin typeface="Inter"/>
              <a:ea typeface="Inter"/>
              <a:cs typeface="Inter"/>
              <a:sym typeface="Inter"/>
            </a:endParaRPr>
          </a:p>
        </p:txBody>
      </p:sp>
      <p:sp>
        <p:nvSpPr>
          <p:cNvPr id="180" name="Google Shape;180;p18"/>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3</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9"/>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Dataset: Risk-Based Authentication (RBA)</a:t>
            </a:r>
            <a:endParaRPr sz="2100" b="0" i="0" u="none" strike="noStrike" cap="none">
              <a:solidFill>
                <a:schemeClr val="dk1"/>
              </a:solidFill>
              <a:latin typeface="Inter"/>
              <a:ea typeface="Inter"/>
              <a:cs typeface="Inter"/>
              <a:sym typeface="Inter"/>
            </a:endParaRPr>
          </a:p>
        </p:txBody>
      </p:sp>
      <p:sp>
        <p:nvSpPr>
          <p:cNvPr id="187" name="Google Shape;187;p19"/>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A large public dataset designed for research on login risk and authentication.</a:t>
            </a:r>
            <a:endParaRPr sz="900" b="0" i="0" u="none" strike="noStrike" cap="none">
              <a:solidFill>
                <a:schemeClr val="dk1"/>
              </a:solidFill>
              <a:latin typeface="Inter"/>
              <a:ea typeface="Inter"/>
              <a:cs typeface="Inter"/>
              <a:sym typeface="Inter"/>
            </a:endParaRPr>
          </a:p>
        </p:txBody>
      </p:sp>
      <p:sp>
        <p:nvSpPr>
          <p:cNvPr id="188" name="Google Shape;188;p19"/>
          <p:cNvSpPr/>
          <p:nvPr/>
        </p:nvSpPr>
        <p:spPr>
          <a:xfrm>
            <a:off x="493776" y="1220724"/>
            <a:ext cx="1865376" cy="946404"/>
          </a:xfrm>
          <a:prstGeom prst="roundRect">
            <a:avLst>
              <a:gd name="adj" fmla="val 8696"/>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9" name="Google Shape;189;p19"/>
          <p:cNvSpPr/>
          <p:nvPr/>
        </p:nvSpPr>
        <p:spPr>
          <a:xfrm>
            <a:off x="493776" y="1220724"/>
            <a:ext cx="54864" cy="946404"/>
          </a:xfrm>
          <a:prstGeom prst="rect">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0" name="Google Shape;190;p19"/>
          <p:cNvSpPr/>
          <p:nvPr/>
        </p:nvSpPr>
        <p:spPr>
          <a:xfrm>
            <a:off x="665226" y="1344168"/>
            <a:ext cx="159105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LOGIN ATTEMPTS</a:t>
            </a:r>
            <a:endParaRPr sz="600" b="0" i="0" u="none" strike="noStrike" cap="none">
              <a:solidFill>
                <a:schemeClr val="dk1"/>
              </a:solidFill>
              <a:latin typeface="Inter"/>
              <a:ea typeface="Inter"/>
              <a:cs typeface="Inter"/>
              <a:sym typeface="Inter"/>
            </a:endParaRPr>
          </a:p>
        </p:txBody>
      </p:sp>
      <p:sp>
        <p:nvSpPr>
          <p:cNvPr id="191" name="Google Shape;191;p19"/>
          <p:cNvSpPr/>
          <p:nvPr/>
        </p:nvSpPr>
        <p:spPr>
          <a:xfrm>
            <a:off x="665226" y="1549908"/>
            <a:ext cx="1591056"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1700"/>
              <a:buFont typeface="Inter"/>
              <a:buNone/>
            </a:pPr>
            <a:r>
              <a:rPr lang="en" sz="1700" b="1" i="0" u="none" strike="noStrike" cap="none">
                <a:solidFill>
                  <a:srgbClr val="22D3A6"/>
                </a:solidFill>
                <a:latin typeface="Inter"/>
                <a:ea typeface="Inter"/>
                <a:cs typeface="Inter"/>
                <a:sym typeface="Inter"/>
              </a:rPr>
              <a:t>33M+</a:t>
            </a:r>
            <a:endParaRPr sz="1700" b="0" i="0" u="none" strike="noStrike" cap="none">
              <a:solidFill>
                <a:schemeClr val="dk1"/>
              </a:solidFill>
              <a:latin typeface="Inter"/>
              <a:ea typeface="Inter"/>
              <a:cs typeface="Inter"/>
              <a:sym typeface="Inter"/>
            </a:endParaRPr>
          </a:p>
        </p:txBody>
      </p:sp>
      <p:sp>
        <p:nvSpPr>
          <p:cNvPr id="192" name="Google Shape;192;p19"/>
          <p:cNvSpPr/>
          <p:nvPr/>
        </p:nvSpPr>
        <p:spPr>
          <a:xfrm>
            <a:off x="665226" y="1927098"/>
            <a:ext cx="159105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0" i="0" u="none" strike="noStrike" cap="none">
                <a:solidFill>
                  <a:srgbClr val="6B7F90"/>
                </a:solidFill>
                <a:latin typeface="Inter"/>
                <a:ea typeface="Inter"/>
                <a:cs typeface="Inter"/>
                <a:sym typeface="Inter"/>
              </a:rPr>
              <a:t>Synthesized records</a:t>
            </a:r>
            <a:endParaRPr sz="600" b="0" i="0" u="none" strike="noStrike" cap="none">
              <a:solidFill>
                <a:schemeClr val="dk1"/>
              </a:solidFill>
              <a:latin typeface="Inter"/>
              <a:ea typeface="Inter"/>
              <a:cs typeface="Inter"/>
              <a:sym typeface="Inter"/>
            </a:endParaRPr>
          </a:p>
        </p:txBody>
      </p:sp>
      <p:sp>
        <p:nvSpPr>
          <p:cNvPr id="193" name="Google Shape;193;p19"/>
          <p:cNvSpPr/>
          <p:nvPr/>
        </p:nvSpPr>
        <p:spPr>
          <a:xfrm>
            <a:off x="2510028" y="1220724"/>
            <a:ext cx="1865376" cy="946404"/>
          </a:xfrm>
          <a:prstGeom prst="roundRect">
            <a:avLst>
              <a:gd name="adj" fmla="val 8696"/>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4" name="Google Shape;194;p19"/>
          <p:cNvSpPr/>
          <p:nvPr/>
        </p:nvSpPr>
        <p:spPr>
          <a:xfrm>
            <a:off x="2510028" y="1220724"/>
            <a:ext cx="54864" cy="946404"/>
          </a:xfrm>
          <a:prstGeom prst="rect">
            <a:avLst/>
          </a:prstGeom>
          <a:solidFill>
            <a:srgbClr val="3A86FF"/>
          </a:solidFill>
          <a:ln w="127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5" name="Google Shape;195;p19"/>
          <p:cNvSpPr/>
          <p:nvPr/>
        </p:nvSpPr>
        <p:spPr>
          <a:xfrm>
            <a:off x="2681478" y="1344168"/>
            <a:ext cx="159105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USERS</a:t>
            </a:r>
            <a:endParaRPr sz="600" b="0" i="0" u="none" strike="noStrike" cap="none">
              <a:solidFill>
                <a:schemeClr val="dk1"/>
              </a:solidFill>
              <a:latin typeface="Inter"/>
              <a:ea typeface="Inter"/>
              <a:cs typeface="Inter"/>
              <a:sym typeface="Inter"/>
            </a:endParaRPr>
          </a:p>
        </p:txBody>
      </p:sp>
      <p:sp>
        <p:nvSpPr>
          <p:cNvPr id="196" name="Google Shape;196;p19"/>
          <p:cNvSpPr/>
          <p:nvPr/>
        </p:nvSpPr>
        <p:spPr>
          <a:xfrm>
            <a:off x="2681478" y="1549908"/>
            <a:ext cx="1591056"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86FF"/>
              </a:buClr>
              <a:buSzPts val="1700"/>
              <a:buFont typeface="Inter"/>
              <a:buNone/>
            </a:pPr>
            <a:r>
              <a:rPr lang="en" sz="1700" b="1" i="0" u="none" strike="noStrike" cap="none">
                <a:solidFill>
                  <a:srgbClr val="3A86FF"/>
                </a:solidFill>
                <a:latin typeface="Inter"/>
                <a:ea typeface="Inter"/>
                <a:cs typeface="Inter"/>
                <a:sym typeface="Inter"/>
              </a:rPr>
              <a:t>3.3M+</a:t>
            </a:r>
            <a:endParaRPr sz="1700" b="0" i="0" u="none" strike="noStrike" cap="none">
              <a:solidFill>
                <a:schemeClr val="dk1"/>
              </a:solidFill>
              <a:latin typeface="Inter"/>
              <a:ea typeface="Inter"/>
              <a:cs typeface="Inter"/>
              <a:sym typeface="Inter"/>
            </a:endParaRPr>
          </a:p>
        </p:txBody>
      </p:sp>
      <p:sp>
        <p:nvSpPr>
          <p:cNvPr id="197" name="Google Shape;197;p19"/>
          <p:cNvSpPr/>
          <p:nvPr/>
        </p:nvSpPr>
        <p:spPr>
          <a:xfrm>
            <a:off x="2681478" y="1927098"/>
            <a:ext cx="159105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0" i="0" u="none" strike="noStrike" cap="none">
                <a:solidFill>
                  <a:srgbClr val="6B7F90"/>
                </a:solidFill>
                <a:latin typeface="Inter"/>
                <a:ea typeface="Inter"/>
                <a:cs typeface="Inter"/>
                <a:sym typeface="Inter"/>
              </a:rPr>
              <a:t>Large-scale SSO service</a:t>
            </a:r>
            <a:endParaRPr sz="600" b="0" i="0" u="none" strike="noStrike" cap="none">
              <a:solidFill>
                <a:schemeClr val="dk1"/>
              </a:solidFill>
              <a:latin typeface="Inter"/>
              <a:ea typeface="Inter"/>
              <a:cs typeface="Inter"/>
              <a:sym typeface="Inter"/>
            </a:endParaRPr>
          </a:p>
        </p:txBody>
      </p:sp>
      <p:sp>
        <p:nvSpPr>
          <p:cNvPr id="198" name="Google Shape;198;p19"/>
          <p:cNvSpPr/>
          <p:nvPr/>
        </p:nvSpPr>
        <p:spPr>
          <a:xfrm>
            <a:off x="4526280" y="1220724"/>
            <a:ext cx="1865376" cy="946404"/>
          </a:xfrm>
          <a:prstGeom prst="roundRect">
            <a:avLst>
              <a:gd name="adj" fmla="val 8696"/>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9" name="Google Shape;199;p19"/>
          <p:cNvSpPr/>
          <p:nvPr/>
        </p:nvSpPr>
        <p:spPr>
          <a:xfrm>
            <a:off x="4526280" y="1220724"/>
            <a:ext cx="54864" cy="946404"/>
          </a:xfrm>
          <a:prstGeom prst="rect">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0" name="Google Shape;200;p19"/>
          <p:cNvSpPr/>
          <p:nvPr/>
        </p:nvSpPr>
        <p:spPr>
          <a:xfrm>
            <a:off x="4697730" y="1344168"/>
            <a:ext cx="159105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COLUMNS</a:t>
            </a:r>
            <a:endParaRPr sz="600" b="0" i="0" u="none" strike="noStrike" cap="none">
              <a:solidFill>
                <a:schemeClr val="dk1"/>
              </a:solidFill>
              <a:latin typeface="Inter"/>
              <a:ea typeface="Inter"/>
              <a:cs typeface="Inter"/>
              <a:sym typeface="Inter"/>
            </a:endParaRPr>
          </a:p>
        </p:txBody>
      </p:sp>
      <p:sp>
        <p:nvSpPr>
          <p:cNvPr id="201" name="Google Shape;201;p19"/>
          <p:cNvSpPr/>
          <p:nvPr/>
        </p:nvSpPr>
        <p:spPr>
          <a:xfrm>
            <a:off x="4697730" y="1549908"/>
            <a:ext cx="1591056"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C9F0"/>
              </a:buClr>
              <a:buSzPts val="1700"/>
              <a:buFont typeface="Inter"/>
              <a:buNone/>
            </a:pPr>
            <a:r>
              <a:rPr lang="en" sz="1700" b="1" i="0" u="none" strike="noStrike" cap="none">
                <a:solidFill>
                  <a:srgbClr val="4CC9F0"/>
                </a:solidFill>
                <a:latin typeface="Inter"/>
                <a:ea typeface="Inter"/>
                <a:cs typeface="Inter"/>
                <a:sym typeface="Inter"/>
              </a:rPr>
              <a:t>15</a:t>
            </a:r>
            <a:endParaRPr sz="1700" b="0" i="0" u="none" strike="noStrike" cap="none">
              <a:solidFill>
                <a:schemeClr val="dk1"/>
              </a:solidFill>
              <a:latin typeface="Inter"/>
              <a:ea typeface="Inter"/>
              <a:cs typeface="Inter"/>
              <a:sym typeface="Inter"/>
            </a:endParaRPr>
          </a:p>
        </p:txBody>
      </p:sp>
      <p:sp>
        <p:nvSpPr>
          <p:cNvPr id="202" name="Google Shape;202;p19"/>
          <p:cNvSpPr/>
          <p:nvPr/>
        </p:nvSpPr>
        <p:spPr>
          <a:xfrm>
            <a:off x="4697730" y="1927098"/>
            <a:ext cx="159105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0" i="0" u="none" strike="noStrike" cap="none">
                <a:solidFill>
                  <a:srgbClr val="6B7F90"/>
                </a:solidFill>
                <a:latin typeface="Inter"/>
                <a:ea typeface="Inter"/>
                <a:cs typeface="Inter"/>
                <a:sym typeface="Inter"/>
              </a:rPr>
              <a:t>Context + security labels</a:t>
            </a:r>
            <a:endParaRPr sz="600" b="0" i="0" u="none" strike="noStrike" cap="none">
              <a:solidFill>
                <a:schemeClr val="dk1"/>
              </a:solidFill>
              <a:latin typeface="Inter"/>
              <a:ea typeface="Inter"/>
              <a:cs typeface="Inter"/>
              <a:sym typeface="Inter"/>
            </a:endParaRPr>
          </a:p>
        </p:txBody>
      </p:sp>
      <p:sp>
        <p:nvSpPr>
          <p:cNvPr id="203" name="Google Shape;203;p19"/>
          <p:cNvSpPr/>
          <p:nvPr/>
        </p:nvSpPr>
        <p:spPr>
          <a:xfrm>
            <a:off x="6542532" y="1220724"/>
            <a:ext cx="1865376" cy="946404"/>
          </a:xfrm>
          <a:prstGeom prst="roundRect">
            <a:avLst>
              <a:gd name="adj" fmla="val 8696"/>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4" name="Google Shape;204;p19"/>
          <p:cNvSpPr/>
          <p:nvPr/>
        </p:nvSpPr>
        <p:spPr>
          <a:xfrm>
            <a:off x="6542532" y="1220724"/>
            <a:ext cx="54864" cy="946404"/>
          </a:xfrm>
          <a:prstGeom prst="rect">
            <a:avLst/>
          </a:prstGeom>
          <a:solidFill>
            <a:srgbClr val="FFB347"/>
          </a:solidFill>
          <a:ln w="127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5" name="Google Shape;205;p19"/>
          <p:cNvSpPr/>
          <p:nvPr/>
        </p:nvSpPr>
        <p:spPr>
          <a:xfrm>
            <a:off x="6713982" y="1344168"/>
            <a:ext cx="159105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DOWNLOAD</a:t>
            </a:r>
            <a:endParaRPr sz="600" b="0" i="0" u="none" strike="noStrike" cap="none">
              <a:solidFill>
                <a:schemeClr val="dk1"/>
              </a:solidFill>
              <a:latin typeface="Inter"/>
              <a:ea typeface="Inter"/>
              <a:cs typeface="Inter"/>
              <a:sym typeface="Inter"/>
            </a:endParaRPr>
          </a:p>
        </p:txBody>
      </p:sp>
      <p:sp>
        <p:nvSpPr>
          <p:cNvPr id="206" name="Google Shape;206;p19"/>
          <p:cNvSpPr/>
          <p:nvPr/>
        </p:nvSpPr>
        <p:spPr>
          <a:xfrm>
            <a:off x="6713982" y="1549908"/>
            <a:ext cx="1591056"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B347"/>
              </a:buClr>
              <a:buSzPts val="1700"/>
              <a:buFont typeface="Inter"/>
              <a:buNone/>
            </a:pPr>
            <a:r>
              <a:rPr lang="en" sz="1700" b="1" i="0" u="none" strike="noStrike" cap="none">
                <a:solidFill>
                  <a:srgbClr val="FFB347"/>
                </a:solidFill>
                <a:latin typeface="Inter"/>
                <a:ea typeface="Inter"/>
                <a:cs typeface="Inter"/>
                <a:sym typeface="Inter"/>
              </a:rPr>
              <a:t>1.1 GB</a:t>
            </a:r>
            <a:endParaRPr sz="1700" b="0" i="0" u="none" strike="noStrike" cap="none">
              <a:solidFill>
                <a:schemeClr val="dk1"/>
              </a:solidFill>
              <a:latin typeface="Inter"/>
              <a:ea typeface="Inter"/>
              <a:cs typeface="Inter"/>
              <a:sym typeface="Inter"/>
            </a:endParaRPr>
          </a:p>
        </p:txBody>
      </p:sp>
      <p:sp>
        <p:nvSpPr>
          <p:cNvPr id="207" name="Google Shape;207;p19"/>
          <p:cNvSpPr/>
          <p:nvPr/>
        </p:nvSpPr>
        <p:spPr>
          <a:xfrm>
            <a:off x="6713982" y="1927098"/>
            <a:ext cx="159105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0" i="0" u="none" strike="noStrike" cap="none">
                <a:solidFill>
                  <a:srgbClr val="6B7F90"/>
                </a:solidFill>
                <a:latin typeface="Inter"/>
                <a:ea typeface="Inter"/>
                <a:cs typeface="Inter"/>
                <a:sym typeface="Inter"/>
              </a:rPr>
              <a:t>Compressed archive</a:t>
            </a:r>
            <a:endParaRPr sz="600" b="0" i="0" u="none" strike="noStrike" cap="none">
              <a:solidFill>
                <a:schemeClr val="dk1"/>
              </a:solidFill>
              <a:latin typeface="Inter"/>
              <a:ea typeface="Inter"/>
              <a:cs typeface="Inter"/>
              <a:sym typeface="Inter"/>
            </a:endParaRPr>
          </a:p>
        </p:txBody>
      </p:sp>
      <p:sp>
        <p:nvSpPr>
          <p:cNvPr id="208" name="Google Shape;208;p19"/>
          <p:cNvSpPr/>
          <p:nvPr/>
        </p:nvSpPr>
        <p:spPr>
          <a:xfrm>
            <a:off x="493776" y="2434590"/>
            <a:ext cx="8229600" cy="1604772"/>
          </a:xfrm>
          <a:prstGeom prst="roundRect">
            <a:avLst>
              <a:gd name="adj" fmla="val 5128"/>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9" name="Google Shape;209;p19"/>
          <p:cNvSpPr/>
          <p:nvPr/>
        </p:nvSpPr>
        <p:spPr>
          <a:xfrm>
            <a:off x="685800" y="2626614"/>
            <a:ext cx="10972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FEATURE GROUPS</a:t>
            </a:r>
            <a:endParaRPr sz="700" b="0" i="0" u="none" strike="noStrike" cap="none">
              <a:solidFill>
                <a:schemeClr val="dk1"/>
              </a:solidFill>
              <a:latin typeface="Inter"/>
              <a:ea typeface="Inter"/>
              <a:cs typeface="Inter"/>
              <a:sym typeface="Inter"/>
            </a:endParaRPr>
          </a:p>
        </p:txBody>
      </p:sp>
      <p:sp>
        <p:nvSpPr>
          <p:cNvPr id="210" name="Google Shape;210;p19"/>
          <p:cNvSpPr/>
          <p:nvPr/>
        </p:nvSpPr>
        <p:spPr>
          <a:xfrm>
            <a:off x="685800" y="2894076"/>
            <a:ext cx="370332" cy="370332"/>
          </a:xfrm>
          <a:prstGeom prst="ellipse">
            <a:avLst/>
          </a:prstGeom>
          <a:solidFill>
            <a:srgbClr val="E5FAF4"/>
          </a:solidFill>
          <a:ln w="12700" cap="flat" cmpd="sng">
            <a:solidFill>
              <a:srgbClr val="E5FAF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11" name="Google Shape;211;p19"/>
          <p:cNvSpPr/>
          <p:nvPr/>
        </p:nvSpPr>
        <p:spPr>
          <a:xfrm>
            <a:off x="781812" y="2983230"/>
            <a:ext cx="178308" cy="178308"/>
          </a:xfrm>
          <a:prstGeom prst="ellipse">
            <a:avLst/>
          </a:prstGeom>
          <a:solidFill>
            <a:srgbClr val="E5FAF4">
              <a:alpha val="0"/>
            </a:srgbClr>
          </a:solidFill>
          <a:ln w="15225"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212" name="Google Shape;212;p19"/>
          <p:cNvCxnSpPr/>
          <p:nvPr/>
        </p:nvCxnSpPr>
        <p:spPr>
          <a:xfrm>
            <a:off x="870966" y="2983230"/>
            <a:ext cx="0" cy="178308"/>
          </a:xfrm>
          <a:prstGeom prst="straightConnector1">
            <a:avLst/>
          </a:prstGeom>
          <a:noFill/>
          <a:ln w="11425" cap="flat" cmpd="sng">
            <a:solidFill>
              <a:srgbClr val="22D3A6"/>
            </a:solidFill>
            <a:prstDash val="solid"/>
            <a:round/>
            <a:headEnd type="none" w="sm" len="sm"/>
            <a:tailEnd type="none" w="sm" len="sm"/>
          </a:ln>
        </p:spPr>
      </p:cxnSp>
      <p:cxnSp>
        <p:nvCxnSpPr>
          <p:cNvPr id="213" name="Google Shape;213;p19"/>
          <p:cNvCxnSpPr/>
          <p:nvPr/>
        </p:nvCxnSpPr>
        <p:spPr>
          <a:xfrm>
            <a:off x="781812" y="3072384"/>
            <a:ext cx="178308" cy="0"/>
          </a:xfrm>
          <a:prstGeom prst="straightConnector1">
            <a:avLst/>
          </a:prstGeom>
          <a:noFill/>
          <a:ln w="11425" cap="flat" cmpd="sng">
            <a:solidFill>
              <a:srgbClr val="22D3A6"/>
            </a:solidFill>
            <a:prstDash val="solid"/>
            <a:round/>
            <a:headEnd type="none" w="sm" len="sm"/>
            <a:tailEnd type="none" w="sm" len="sm"/>
          </a:ln>
        </p:spPr>
      </p:cxnSp>
      <p:sp>
        <p:nvSpPr>
          <p:cNvPr id="214" name="Google Shape;214;p19"/>
          <p:cNvSpPr/>
          <p:nvPr/>
        </p:nvSpPr>
        <p:spPr>
          <a:xfrm>
            <a:off x="685800" y="3360420"/>
            <a:ext cx="1543050"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Network &amp; location</a:t>
            </a:r>
            <a:endParaRPr sz="900" b="0" i="0" u="none" strike="noStrike" cap="none">
              <a:solidFill>
                <a:schemeClr val="dk1"/>
              </a:solidFill>
              <a:latin typeface="Inter"/>
              <a:ea typeface="Inter"/>
              <a:cs typeface="Inter"/>
              <a:sym typeface="Inter"/>
            </a:endParaRPr>
          </a:p>
        </p:txBody>
      </p:sp>
      <p:sp>
        <p:nvSpPr>
          <p:cNvPr id="215" name="Google Shape;215;p19"/>
          <p:cNvSpPr/>
          <p:nvPr/>
        </p:nvSpPr>
        <p:spPr>
          <a:xfrm>
            <a:off x="685800" y="3600450"/>
            <a:ext cx="1632204"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IP address • Country • Region • City • ASN</a:t>
            </a:r>
            <a:endParaRPr sz="700" b="0" i="0" u="none" strike="noStrike" cap="none">
              <a:solidFill>
                <a:schemeClr val="dk1"/>
              </a:solidFill>
              <a:latin typeface="Inter"/>
              <a:ea typeface="Inter"/>
              <a:cs typeface="Inter"/>
              <a:sym typeface="Inter"/>
            </a:endParaRPr>
          </a:p>
        </p:txBody>
      </p:sp>
      <p:sp>
        <p:nvSpPr>
          <p:cNvPr id="216" name="Google Shape;216;p19"/>
          <p:cNvSpPr/>
          <p:nvPr/>
        </p:nvSpPr>
        <p:spPr>
          <a:xfrm>
            <a:off x="2756916" y="2894076"/>
            <a:ext cx="370332" cy="370332"/>
          </a:xfrm>
          <a:prstGeom prst="ellipse">
            <a:avLst/>
          </a:prstGeom>
          <a:solidFill>
            <a:srgbClr val="EAF2FF"/>
          </a:solidFill>
          <a:ln w="12700" cap="flat" cmpd="sng">
            <a:solidFill>
              <a:srgbClr val="EAF2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17" name="Google Shape;217;p19"/>
          <p:cNvSpPr/>
          <p:nvPr/>
        </p:nvSpPr>
        <p:spPr>
          <a:xfrm>
            <a:off x="2852928" y="2983230"/>
            <a:ext cx="185166" cy="144018"/>
          </a:xfrm>
          <a:prstGeom prst="roundRect">
            <a:avLst>
              <a:gd name="adj" fmla="val 16667"/>
            </a:avLst>
          </a:prstGeom>
          <a:solidFill>
            <a:srgbClr val="EAF2FF">
              <a:alpha val="0"/>
            </a:srgbClr>
          </a:solidFill>
          <a:ln w="165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218" name="Google Shape;218;p19"/>
          <p:cNvCxnSpPr/>
          <p:nvPr/>
        </p:nvCxnSpPr>
        <p:spPr>
          <a:xfrm>
            <a:off x="2900934" y="3154680"/>
            <a:ext cx="89154" cy="0"/>
          </a:xfrm>
          <a:prstGeom prst="straightConnector1">
            <a:avLst/>
          </a:prstGeom>
          <a:noFill/>
          <a:ln w="16500" cap="flat" cmpd="sng">
            <a:solidFill>
              <a:srgbClr val="3A86FF"/>
            </a:solidFill>
            <a:prstDash val="solid"/>
            <a:round/>
            <a:headEnd type="none" w="sm" len="sm"/>
            <a:tailEnd type="none" w="sm" len="sm"/>
          </a:ln>
        </p:spPr>
      </p:cxnSp>
      <p:sp>
        <p:nvSpPr>
          <p:cNvPr id="219" name="Google Shape;219;p19"/>
          <p:cNvSpPr/>
          <p:nvPr/>
        </p:nvSpPr>
        <p:spPr>
          <a:xfrm>
            <a:off x="2756916" y="3360420"/>
            <a:ext cx="1543050"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Device context</a:t>
            </a:r>
            <a:endParaRPr sz="900" b="0" i="0" u="none" strike="noStrike" cap="none">
              <a:solidFill>
                <a:schemeClr val="dk1"/>
              </a:solidFill>
              <a:latin typeface="Inter"/>
              <a:ea typeface="Inter"/>
              <a:cs typeface="Inter"/>
              <a:sym typeface="Inter"/>
            </a:endParaRPr>
          </a:p>
        </p:txBody>
      </p:sp>
      <p:sp>
        <p:nvSpPr>
          <p:cNvPr id="220" name="Google Shape;220;p19"/>
          <p:cNvSpPr/>
          <p:nvPr/>
        </p:nvSpPr>
        <p:spPr>
          <a:xfrm>
            <a:off x="2756916" y="3600450"/>
            <a:ext cx="1632204"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User agent • OS • Browser • Device type</a:t>
            </a:r>
            <a:endParaRPr sz="700" b="0" i="0" u="none" strike="noStrike" cap="none">
              <a:solidFill>
                <a:schemeClr val="dk1"/>
              </a:solidFill>
              <a:latin typeface="Inter"/>
              <a:ea typeface="Inter"/>
              <a:cs typeface="Inter"/>
              <a:sym typeface="Inter"/>
            </a:endParaRPr>
          </a:p>
        </p:txBody>
      </p:sp>
      <p:sp>
        <p:nvSpPr>
          <p:cNvPr id="221" name="Google Shape;221;p19"/>
          <p:cNvSpPr/>
          <p:nvPr/>
        </p:nvSpPr>
        <p:spPr>
          <a:xfrm>
            <a:off x="4828032" y="2894076"/>
            <a:ext cx="370332" cy="370332"/>
          </a:xfrm>
          <a:prstGeom prst="ellipse">
            <a:avLst/>
          </a:prstGeom>
          <a:solidFill>
            <a:srgbClr val="FFF6E8"/>
          </a:solidFill>
          <a:ln w="12700" cap="flat" cmpd="sng">
            <a:solidFill>
              <a:srgbClr val="FFF6E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2" name="Google Shape;222;p19"/>
          <p:cNvSpPr/>
          <p:nvPr/>
        </p:nvSpPr>
        <p:spPr>
          <a:xfrm>
            <a:off x="4930902" y="2983230"/>
            <a:ext cx="164592" cy="164592"/>
          </a:xfrm>
          <a:prstGeom prst="ellipse">
            <a:avLst/>
          </a:prstGeom>
          <a:solidFill>
            <a:srgbClr val="FFF6E8">
              <a:alpha val="0"/>
            </a:srgbClr>
          </a:solidFill>
          <a:ln w="165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223" name="Google Shape;223;p19"/>
          <p:cNvCxnSpPr/>
          <p:nvPr/>
        </p:nvCxnSpPr>
        <p:spPr>
          <a:xfrm rot="10800000">
            <a:off x="5013198" y="3017520"/>
            <a:ext cx="0" cy="48006"/>
          </a:xfrm>
          <a:prstGeom prst="straightConnector1">
            <a:avLst/>
          </a:prstGeom>
          <a:noFill/>
          <a:ln w="15225" cap="flat" cmpd="sng">
            <a:solidFill>
              <a:srgbClr val="FFB347"/>
            </a:solidFill>
            <a:prstDash val="solid"/>
            <a:round/>
            <a:headEnd type="none" w="sm" len="sm"/>
            <a:tailEnd type="none" w="sm" len="sm"/>
          </a:ln>
        </p:spPr>
      </p:cxnSp>
      <p:cxnSp>
        <p:nvCxnSpPr>
          <p:cNvPr id="224" name="Google Shape;224;p19"/>
          <p:cNvCxnSpPr/>
          <p:nvPr/>
        </p:nvCxnSpPr>
        <p:spPr>
          <a:xfrm>
            <a:off x="5013198" y="3065526"/>
            <a:ext cx="48006" cy="27432"/>
          </a:xfrm>
          <a:prstGeom prst="straightConnector1">
            <a:avLst/>
          </a:prstGeom>
          <a:noFill/>
          <a:ln w="15225" cap="flat" cmpd="sng">
            <a:solidFill>
              <a:srgbClr val="FFB347"/>
            </a:solidFill>
            <a:prstDash val="solid"/>
            <a:round/>
            <a:headEnd type="none" w="sm" len="sm"/>
            <a:tailEnd type="none" w="sm" len="sm"/>
          </a:ln>
        </p:spPr>
      </p:cxnSp>
      <p:sp>
        <p:nvSpPr>
          <p:cNvPr id="225" name="Google Shape;225;p19"/>
          <p:cNvSpPr/>
          <p:nvPr/>
        </p:nvSpPr>
        <p:spPr>
          <a:xfrm>
            <a:off x="4828032" y="3360420"/>
            <a:ext cx="1543050"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Behavioral context</a:t>
            </a:r>
            <a:endParaRPr sz="900" b="0" i="0" u="none" strike="noStrike" cap="none">
              <a:solidFill>
                <a:schemeClr val="dk1"/>
              </a:solidFill>
              <a:latin typeface="Inter"/>
              <a:ea typeface="Inter"/>
              <a:cs typeface="Inter"/>
              <a:sym typeface="Inter"/>
            </a:endParaRPr>
          </a:p>
        </p:txBody>
      </p:sp>
      <p:sp>
        <p:nvSpPr>
          <p:cNvPr id="226" name="Google Shape;226;p19"/>
          <p:cNvSpPr/>
          <p:nvPr/>
        </p:nvSpPr>
        <p:spPr>
          <a:xfrm>
            <a:off x="4828032" y="3600450"/>
            <a:ext cx="1632204"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Timestamp • RTT • Login success</a:t>
            </a:r>
            <a:endParaRPr sz="700" b="0" i="0" u="none" strike="noStrike" cap="none">
              <a:solidFill>
                <a:schemeClr val="dk1"/>
              </a:solidFill>
              <a:latin typeface="Inter"/>
              <a:ea typeface="Inter"/>
              <a:cs typeface="Inter"/>
              <a:sym typeface="Inter"/>
            </a:endParaRPr>
          </a:p>
        </p:txBody>
      </p:sp>
      <p:sp>
        <p:nvSpPr>
          <p:cNvPr id="227" name="Google Shape;227;p19"/>
          <p:cNvSpPr/>
          <p:nvPr/>
        </p:nvSpPr>
        <p:spPr>
          <a:xfrm>
            <a:off x="6899148" y="2894076"/>
            <a:ext cx="370332" cy="370332"/>
          </a:xfrm>
          <a:prstGeom prst="ellipse">
            <a:avLst/>
          </a:prstGeom>
          <a:solidFill>
            <a:srgbClr val="FFF0F0"/>
          </a:solidFill>
          <a:ln w="12700" cap="flat" cmpd="sng">
            <a:solidFill>
              <a:srgbClr val="FFF0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8" name="Google Shape;228;p19"/>
          <p:cNvSpPr/>
          <p:nvPr/>
        </p:nvSpPr>
        <p:spPr>
          <a:xfrm>
            <a:off x="6960870" y="2990088"/>
            <a:ext cx="246888"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6B6B"/>
              </a:buClr>
              <a:buSzPts val="800"/>
              <a:buFont typeface="Arial"/>
              <a:buNone/>
            </a:pPr>
            <a:r>
              <a:rPr lang="en" sz="800" b="1" i="0" u="none" strike="noStrike" cap="none">
                <a:solidFill>
                  <a:srgbClr val="FF6B6B"/>
                </a:solidFill>
                <a:latin typeface="Arial"/>
                <a:ea typeface="Arial"/>
                <a:cs typeface="Arial"/>
                <a:sym typeface="Arial"/>
              </a:rPr>
              <a:t>&lt;/&gt;</a:t>
            </a:r>
            <a:endParaRPr sz="800" b="0" i="0" u="none" strike="noStrike" cap="none">
              <a:solidFill>
                <a:schemeClr val="dk1"/>
              </a:solidFill>
              <a:latin typeface="Inter"/>
              <a:ea typeface="Inter"/>
              <a:cs typeface="Inter"/>
              <a:sym typeface="Inter"/>
            </a:endParaRPr>
          </a:p>
        </p:txBody>
      </p:sp>
      <p:sp>
        <p:nvSpPr>
          <p:cNvPr id="229" name="Google Shape;229;p19"/>
          <p:cNvSpPr/>
          <p:nvPr/>
        </p:nvSpPr>
        <p:spPr>
          <a:xfrm>
            <a:off x="6899148" y="3360420"/>
            <a:ext cx="1543050" cy="1920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Security labels</a:t>
            </a:r>
            <a:endParaRPr sz="900" b="0" i="0" u="none" strike="noStrike" cap="none">
              <a:solidFill>
                <a:schemeClr val="dk1"/>
              </a:solidFill>
              <a:latin typeface="Inter"/>
              <a:ea typeface="Inter"/>
              <a:cs typeface="Inter"/>
              <a:sym typeface="Inter"/>
            </a:endParaRPr>
          </a:p>
        </p:txBody>
      </p:sp>
      <p:sp>
        <p:nvSpPr>
          <p:cNvPr id="230" name="Google Shape;230;p19"/>
          <p:cNvSpPr/>
          <p:nvPr/>
        </p:nvSpPr>
        <p:spPr>
          <a:xfrm>
            <a:off x="6899148" y="3600450"/>
            <a:ext cx="1632204"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Is Attack IP • Is Account Takeover</a:t>
            </a:r>
            <a:endParaRPr sz="700" b="0" i="0" u="none" strike="noStrike" cap="none">
              <a:solidFill>
                <a:schemeClr val="dk1"/>
              </a:solidFill>
              <a:latin typeface="Inter"/>
              <a:ea typeface="Inter"/>
              <a:cs typeface="Inter"/>
              <a:sym typeface="Inter"/>
            </a:endParaRPr>
          </a:p>
        </p:txBody>
      </p:sp>
      <p:sp>
        <p:nvSpPr>
          <p:cNvPr id="231" name="Google Shape;231;p19"/>
          <p:cNvSpPr/>
          <p:nvPr/>
        </p:nvSpPr>
        <p:spPr>
          <a:xfrm>
            <a:off x="493776" y="4656582"/>
            <a:ext cx="8092440" cy="123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95A3"/>
              </a:buClr>
              <a:buSzPts val="500"/>
              <a:buFont typeface="Inter"/>
              <a:buNone/>
            </a:pPr>
            <a:r>
              <a:rPr lang="en" sz="500" b="0" i="1" u="none" strike="noStrike" cap="none">
                <a:solidFill>
                  <a:srgbClr val="8595A3"/>
                </a:solidFill>
                <a:latin typeface="Inter"/>
                <a:ea typeface="Inter"/>
                <a:cs typeface="Inter"/>
                <a:sym typeface="Inter"/>
              </a:rPr>
              <a:t>Source: Zenodo — Login Data Set for Risk-Based Authentication, DOI 10.5281/zenodo.6782156. Data is synthesized from real-world behavior and is not intended for production use.</a:t>
            </a:r>
            <a:endParaRPr sz="500" b="0" i="0" u="none" strike="noStrike" cap="none">
              <a:solidFill>
                <a:schemeClr val="dk1"/>
              </a:solidFill>
              <a:latin typeface="Inter"/>
              <a:ea typeface="Inter"/>
              <a:cs typeface="Inter"/>
              <a:sym typeface="Inter"/>
            </a:endParaRPr>
          </a:p>
        </p:txBody>
      </p:sp>
      <p:sp>
        <p:nvSpPr>
          <p:cNvPr id="232" name="Google Shape;232;p19"/>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4</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0"/>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Choosing the right prediction target</a:t>
            </a:r>
            <a:endParaRPr sz="2100" b="0" i="0" u="none" strike="noStrike" cap="none">
              <a:solidFill>
                <a:schemeClr val="dk1"/>
              </a:solidFill>
              <a:latin typeface="Inter"/>
              <a:ea typeface="Inter"/>
              <a:cs typeface="Inter"/>
              <a:sym typeface="Inter"/>
            </a:endParaRPr>
          </a:p>
        </p:txBody>
      </p:sp>
      <p:sp>
        <p:nvSpPr>
          <p:cNvPr id="239" name="Google Shape;239;p20"/>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The first target was too rare to support reliable training on a manageable sample.</a:t>
            </a:r>
            <a:endParaRPr sz="900" b="0" i="0" u="none" strike="noStrike" cap="none">
              <a:solidFill>
                <a:schemeClr val="dk1"/>
              </a:solidFill>
              <a:latin typeface="Inter"/>
              <a:ea typeface="Inter"/>
              <a:cs typeface="Inter"/>
              <a:sym typeface="Inter"/>
            </a:endParaRPr>
          </a:p>
        </p:txBody>
      </p:sp>
      <p:sp>
        <p:nvSpPr>
          <p:cNvPr id="240" name="Google Shape;240;p20"/>
          <p:cNvSpPr/>
          <p:nvPr/>
        </p:nvSpPr>
        <p:spPr>
          <a:xfrm>
            <a:off x="569214" y="1248156"/>
            <a:ext cx="3168396" cy="2551176"/>
          </a:xfrm>
          <a:prstGeom prst="roundRect">
            <a:avLst>
              <a:gd name="adj" fmla="val 3226"/>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1" name="Google Shape;241;p20"/>
          <p:cNvSpPr/>
          <p:nvPr/>
        </p:nvSpPr>
        <p:spPr>
          <a:xfrm>
            <a:off x="768096" y="1440180"/>
            <a:ext cx="1110996" cy="233172"/>
          </a:xfrm>
          <a:prstGeom prst="roundRect">
            <a:avLst>
              <a:gd name="adj" fmla="val 16667"/>
            </a:avLst>
          </a:prstGeom>
          <a:solidFill>
            <a:srgbClr val="FFF0F0"/>
          </a:solidFill>
          <a:ln w="12700" cap="flat" cmpd="sng">
            <a:solidFill>
              <a:srgbClr val="FFF0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2" name="Google Shape;242;p20"/>
          <p:cNvSpPr/>
          <p:nvPr/>
        </p:nvSpPr>
        <p:spPr>
          <a:xfrm>
            <a:off x="822960" y="1474470"/>
            <a:ext cx="1001268"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6B6B"/>
              </a:buClr>
              <a:buSzPts val="600"/>
              <a:buFont typeface="Inter"/>
              <a:buNone/>
            </a:pPr>
            <a:r>
              <a:rPr lang="en" sz="600" b="1" i="0" u="none" strike="noStrike" cap="none">
                <a:solidFill>
                  <a:srgbClr val="FF6B6B"/>
                </a:solidFill>
                <a:latin typeface="Inter"/>
                <a:ea typeface="Inter"/>
                <a:cs typeface="Inter"/>
                <a:sym typeface="Inter"/>
              </a:rPr>
              <a:t>ORIGINAL TARGET</a:t>
            </a:r>
            <a:endParaRPr sz="600" b="0" i="0" u="none" strike="noStrike" cap="none">
              <a:solidFill>
                <a:schemeClr val="dk1"/>
              </a:solidFill>
              <a:latin typeface="Inter"/>
              <a:ea typeface="Inter"/>
              <a:cs typeface="Inter"/>
              <a:sym typeface="Inter"/>
            </a:endParaRPr>
          </a:p>
        </p:txBody>
      </p:sp>
      <p:sp>
        <p:nvSpPr>
          <p:cNvPr id="243" name="Google Shape;243;p20"/>
          <p:cNvSpPr/>
          <p:nvPr/>
        </p:nvSpPr>
        <p:spPr>
          <a:xfrm>
            <a:off x="768096" y="1831086"/>
            <a:ext cx="2434590" cy="3086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600"/>
              <a:buFont typeface="Inter"/>
              <a:buNone/>
            </a:pPr>
            <a:r>
              <a:rPr lang="en" sz="1600" b="1" i="0" u="none" strike="noStrike" cap="none">
                <a:solidFill>
                  <a:srgbClr val="122637"/>
                </a:solidFill>
                <a:latin typeface="Inter"/>
                <a:ea typeface="Inter"/>
                <a:cs typeface="Inter"/>
                <a:sym typeface="Inter"/>
              </a:rPr>
              <a:t>Is Account Takeover</a:t>
            </a:r>
            <a:endParaRPr sz="1600" b="0" i="0" u="none" strike="noStrike" cap="none">
              <a:solidFill>
                <a:schemeClr val="dk1"/>
              </a:solidFill>
              <a:latin typeface="Inter"/>
              <a:ea typeface="Inter"/>
              <a:cs typeface="Inter"/>
              <a:sym typeface="Inter"/>
            </a:endParaRPr>
          </a:p>
        </p:txBody>
      </p:sp>
      <p:sp>
        <p:nvSpPr>
          <p:cNvPr id="244" name="Google Shape;244;p20"/>
          <p:cNvSpPr/>
          <p:nvPr/>
        </p:nvSpPr>
        <p:spPr>
          <a:xfrm>
            <a:off x="768096" y="2311146"/>
            <a:ext cx="822960" cy="51435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6B6B"/>
              </a:buClr>
              <a:buSzPts val="3000"/>
              <a:buFont typeface="Inter"/>
              <a:buNone/>
            </a:pPr>
            <a:r>
              <a:rPr lang="en" sz="3000" b="1" i="0" u="none" strike="noStrike" cap="none">
                <a:solidFill>
                  <a:srgbClr val="FF6B6B"/>
                </a:solidFill>
                <a:latin typeface="Inter"/>
                <a:ea typeface="Inter"/>
                <a:cs typeface="Inter"/>
                <a:sym typeface="Inter"/>
              </a:rPr>
              <a:t>11</a:t>
            </a:r>
            <a:endParaRPr sz="3000" b="0" i="0" u="none" strike="noStrike" cap="none">
              <a:solidFill>
                <a:schemeClr val="dk1"/>
              </a:solidFill>
              <a:latin typeface="Inter"/>
              <a:ea typeface="Inter"/>
              <a:cs typeface="Inter"/>
              <a:sym typeface="Inter"/>
            </a:endParaRPr>
          </a:p>
        </p:txBody>
      </p:sp>
      <p:sp>
        <p:nvSpPr>
          <p:cNvPr id="245" name="Google Shape;245;p20"/>
          <p:cNvSpPr/>
          <p:nvPr/>
        </p:nvSpPr>
        <p:spPr>
          <a:xfrm>
            <a:off x="1481328" y="2414016"/>
            <a:ext cx="144018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positive examples</a:t>
            </a:r>
            <a:endParaRPr sz="8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in 1,000,000 rows</a:t>
            </a:r>
            <a:endParaRPr sz="800" b="0" i="0" u="none" strike="noStrike" cap="none">
              <a:solidFill>
                <a:schemeClr val="dk1"/>
              </a:solidFill>
              <a:latin typeface="Inter"/>
              <a:ea typeface="Inter"/>
              <a:cs typeface="Inter"/>
              <a:sym typeface="Inter"/>
            </a:endParaRPr>
          </a:p>
        </p:txBody>
      </p:sp>
      <p:sp>
        <p:nvSpPr>
          <p:cNvPr id="246" name="Google Shape;246;p20"/>
          <p:cNvSpPr/>
          <p:nvPr/>
        </p:nvSpPr>
        <p:spPr>
          <a:xfrm>
            <a:off x="768096" y="3099816"/>
            <a:ext cx="250317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800"/>
              <a:buFont typeface="Inter"/>
              <a:buNone/>
            </a:pPr>
            <a:r>
              <a:rPr lang="en" sz="800" b="0" i="0" u="none" strike="noStrike" cap="none">
                <a:solidFill>
                  <a:srgbClr val="6B7F90"/>
                </a:solidFill>
                <a:latin typeface="Inter"/>
                <a:ea typeface="Inter"/>
                <a:cs typeface="Inter"/>
                <a:sym typeface="Inter"/>
              </a:rPr>
              <a:t>Result: the model learned to predict nearly everything as normal.</a:t>
            </a:r>
            <a:endParaRPr sz="800" b="0" i="0" u="none" strike="noStrike" cap="none">
              <a:solidFill>
                <a:schemeClr val="dk1"/>
              </a:solidFill>
              <a:latin typeface="Inter"/>
              <a:ea typeface="Inter"/>
              <a:cs typeface="Inter"/>
              <a:sym typeface="Inter"/>
            </a:endParaRPr>
          </a:p>
        </p:txBody>
      </p:sp>
      <p:sp>
        <p:nvSpPr>
          <p:cNvPr id="247" name="Google Shape;247;p20"/>
          <p:cNvSpPr/>
          <p:nvPr/>
        </p:nvSpPr>
        <p:spPr>
          <a:xfrm>
            <a:off x="3943350" y="2105406"/>
            <a:ext cx="973836" cy="822960"/>
          </a:xfrm>
          <a:prstGeom prst="chevron">
            <a:avLst>
              <a:gd name="adj" fmla="val 50000"/>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8" name="Google Shape;248;p20"/>
          <p:cNvSpPr/>
          <p:nvPr/>
        </p:nvSpPr>
        <p:spPr>
          <a:xfrm>
            <a:off x="3874770" y="3038094"/>
            <a:ext cx="1110996"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600"/>
              <a:buFont typeface="Inter"/>
              <a:buNone/>
            </a:pPr>
            <a:r>
              <a:rPr lang="en" sz="600" b="1" i="0" u="none" strike="noStrike" cap="none">
                <a:solidFill>
                  <a:srgbClr val="22D3A6"/>
                </a:solidFill>
                <a:latin typeface="Inter"/>
                <a:ea typeface="Inter"/>
                <a:cs typeface="Inter"/>
                <a:sym typeface="Inter"/>
              </a:rPr>
              <a:t>SWITCHED TO</a:t>
            </a:r>
            <a:endParaRPr sz="600" b="0" i="0" u="none" strike="noStrike" cap="none">
              <a:solidFill>
                <a:schemeClr val="dk1"/>
              </a:solidFill>
              <a:latin typeface="Inter"/>
              <a:ea typeface="Inter"/>
              <a:cs typeface="Inter"/>
              <a:sym typeface="Inter"/>
            </a:endParaRPr>
          </a:p>
        </p:txBody>
      </p:sp>
      <p:sp>
        <p:nvSpPr>
          <p:cNvPr id="249" name="Google Shape;249;p20"/>
          <p:cNvSpPr/>
          <p:nvPr/>
        </p:nvSpPr>
        <p:spPr>
          <a:xfrm>
            <a:off x="5129784" y="1248156"/>
            <a:ext cx="3415284" cy="2551176"/>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0" name="Google Shape;250;p20"/>
          <p:cNvSpPr/>
          <p:nvPr/>
        </p:nvSpPr>
        <p:spPr>
          <a:xfrm>
            <a:off x="5342382" y="1440180"/>
            <a:ext cx="891540" cy="233172"/>
          </a:xfrm>
          <a:prstGeom prst="roundRect">
            <a:avLst>
              <a:gd name="adj" fmla="val 16667"/>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1" name="Google Shape;251;p20"/>
          <p:cNvSpPr/>
          <p:nvPr/>
        </p:nvSpPr>
        <p:spPr>
          <a:xfrm>
            <a:off x="5397246" y="1474470"/>
            <a:ext cx="781812"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600"/>
              <a:buFont typeface="Inter"/>
              <a:buNone/>
            </a:pPr>
            <a:r>
              <a:rPr lang="en" sz="600" b="1" i="0" u="none" strike="noStrike" cap="none">
                <a:solidFill>
                  <a:srgbClr val="22D3A6"/>
                </a:solidFill>
                <a:latin typeface="Inter"/>
                <a:ea typeface="Inter"/>
                <a:cs typeface="Inter"/>
                <a:sym typeface="Inter"/>
              </a:rPr>
              <a:t>MAIN TARGET</a:t>
            </a:r>
            <a:endParaRPr sz="600" b="0" i="0" u="none" strike="noStrike" cap="none">
              <a:solidFill>
                <a:schemeClr val="dk1"/>
              </a:solidFill>
              <a:latin typeface="Inter"/>
              <a:ea typeface="Inter"/>
              <a:cs typeface="Inter"/>
              <a:sym typeface="Inter"/>
            </a:endParaRPr>
          </a:p>
        </p:txBody>
      </p:sp>
      <p:sp>
        <p:nvSpPr>
          <p:cNvPr id="252" name="Google Shape;252;p20"/>
          <p:cNvSpPr/>
          <p:nvPr/>
        </p:nvSpPr>
        <p:spPr>
          <a:xfrm>
            <a:off x="5342382" y="1831086"/>
            <a:ext cx="2331720" cy="3086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Inter"/>
              <a:buNone/>
            </a:pPr>
            <a:r>
              <a:rPr lang="en" sz="1600" b="1" i="0" u="none" strike="noStrike" cap="none">
                <a:solidFill>
                  <a:srgbClr val="FFFFFF"/>
                </a:solidFill>
                <a:latin typeface="Inter"/>
                <a:ea typeface="Inter"/>
                <a:cs typeface="Inter"/>
                <a:sym typeface="Inter"/>
              </a:rPr>
              <a:t>Is Attack IP</a:t>
            </a:r>
            <a:endParaRPr sz="1600" b="0" i="0" u="none" strike="noStrike" cap="none">
              <a:solidFill>
                <a:schemeClr val="dk1"/>
              </a:solidFill>
              <a:latin typeface="Inter"/>
              <a:ea typeface="Inter"/>
              <a:cs typeface="Inter"/>
              <a:sym typeface="Inter"/>
            </a:endParaRPr>
          </a:p>
        </p:txBody>
      </p:sp>
      <p:sp>
        <p:nvSpPr>
          <p:cNvPr id="253" name="Google Shape;253;p20"/>
          <p:cNvSpPr/>
          <p:nvPr/>
        </p:nvSpPr>
        <p:spPr>
          <a:xfrm>
            <a:off x="5342382" y="2304288"/>
            <a:ext cx="1851660" cy="51435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2700"/>
              <a:buFont typeface="Inter"/>
              <a:buNone/>
            </a:pPr>
            <a:r>
              <a:rPr lang="en" sz="2700" b="1" i="0" u="none" strike="noStrike" cap="none">
                <a:solidFill>
                  <a:srgbClr val="22D3A6"/>
                </a:solidFill>
                <a:latin typeface="Inter"/>
                <a:ea typeface="Inter"/>
                <a:cs typeface="Inter"/>
                <a:sym typeface="Inter"/>
              </a:rPr>
              <a:t>99,534</a:t>
            </a:r>
            <a:endParaRPr sz="2700" b="0" i="0" u="none" strike="noStrike" cap="none">
              <a:solidFill>
                <a:schemeClr val="dk1"/>
              </a:solidFill>
              <a:latin typeface="Inter"/>
              <a:ea typeface="Inter"/>
              <a:cs typeface="Inter"/>
              <a:sym typeface="Inter"/>
            </a:endParaRPr>
          </a:p>
        </p:txBody>
      </p:sp>
      <p:sp>
        <p:nvSpPr>
          <p:cNvPr id="254" name="Google Shape;254;p20"/>
          <p:cNvSpPr/>
          <p:nvPr/>
        </p:nvSpPr>
        <p:spPr>
          <a:xfrm>
            <a:off x="6981444" y="2414016"/>
            <a:ext cx="126873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2D6DF"/>
              </a:buClr>
              <a:buSzPts val="800"/>
              <a:buFont typeface="Inter"/>
              <a:buNone/>
            </a:pPr>
            <a:r>
              <a:rPr lang="en" sz="800" b="0" i="0" u="none" strike="noStrike" cap="none">
                <a:solidFill>
                  <a:srgbClr val="C2D6DF"/>
                </a:solidFill>
                <a:latin typeface="Inter"/>
                <a:ea typeface="Inter"/>
                <a:cs typeface="Inter"/>
                <a:sym typeface="Inter"/>
              </a:rPr>
              <a:t>positive examples</a:t>
            </a:r>
            <a:endParaRPr sz="8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C2D6DF"/>
              </a:buClr>
              <a:buSzPts val="800"/>
              <a:buFont typeface="Inter"/>
              <a:buNone/>
            </a:pPr>
            <a:r>
              <a:rPr lang="en" sz="800" b="0" i="0" u="none" strike="noStrike" cap="none">
                <a:solidFill>
                  <a:srgbClr val="C2D6DF"/>
                </a:solidFill>
                <a:latin typeface="Inter"/>
                <a:ea typeface="Inter"/>
                <a:cs typeface="Inter"/>
                <a:sym typeface="Inter"/>
              </a:rPr>
              <a:t>in 1,000,000 rows</a:t>
            </a:r>
            <a:endParaRPr sz="800" b="0" i="0" u="none" strike="noStrike" cap="none">
              <a:solidFill>
                <a:schemeClr val="dk1"/>
              </a:solidFill>
              <a:latin typeface="Inter"/>
              <a:ea typeface="Inter"/>
              <a:cs typeface="Inter"/>
              <a:sym typeface="Inter"/>
            </a:endParaRPr>
          </a:p>
        </p:txBody>
      </p:sp>
      <p:sp>
        <p:nvSpPr>
          <p:cNvPr id="255" name="Google Shape;255;p20"/>
          <p:cNvSpPr/>
          <p:nvPr/>
        </p:nvSpPr>
        <p:spPr>
          <a:xfrm>
            <a:off x="5342382" y="3099816"/>
            <a:ext cx="2708910" cy="4251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FD3DE"/>
              </a:buClr>
              <a:buSzPts val="800"/>
              <a:buFont typeface="Inter"/>
              <a:buNone/>
            </a:pPr>
            <a:r>
              <a:rPr lang="en" sz="800" b="0" i="0" u="none" strike="noStrike" cap="none">
                <a:solidFill>
                  <a:srgbClr val="BFD3DE"/>
                </a:solidFill>
                <a:latin typeface="Inter"/>
                <a:ea typeface="Inter"/>
                <a:cs typeface="Inter"/>
                <a:sym typeface="Inter"/>
              </a:rPr>
              <a:t>Enough positive examples to train, validate, and test the model meaningfully.</a:t>
            </a:r>
            <a:endParaRPr sz="800" b="0" i="0" u="none" strike="noStrike" cap="none">
              <a:solidFill>
                <a:schemeClr val="dk1"/>
              </a:solidFill>
              <a:latin typeface="Inter"/>
              <a:ea typeface="Inter"/>
              <a:cs typeface="Inter"/>
              <a:sym typeface="Inter"/>
            </a:endParaRPr>
          </a:p>
        </p:txBody>
      </p:sp>
      <p:sp>
        <p:nvSpPr>
          <p:cNvPr id="256" name="Google Shape;256;p20"/>
          <p:cNvSpPr/>
          <p:nvPr/>
        </p:nvSpPr>
        <p:spPr>
          <a:xfrm>
            <a:off x="699516" y="4059936"/>
            <a:ext cx="7763256" cy="356616"/>
          </a:xfrm>
          <a:prstGeom prst="roundRect">
            <a:avLst>
              <a:gd name="adj" fmla="val 16667"/>
            </a:avLst>
          </a:prstGeom>
          <a:solidFill>
            <a:srgbClr val="FFF6E8"/>
          </a:solidFill>
          <a:ln w="12700" cap="flat" cmpd="sng">
            <a:solidFill>
              <a:srgbClr val="FFF6E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7" name="Google Shape;257;p20"/>
          <p:cNvSpPr/>
          <p:nvPr/>
        </p:nvSpPr>
        <p:spPr>
          <a:xfrm>
            <a:off x="877824" y="4169664"/>
            <a:ext cx="740664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5422"/>
              </a:buClr>
              <a:buSzPts val="800"/>
              <a:buFont typeface="Inter"/>
              <a:buNone/>
            </a:pPr>
            <a:r>
              <a:rPr lang="en" sz="800" b="1" i="0" u="none" strike="noStrike" cap="none">
                <a:solidFill>
                  <a:srgbClr val="7A5422"/>
                </a:solidFill>
                <a:latin typeface="Inter"/>
                <a:ea typeface="Inter"/>
                <a:cs typeface="Inter"/>
                <a:sym typeface="Inter"/>
              </a:rPr>
              <a:t>Key lesson: a high accuracy score can be meaningless when the positive class is almost absent.</a:t>
            </a:r>
            <a:endParaRPr sz="800" b="0" i="0" u="none" strike="noStrike" cap="none">
              <a:solidFill>
                <a:schemeClr val="dk1"/>
              </a:solidFill>
              <a:latin typeface="Inter"/>
              <a:ea typeface="Inter"/>
              <a:cs typeface="Inter"/>
              <a:sym typeface="Inter"/>
            </a:endParaRPr>
          </a:p>
        </p:txBody>
      </p:sp>
      <p:sp>
        <p:nvSpPr>
          <p:cNvPr id="258" name="Google Shape;258;p20"/>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5</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1"/>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Machine learning pipeline</a:t>
            </a:r>
            <a:endParaRPr sz="2100" b="0" i="0" u="none" strike="noStrike" cap="none">
              <a:solidFill>
                <a:schemeClr val="dk1"/>
              </a:solidFill>
              <a:latin typeface="Inter"/>
              <a:ea typeface="Inter"/>
              <a:cs typeface="Inter"/>
              <a:sym typeface="Inter"/>
            </a:endParaRPr>
          </a:p>
        </p:txBody>
      </p:sp>
      <p:sp>
        <p:nvSpPr>
          <p:cNvPr id="265" name="Google Shape;265;p21"/>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The code handles the full process from a 9 GB CSV to a saved prediction model.</a:t>
            </a:r>
            <a:endParaRPr sz="900" b="0" i="0" u="none" strike="noStrike" cap="none">
              <a:solidFill>
                <a:schemeClr val="dk1"/>
              </a:solidFill>
              <a:latin typeface="Inter"/>
              <a:ea typeface="Inter"/>
              <a:cs typeface="Inter"/>
              <a:sym typeface="Inter"/>
            </a:endParaRPr>
          </a:p>
        </p:txBody>
      </p:sp>
      <p:sp>
        <p:nvSpPr>
          <p:cNvPr id="266" name="Google Shape;266;p21"/>
          <p:cNvSpPr/>
          <p:nvPr/>
        </p:nvSpPr>
        <p:spPr>
          <a:xfrm>
            <a:off x="493776" y="1385316"/>
            <a:ext cx="480060" cy="480060"/>
          </a:xfrm>
          <a:prstGeom prst="ellipse">
            <a:avLst/>
          </a:prstGeom>
          <a:solidFill>
            <a:srgbClr val="3A86FF"/>
          </a:solidFill>
          <a:ln w="127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67" name="Google Shape;267;p21"/>
          <p:cNvSpPr/>
          <p:nvPr/>
        </p:nvSpPr>
        <p:spPr>
          <a:xfrm>
            <a:off x="493776" y="1561441"/>
            <a:ext cx="4800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Inter"/>
              <a:buNone/>
            </a:pPr>
            <a:r>
              <a:rPr lang="en" sz="700" b="1" i="0" u="none" strike="noStrike" cap="none">
                <a:solidFill>
                  <a:srgbClr val="FFFFFF"/>
                </a:solidFill>
                <a:latin typeface="Inter"/>
                <a:ea typeface="Inter"/>
                <a:cs typeface="Inter"/>
                <a:sym typeface="Inter"/>
              </a:rPr>
              <a:t>01</a:t>
            </a:r>
            <a:endParaRPr sz="700" b="0" i="0" u="none" strike="noStrike" cap="none">
              <a:solidFill>
                <a:schemeClr val="dk1"/>
              </a:solidFill>
              <a:latin typeface="Inter"/>
              <a:ea typeface="Inter"/>
              <a:cs typeface="Inter"/>
              <a:sym typeface="Inter"/>
            </a:endParaRPr>
          </a:p>
        </p:txBody>
      </p:sp>
      <p:cxnSp>
        <p:nvCxnSpPr>
          <p:cNvPr id="268" name="Google Shape;268;p21"/>
          <p:cNvCxnSpPr/>
          <p:nvPr/>
        </p:nvCxnSpPr>
        <p:spPr>
          <a:xfrm>
            <a:off x="1001268" y="1625346"/>
            <a:ext cx="809244" cy="0"/>
          </a:xfrm>
          <a:prstGeom prst="straightConnector1">
            <a:avLst/>
          </a:prstGeom>
          <a:noFill/>
          <a:ln w="19050" cap="flat" cmpd="sng">
            <a:solidFill>
              <a:srgbClr val="C7D7E0"/>
            </a:solidFill>
            <a:prstDash val="solid"/>
            <a:round/>
            <a:headEnd type="none" w="sm" len="sm"/>
            <a:tailEnd type="triangle" w="med" len="med"/>
          </a:ln>
        </p:spPr>
      </p:cxnSp>
      <p:sp>
        <p:nvSpPr>
          <p:cNvPr id="269" name="Google Shape;269;p21"/>
          <p:cNvSpPr/>
          <p:nvPr/>
        </p:nvSpPr>
        <p:spPr>
          <a:xfrm>
            <a:off x="370332" y="2084832"/>
            <a:ext cx="877824"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Read in chunks</a:t>
            </a:r>
            <a:endParaRPr sz="900" b="0" i="0" u="none" strike="noStrike" cap="none">
              <a:solidFill>
                <a:schemeClr val="dk1"/>
              </a:solidFill>
              <a:latin typeface="Inter"/>
              <a:ea typeface="Inter"/>
              <a:cs typeface="Inter"/>
              <a:sym typeface="Inter"/>
            </a:endParaRPr>
          </a:p>
        </p:txBody>
      </p:sp>
      <p:sp>
        <p:nvSpPr>
          <p:cNvPr id="270" name="Google Shape;270;p21"/>
          <p:cNvSpPr/>
          <p:nvPr/>
        </p:nvSpPr>
        <p:spPr>
          <a:xfrm>
            <a:off x="336042" y="2519069"/>
            <a:ext cx="946500" cy="72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Process the large CSV without loading everything into memory.</a:t>
            </a:r>
            <a:endParaRPr sz="600" b="0" i="0" u="none" strike="noStrike" cap="none">
              <a:solidFill>
                <a:schemeClr val="dk1"/>
              </a:solidFill>
              <a:latin typeface="Inter"/>
              <a:ea typeface="Inter"/>
              <a:cs typeface="Inter"/>
              <a:sym typeface="Inter"/>
            </a:endParaRPr>
          </a:p>
        </p:txBody>
      </p:sp>
      <p:sp>
        <p:nvSpPr>
          <p:cNvPr id="271" name="Google Shape;271;p21"/>
          <p:cNvSpPr/>
          <p:nvPr/>
        </p:nvSpPr>
        <p:spPr>
          <a:xfrm>
            <a:off x="1906524" y="1385316"/>
            <a:ext cx="480060" cy="48006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72" name="Google Shape;272;p21"/>
          <p:cNvSpPr/>
          <p:nvPr/>
        </p:nvSpPr>
        <p:spPr>
          <a:xfrm>
            <a:off x="1906524" y="1561441"/>
            <a:ext cx="4800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Inter"/>
              <a:buNone/>
            </a:pPr>
            <a:r>
              <a:rPr lang="en" sz="700" b="1" i="0" u="none" strike="noStrike" cap="none">
                <a:solidFill>
                  <a:srgbClr val="FFFFFF"/>
                </a:solidFill>
                <a:latin typeface="Inter"/>
                <a:ea typeface="Inter"/>
                <a:cs typeface="Inter"/>
                <a:sym typeface="Inter"/>
              </a:rPr>
              <a:t>02</a:t>
            </a:r>
            <a:endParaRPr sz="700" b="0" i="0" u="none" strike="noStrike" cap="none">
              <a:solidFill>
                <a:schemeClr val="dk1"/>
              </a:solidFill>
              <a:latin typeface="Inter"/>
              <a:ea typeface="Inter"/>
              <a:cs typeface="Inter"/>
              <a:sym typeface="Inter"/>
            </a:endParaRPr>
          </a:p>
        </p:txBody>
      </p:sp>
      <p:cxnSp>
        <p:nvCxnSpPr>
          <p:cNvPr id="273" name="Google Shape;273;p21"/>
          <p:cNvCxnSpPr/>
          <p:nvPr/>
        </p:nvCxnSpPr>
        <p:spPr>
          <a:xfrm>
            <a:off x="2414016" y="1625346"/>
            <a:ext cx="809244" cy="0"/>
          </a:xfrm>
          <a:prstGeom prst="straightConnector1">
            <a:avLst/>
          </a:prstGeom>
          <a:noFill/>
          <a:ln w="19050" cap="flat" cmpd="sng">
            <a:solidFill>
              <a:srgbClr val="C7D7E0"/>
            </a:solidFill>
            <a:prstDash val="solid"/>
            <a:round/>
            <a:headEnd type="none" w="sm" len="sm"/>
            <a:tailEnd type="triangle" w="med" len="med"/>
          </a:ln>
        </p:spPr>
      </p:cxnSp>
      <p:sp>
        <p:nvSpPr>
          <p:cNvPr id="274" name="Google Shape;274;p21"/>
          <p:cNvSpPr/>
          <p:nvPr/>
        </p:nvSpPr>
        <p:spPr>
          <a:xfrm>
            <a:off x="1783080" y="2084832"/>
            <a:ext cx="877824"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Clean &amp; engineer</a:t>
            </a:r>
            <a:endParaRPr sz="900" b="0" i="0" u="none" strike="noStrike" cap="none">
              <a:solidFill>
                <a:schemeClr val="dk1"/>
              </a:solidFill>
              <a:latin typeface="Inter"/>
              <a:ea typeface="Inter"/>
              <a:cs typeface="Inter"/>
              <a:sym typeface="Inter"/>
            </a:endParaRPr>
          </a:p>
        </p:txBody>
      </p:sp>
      <p:sp>
        <p:nvSpPr>
          <p:cNvPr id="275" name="Google Shape;275;p21"/>
          <p:cNvSpPr/>
          <p:nvPr/>
        </p:nvSpPr>
        <p:spPr>
          <a:xfrm>
            <a:off x="1748790" y="2519069"/>
            <a:ext cx="946500" cy="72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Convert booleans, parse timestamps, and create hour/day features.</a:t>
            </a:r>
            <a:endParaRPr sz="600" b="0" i="0" u="none" strike="noStrike" cap="none">
              <a:solidFill>
                <a:schemeClr val="dk1"/>
              </a:solidFill>
              <a:latin typeface="Inter"/>
              <a:ea typeface="Inter"/>
              <a:cs typeface="Inter"/>
              <a:sym typeface="Inter"/>
            </a:endParaRPr>
          </a:p>
        </p:txBody>
      </p:sp>
      <p:sp>
        <p:nvSpPr>
          <p:cNvPr id="276" name="Google Shape;276;p21"/>
          <p:cNvSpPr/>
          <p:nvPr/>
        </p:nvSpPr>
        <p:spPr>
          <a:xfrm>
            <a:off x="3319272" y="1385316"/>
            <a:ext cx="480060" cy="480060"/>
          </a:xfrm>
          <a:prstGeom prst="ellipse">
            <a:avLst/>
          </a:prstGeom>
          <a:solidFill>
            <a:srgbClr val="FFB347"/>
          </a:solidFill>
          <a:ln w="127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77" name="Google Shape;277;p21"/>
          <p:cNvSpPr/>
          <p:nvPr/>
        </p:nvSpPr>
        <p:spPr>
          <a:xfrm>
            <a:off x="3319272" y="1561441"/>
            <a:ext cx="4800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Inter"/>
              <a:buNone/>
            </a:pPr>
            <a:r>
              <a:rPr lang="en" sz="700" b="1" i="0" u="none" strike="noStrike" cap="none">
                <a:solidFill>
                  <a:srgbClr val="FFFFFF"/>
                </a:solidFill>
                <a:latin typeface="Inter"/>
                <a:ea typeface="Inter"/>
                <a:cs typeface="Inter"/>
                <a:sym typeface="Inter"/>
              </a:rPr>
              <a:t>03</a:t>
            </a:r>
            <a:endParaRPr sz="700" b="0" i="0" u="none" strike="noStrike" cap="none">
              <a:solidFill>
                <a:schemeClr val="dk1"/>
              </a:solidFill>
              <a:latin typeface="Inter"/>
              <a:ea typeface="Inter"/>
              <a:cs typeface="Inter"/>
              <a:sym typeface="Inter"/>
            </a:endParaRPr>
          </a:p>
        </p:txBody>
      </p:sp>
      <p:cxnSp>
        <p:nvCxnSpPr>
          <p:cNvPr id="278" name="Google Shape;278;p21"/>
          <p:cNvCxnSpPr/>
          <p:nvPr/>
        </p:nvCxnSpPr>
        <p:spPr>
          <a:xfrm>
            <a:off x="3826764" y="1625346"/>
            <a:ext cx="809244" cy="0"/>
          </a:xfrm>
          <a:prstGeom prst="straightConnector1">
            <a:avLst/>
          </a:prstGeom>
          <a:noFill/>
          <a:ln w="19050" cap="flat" cmpd="sng">
            <a:solidFill>
              <a:srgbClr val="C7D7E0"/>
            </a:solidFill>
            <a:prstDash val="solid"/>
            <a:round/>
            <a:headEnd type="none" w="sm" len="sm"/>
            <a:tailEnd type="triangle" w="med" len="med"/>
          </a:ln>
        </p:spPr>
      </p:cxnSp>
      <p:sp>
        <p:nvSpPr>
          <p:cNvPr id="279" name="Google Shape;279;p21"/>
          <p:cNvSpPr/>
          <p:nvPr/>
        </p:nvSpPr>
        <p:spPr>
          <a:xfrm>
            <a:off x="3195828" y="2084832"/>
            <a:ext cx="877824"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Balance classes</a:t>
            </a:r>
            <a:endParaRPr sz="900" b="0" i="0" u="none" strike="noStrike" cap="none">
              <a:solidFill>
                <a:schemeClr val="dk1"/>
              </a:solidFill>
              <a:latin typeface="Inter"/>
              <a:ea typeface="Inter"/>
              <a:cs typeface="Inter"/>
              <a:sym typeface="Inter"/>
            </a:endParaRPr>
          </a:p>
        </p:txBody>
      </p:sp>
      <p:sp>
        <p:nvSpPr>
          <p:cNvPr id="280" name="Google Shape;280;p21"/>
          <p:cNvSpPr/>
          <p:nvPr/>
        </p:nvSpPr>
        <p:spPr>
          <a:xfrm>
            <a:off x="3161538" y="2519069"/>
            <a:ext cx="946500" cy="72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Collect attack examples and sample normal logins at a controlled ratio.</a:t>
            </a:r>
            <a:endParaRPr sz="600" b="0" i="0" u="none" strike="noStrike" cap="none">
              <a:solidFill>
                <a:schemeClr val="dk1"/>
              </a:solidFill>
              <a:latin typeface="Inter"/>
              <a:ea typeface="Inter"/>
              <a:cs typeface="Inter"/>
              <a:sym typeface="Inter"/>
            </a:endParaRPr>
          </a:p>
        </p:txBody>
      </p:sp>
      <p:sp>
        <p:nvSpPr>
          <p:cNvPr id="281" name="Google Shape;281;p21"/>
          <p:cNvSpPr/>
          <p:nvPr/>
        </p:nvSpPr>
        <p:spPr>
          <a:xfrm>
            <a:off x="4732020" y="1385316"/>
            <a:ext cx="480060" cy="480060"/>
          </a:xfrm>
          <a:prstGeom prst="ellipse">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2" name="Google Shape;282;p21"/>
          <p:cNvSpPr/>
          <p:nvPr/>
        </p:nvSpPr>
        <p:spPr>
          <a:xfrm>
            <a:off x="4732020" y="1561441"/>
            <a:ext cx="4800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Inter"/>
              <a:buNone/>
            </a:pPr>
            <a:r>
              <a:rPr lang="en" sz="700" b="1" i="0" u="none" strike="noStrike" cap="none">
                <a:solidFill>
                  <a:srgbClr val="FFFFFF"/>
                </a:solidFill>
                <a:latin typeface="Inter"/>
                <a:ea typeface="Inter"/>
                <a:cs typeface="Inter"/>
                <a:sym typeface="Inter"/>
              </a:rPr>
              <a:t>04</a:t>
            </a:r>
            <a:endParaRPr sz="700" b="0" i="0" u="none" strike="noStrike" cap="none">
              <a:solidFill>
                <a:schemeClr val="dk1"/>
              </a:solidFill>
              <a:latin typeface="Inter"/>
              <a:ea typeface="Inter"/>
              <a:cs typeface="Inter"/>
              <a:sym typeface="Inter"/>
            </a:endParaRPr>
          </a:p>
        </p:txBody>
      </p:sp>
      <p:cxnSp>
        <p:nvCxnSpPr>
          <p:cNvPr id="283" name="Google Shape;283;p21"/>
          <p:cNvCxnSpPr/>
          <p:nvPr/>
        </p:nvCxnSpPr>
        <p:spPr>
          <a:xfrm>
            <a:off x="5239512" y="1625346"/>
            <a:ext cx="809244" cy="0"/>
          </a:xfrm>
          <a:prstGeom prst="straightConnector1">
            <a:avLst/>
          </a:prstGeom>
          <a:noFill/>
          <a:ln w="19050" cap="flat" cmpd="sng">
            <a:solidFill>
              <a:srgbClr val="C7D7E0"/>
            </a:solidFill>
            <a:prstDash val="solid"/>
            <a:round/>
            <a:headEnd type="none" w="sm" len="sm"/>
            <a:tailEnd type="triangle" w="med" len="med"/>
          </a:ln>
        </p:spPr>
      </p:cxnSp>
      <p:sp>
        <p:nvSpPr>
          <p:cNvPr id="284" name="Google Shape;284;p21"/>
          <p:cNvSpPr/>
          <p:nvPr/>
        </p:nvSpPr>
        <p:spPr>
          <a:xfrm>
            <a:off x="4608576" y="2084832"/>
            <a:ext cx="877824"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Split data</a:t>
            </a:r>
            <a:endParaRPr sz="900" b="0" i="0" u="none" strike="noStrike" cap="none">
              <a:solidFill>
                <a:schemeClr val="dk1"/>
              </a:solidFill>
              <a:latin typeface="Inter"/>
              <a:ea typeface="Inter"/>
              <a:cs typeface="Inter"/>
              <a:sym typeface="Inter"/>
            </a:endParaRPr>
          </a:p>
        </p:txBody>
      </p:sp>
      <p:sp>
        <p:nvSpPr>
          <p:cNvPr id="285" name="Google Shape;285;p21"/>
          <p:cNvSpPr/>
          <p:nvPr/>
        </p:nvSpPr>
        <p:spPr>
          <a:xfrm>
            <a:off x="4574286" y="2519069"/>
            <a:ext cx="946500" cy="72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Create separate training, validation, and test sets.</a:t>
            </a:r>
            <a:endParaRPr sz="600" b="0" i="0" u="none" strike="noStrike" cap="none">
              <a:solidFill>
                <a:schemeClr val="dk1"/>
              </a:solidFill>
              <a:latin typeface="Inter"/>
              <a:ea typeface="Inter"/>
              <a:cs typeface="Inter"/>
              <a:sym typeface="Inter"/>
            </a:endParaRPr>
          </a:p>
        </p:txBody>
      </p:sp>
      <p:sp>
        <p:nvSpPr>
          <p:cNvPr id="286" name="Google Shape;286;p21"/>
          <p:cNvSpPr/>
          <p:nvPr/>
        </p:nvSpPr>
        <p:spPr>
          <a:xfrm>
            <a:off x="6144768" y="1385316"/>
            <a:ext cx="480060" cy="480060"/>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7" name="Google Shape;287;p21"/>
          <p:cNvSpPr/>
          <p:nvPr/>
        </p:nvSpPr>
        <p:spPr>
          <a:xfrm>
            <a:off x="6144768" y="1561441"/>
            <a:ext cx="4800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Inter"/>
              <a:buNone/>
            </a:pPr>
            <a:r>
              <a:rPr lang="en" sz="700" b="1" i="0" u="none" strike="noStrike" cap="none">
                <a:solidFill>
                  <a:srgbClr val="FFFFFF"/>
                </a:solidFill>
                <a:latin typeface="Inter"/>
                <a:ea typeface="Inter"/>
                <a:cs typeface="Inter"/>
                <a:sym typeface="Inter"/>
              </a:rPr>
              <a:t>05</a:t>
            </a:r>
            <a:endParaRPr sz="700" b="0" i="0" u="none" strike="noStrike" cap="none">
              <a:solidFill>
                <a:schemeClr val="dk1"/>
              </a:solidFill>
              <a:latin typeface="Inter"/>
              <a:ea typeface="Inter"/>
              <a:cs typeface="Inter"/>
              <a:sym typeface="Inter"/>
            </a:endParaRPr>
          </a:p>
        </p:txBody>
      </p:sp>
      <p:cxnSp>
        <p:nvCxnSpPr>
          <p:cNvPr id="288" name="Google Shape;288;p21"/>
          <p:cNvCxnSpPr/>
          <p:nvPr/>
        </p:nvCxnSpPr>
        <p:spPr>
          <a:xfrm>
            <a:off x="6652260" y="1625346"/>
            <a:ext cx="809244" cy="0"/>
          </a:xfrm>
          <a:prstGeom prst="straightConnector1">
            <a:avLst/>
          </a:prstGeom>
          <a:noFill/>
          <a:ln w="19050" cap="flat" cmpd="sng">
            <a:solidFill>
              <a:srgbClr val="C7D7E0"/>
            </a:solidFill>
            <a:prstDash val="solid"/>
            <a:round/>
            <a:headEnd type="none" w="sm" len="sm"/>
            <a:tailEnd type="triangle" w="med" len="med"/>
          </a:ln>
        </p:spPr>
      </p:cxnSp>
      <p:sp>
        <p:nvSpPr>
          <p:cNvPr id="289" name="Google Shape;289;p21"/>
          <p:cNvSpPr/>
          <p:nvPr/>
        </p:nvSpPr>
        <p:spPr>
          <a:xfrm>
            <a:off x="6021324" y="2084832"/>
            <a:ext cx="877824"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Train model</a:t>
            </a:r>
            <a:endParaRPr sz="900" b="0" i="0" u="none" strike="noStrike" cap="none">
              <a:solidFill>
                <a:schemeClr val="dk1"/>
              </a:solidFill>
              <a:latin typeface="Inter"/>
              <a:ea typeface="Inter"/>
              <a:cs typeface="Inter"/>
              <a:sym typeface="Inter"/>
            </a:endParaRPr>
          </a:p>
        </p:txBody>
      </p:sp>
      <p:sp>
        <p:nvSpPr>
          <p:cNvPr id="290" name="Google Shape;290;p21"/>
          <p:cNvSpPr/>
          <p:nvPr/>
        </p:nvSpPr>
        <p:spPr>
          <a:xfrm>
            <a:off x="5987034" y="2519069"/>
            <a:ext cx="946500" cy="72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Fit a Random Forest inside a preprocessing pipeline.</a:t>
            </a:r>
            <a:endParaRPr sz="600" b="0" i="0" u="none" strike="noStrike" cap="none">
              <a:solidFill>
                <a:schemeClr val="dk1"/>
              </a:solidFill>
              <a:latin typeface="Inter"/>
              <a:ea typeface="Inter"/>
              <a:cs typeface="Inter"/>
              <a:sym typeface="Inter"/>
            </a:endParaRPr>
          </a:p>
        </p:txBody>
      </p:sp>
      <p:sp>
        <p:nvSpPr>
          <p:cNvPr id="291" name="Google Shape;291;p21"/>
          <p:cNvSpPr/>
          <p:nvPr/>
        </p:nvSpPr>
        <p:spPr>
          <a:xfrm>
            <a:off x="7557516" y="1385316"/>
            <a:ext cx="480060" cy="480060"/>
          </a:xfrm>
          <a:prstGeom prst="ellipse">
            <a:avLst/>
          </a:prstGeom>
          <a:solidFill>
            <a:srgbClr val="2FCB84"/>
          </a:solidFill>
          <a:ln w="12700" cap="flat" cmpd="sng">
            <a:solidFill>
              <a:srgbClr val="2FCB8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2" name="Google Shape;292;p21"/>
          <p:cNvSpPr/>
          <p:nvPr/>
        </p:nvSpPr>
        <p:spPr>
          <a:xfrm>
            <a:off x="7557516" y="1561441"/>
            <a:ext cx="480000" cy="123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Inter"/>
              <a:buNone/>
            </a:pPr>
            <a:r>
              <a:rPr lang="en" sz="700" b="1" i="0" u="none" strike="noStrike" cap="none">
                <a:solidFill>
                  <a:srgbClr val="FFFFFF"/>
                </a:solidFill>
                <a:latin typeface="Inter"/>
                <a:ea typeface="Inter"/>
                <a:cs typeface="Inter"/>
                <a:sym typeface="Inter"/>
              </a:rPr>
              <a:t>06</a:t>
            </a:r>
            <a:endParaRPr sz="700" b="0" i="0" u="none" strike="noStrike" cap="none">
              <a:solidFill>
                <a:schemeClr val="dk1"/>
              </a:solidFill>
              <a:latin typeface="Inter"/>
              <a:ea typeface="Inter"/>
              <a:cs typeface="Inter"/>
              <a:sym typeface="Inter"/>
            </a:endParaRPr>
          </a:p>
        </p:txBody>
      </p:sp>
      <p:sp>
        <p:nvSpPr>
          <p:cNvPr id="293" name="Google Shape;293;p21"/>
          <p:cNvSpPr/>
          <p:nvPr/>
        </p:nvSpPr>
        <p:spPr>
          <a:xfrm>
            <a:off x="7434072" y="2084832"/>
            <a:ext cx="877824" cy="342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Tune &amp; save</a:t>
            </a:r>
            <a:endParaRPr sz="900" b="0" i="0" u="none" strike="noStrike" cap="none">
              <a:solidFill>
                <a:schemeClr val="dk1"/>
              </a:solidFill>
              <a:latin typeface="Inter"/>
              <a:ea typeface="Inter"/>
              <a:cs typeface="Inter"/>
              <a:sym typeface="Inter"/>
            </a:endParaRPr>
          </a:p>
        </p:txBody>
      </p:sp>
      <p:sp>
        <p:nvSpPr>
          <p:cNvPr id="294" name="Google Shape;294;p21"/>
          <p:cNvSpPr/>
          <p:nvPr/>
        </p:nvSpPr>
        <p:spPr>
          <a:xfrm>
            <a:off x="7399782" y="2519069"/>
            <a:ext cx="946500" cy="72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Choose the F1-optimal threshold and save the model with Joblib.</a:t>
            </a:r>
            <a:endParaRPr sz="600" b="0" i="0" u="none" strike="noStrike" cap="none">
              <a:solidFill>
                <a:schemeClr val="dk1"/>
              </a:solidFill>
              <a:latin typeface="Inter"/>
              <a:ea typeface="Inter"/>
              <a:cs typeface="Inter"/>
              <a:sym typeface="Inter"/>
            </a:endParaRPr>
          </a:p>
        </p:txBody>
      </p:sp>
      <p:sp>
        <p:nvSpPr>
          <p:cNvPr id="295" name="Google Shape;295;p21"/>
          <p:cNvSpPr/>
          <p:nvPr/>
        </p:nvSpPr>
        <p:spPr>
          <a:xfrm>
            <a:off x="740664" y="3634740"/>
            <a:ext cx="7646670" cy="630936"/>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6" name="Google Shape;296;p21"/>
          <p:cNvSpPr/>
          <p:nvPr/>
        </p:nvSpPr>
        <p:spPr>
          <a:xfrm>
            <a:off x="973836" y="3869573"/>
            <a:ext cx="891600" cy="150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Output files</a:t>
            </a:r>
            <a:endParaRPr sz="700" b="0" i="0" u="none" strike="noStrike" cap="none">
              <a:solidFill>
                <a:schemeClr val="dk1"/>
              </a:solidFill>
              <a:latin typeface="Inter"/>
              <a:ea typeface="Inter"/>
              <a:cs typeface="Inter"/>
              <a:sym typeface="Inter"/>
            </a:endParaRPr>
          </a:p>
        </p:txBody>
      </p:sp>
      <p:sp>
        <p:nvSpPr>
          <p:cNvPr id="297" name="Google Shape;297;p21"/>
          <p:cNvSpPr/>
          <p:nvPr/>
        </p:nvSpPr>
        <p:spPr>
          <a:xfrm>
            <a:off x="1885950" y="3828425"/>
            <a:ext cx="2674500" cy="1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Arial"/>
              <a:buNone/>
            </a:pPr>
            <a:r>
              <a:rPr lang="en" sz="800" b="0" i="0" u="none" strike="noStrike" cap="none">
                <a:solidFill>
                  <a:srgbClr val="FFFFFF"/>
                </a:solidFill>
                <a:latin typeface="Arial"/>
                <a:ea typeface="Arial"/>
                <a:cs typeface="Arial"/>
                <a:sym typeface="Arial"/>
              </a:rPr>
              <a:t>models/login_threat_model_balanced.joblib</a:t>
            </a:r>
            <a:endParaRPr sz="800" b="0" i="0" u="none" strike="noStrike" cap="none">
              <a:solidFill>
                <a:schemeClr val="dk1"/>
              </a:solidFill>
              <a:latin typeface="Inter"/>
              <a:ea typeface="Inter"/>
              <a:cs typeface="Inter"/>
              <a:sym typeface="Inter"/>
            </a:endParaRPr>
          </a:p>
        </p:txBody>
      </p:sp>
      <p:sp>
        <p:nvSpPr>
          <p:cNvPr id="298" name="Google Shape;298;p21"/>
          <p:cNvSpPr/>
          <p:nvPr/>
        </p:nvSpPr>
        <p:spPr>
          <a:xfrm>
            <a:off x="4800600" y="3828425"/>
            <a:ext cx="2640300" cy="1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Arial"/>
              <a:buNone/>
            </a:pPr>
            <a:r>
              <a:rPr lang="en" sz="800" b="0" i="0" u="none" strike="noStrike" cap="none">
                <a:solidFill>
                  <a:srgbClr val="FFFFFF"/>
                </a:solidFill>
                <a:latin typeface="Arial"/>
                <a:ea typeface="Arial"/>
                <a:cs typeface="Arial"/>
                <a:sym typeface="Arial"/>
              </a:rPr>
              <a:t>reports/balanced_evaluation_report.txt</a:t>
            </a:r>
            <a:endParaRPr sz="800" b="0" i="0" u="none" strike="noStrike" cap="none">
              <a:solidFill>
                <a:schemeClr val="dk1"/>
              </a:solidFill>
              <a:latin typeface="Inter"/>
              <a:ea typeface="Inter"/>
              <a:cs typeface="Inter"/>
              <a:sym typeface="Inter"/>
            </a:endParaRPr>
          </a:p>
        </p:txBody>
      </p:sp>
      <p:sp>
        <p:nvSpPr>
          <p:cNvPr id="299" name="Google Shape;299;p21"/>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6</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2"/>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Model design</a:t>
            </a:r>
            <a:endParaRPr sz="2100" b="0" i="0" u="none" strike="noStrike" cap="none">
              <a:solidFill>
                <a:schemeClr val="dk1"/>
              </a:solidFill>
              <a:latin typeface="Inter"/>
              <a:ea typeface="Inter"/>
              <a:cs typeface="Inter"/>
              <a:sym typeface="Inter"/>
            </a:endParaRPr>
          </a:p>
        </p:txBody>
      </p:sp>
      <p:sp>
        <p:nvSpPr>
          <p:cNvPr id="306" name="Google Shape;306;p22"/>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A Random Forest was chosen because it handles nonlinear relationships and mixed feature types well.</a:t>
            </a:r>
            <a:endParaRPr sz="900" b="0" i="0" u="none" strike="noStrike" cap="none">
              <a:solidFill>
                <a:schemeClr val="dk1"/>
              </a:solidFill>
              <a:latin typeface="Inter"/>
              <a:ea typeface="Inter"/>
              <a:cs typeface="Inter"/>
              <a:sym typeface="Inter"/>
            </a:endParaRPr>
          </a:p>
        </p:txBody>
      </p:sp>
      <p:sp>
        <p:nvSpPr>
          <p:cNvPr id="307" name="Google Shape;307;p22"/>
          <p:cNvSpPr/>
          <p:nvPr/>
        </p:nvSpPr>
        <p:spPr>
          <a:xfrm>
            <a:off x="493776" y="1207008"/>
            <a:ext cx="4539996" cy="3195828"/>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8" name="Google Shape;308;p22"/>
          <p:cNvSpPr/>
          <p:nvPr/>
        </p:nvSpPr>
        <p:spPr>
          <a:xfrm>
            <a:off x="739311" y="1520601"/>
            <a:ext cx="1783200" cy="150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Arial"/>
              <a:buNone/>
            </a:pPr>
            <a:r>
              <a:rPr lang="en" sz="700" b="1" i="0" u="none" strike="noStrike" cap="none">
                <a:solidFill>
                  <a:srgbClr val="22D3A6"/>
                </a:solidFill>
                <a:latin typeface="Arial"/>
                <a:ea typeface="Arial"/>
                <a:cs typeface="Arial"/>
                <a:sym typeface="Arial"/>
              </a:rPr>
              <a:t>train_model_balanced.py</a:t>
            </a:r>
            <a:endParaRPr sz="700" b="0" i="0" u="none" strike="noStrike" cap="none">
              <a:solidFill>
                <a:schemeClr val="dk1"/>
              </a:solidFill>
              <a:latin typeface="Inter"/>
              <a:ea typeface="Inter"/>
              <a:cs typeface="Inter"/>
              <a:sym typeface="Inter"/>
            </a:endParaRPr>
          </a:p>
        </p:txBody>
      </p:sp>
      <p:sp>
        <p:nvSpPr>
          <p:cNvPr id="309" name="Google Shape;309;p22"/>
          <p:cNvSpPr/>
          <p:nvPr/>
        </p:nvSpPr>
        <p:spPr>
          <a:xfrm>
            <a:off x="699516" y="1680210"/>
            <a:ext cx="4080510" cy="2345436"/>
          </a:xfrm>
          <a:prstGeom prst="rect">
            <a:avLst/>
          </a:prstGeom>
          <a:noFill/>
          <a:ln>
            <a:noFill/>
          </a:ln>
        </p:spPr>
        <p:txBody>
          <a:bodyPr spcFirstLastPara="1" wrap="square" lIns="575" tIns="575" rIns="575" bIns="575" anchor="ctr" anchorCtr="0">
            <a:noAutofit/>
          </a:bodyPr>
          <a:lstStyle/>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RandomForestClassifier(</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    n_estimators=250,</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    min_samples_leaf=2,</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    class_weight="balanced_subsample",</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    n_jobs=-1,</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    random_state=42</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chemeClr val="dk1"/>
              </a:buClr>
              <a:buSzPts val="900"/>
              <a:buFont typeface="Inter"/>
              <a:buNone/>
            </a:pP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 threshold selected on validation data</a:t>
            </a:r>
            <a:endParaRPr sz="900" b="0" i="0" u="none" strike="noStrike" cap="none">
              <a:solidFill>
                <a:schemeClr val="dk1"/>
              </a:solidFill>
              <a:latin typeface="Inter"/>
              <a:ea typeface="Inter"/>
              <a:cs typeface="Inter"/>
              <a:sym typeface="Inter"/>
            </a:endParaRPr>
          </a:p>
          <a:p>
            <a:pPr marL="0" marR="0" lvl="0" indent="0" algn="l" rtl="0">
              <a:spcBef>
                <a:spcPts val="0"/>
              </a:spcBef>
              <a:spcAft>
                <a:spcPts val="0"/>
              </a:spcAft>
              <a:buClr>
                <a:srgbClr val="E6F3F8"/>
              </a:buClr>
              <a:buSzPts val="900"/>
              <a:buFont typeface="Arial"/>
              <a:buNone/>
            </a:pPr>
            <a:r>
              <a:rPr lang="en" sz="900" b="0" i="0" u="none" strike="noStrike" cap="none">
                <a:solidFill>
                  <a:srgbClr val="E6F3F8"/>
                </a:solidFill>
                <a:latin typeface="Arial"/>
                <a:ea typeface="Arial"/>
                <a:cs typeface="Arial"/>
                <a:sym typeface="Arial"/>
              </a:rPr>
              <a:t>prediction = probability &gt;= best_threshold</a:t>
            </a:r>
            <a:endParaRPr sz="900" b="0" i="0" u="none" strike="noStrike" cap="none">
              <a:solidFill>
                <a:schemeClr val="dk1"/>
              </a:solidFill>
              <a:latin typeface="Inter"/>
              <a:ea typeface="Inter"/>
              <a:cs typeface="Inter"/>
              <a:sym typeface="Inter"/>
            </a:endParaRPr>
          </a:p>
        </p:txBody>
      </p:sp>
      <p:sp>
        <p:nvSpPr>
          <p:cNvPr id="310" name="Google Shape;310;p22"/>
          <p:cNvSpPr/>
          <p:nvPr/>
        </p:nvSpPr>
        <p:spPr>
          <a:xfrm>
            <a:off x="5294376" y="1303020"/>
            <a:ext cx="3182112" cy="576072"/>
          </a:xfrm>
          <a:prstGeom prst="roundRect">
            <a:avLst>
              <a:gd name="adj" fmla="val 16667"/>
            </a:avLst>
          </a:prstGeom>
          <a:solidFill>
            <a:srgbClr val="E5FAF4"/>
          </a:solidFill>
          <a:ln w="10150" cap="flat" cmpd="sng">
            <a:solidFill>
              <a:srgbClr val="E5FAF4"/>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1" name="Google Shape;311;p22"/>
          <p:cNvSpPr/>
          <p:nvPr/>
        </p:nvSpPr>
        <p:spPr>
          <a:xfrm>
            <a:off x="5472684" y="1440180"/>
            <a:ext cx="288036" cy="288036"/>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2" name="Google Shape;312;p22"/>
          <p:cNvSpPr/>
          <p:nvPr/>
        </p:nvSpPr>
        <p:spPr>
          <a:xfrm>
            <a:off x="5472684" y="1527981"/>
            <a:ext cx="288000" cy="116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a:t>
            </a:r>
            <a:endParaRPr sz="800" b="0" i="0" u="none" strike="noStrike" cap="none">
              <a:solidFill>
                <a:schemeClr val="dk1"/>
              </a:solidFill>
              <a:latin typeface="Inter"/>
              <a:ea typeface="Inter"/>
              <a:cs typeface="Inter"/>
              <a:sym typeface="Inter"/>
            </a:endParaRPr>
          </a:p>
        </p:txBody>
      </p:sp>
      <p:sp>
        <p:nvSpPr>
          <p:cNvPr id="313" name="Google Shape;313;p22"/>
          <p:cNvSpPr/>
          <p:nvPr/>
        </p:nvSpPr>
        <p:spPr>
          <a:xfrm>
            <a:off x="5884164" y="1405890"/>
            <a:ext cx="231800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250 decision trees</a:t>
            </a:r>
            <a:endParaRPr sz="800" b="0" i="0" u="none" strike="noStrike" cap="none">
              <a:solidFill>
                <a:schemeClr val="dk1"/>
              </a:solidFill>
              <a:latin typeface="Inter"/>
              <a:ea typeface="Inter"/>
              <a:cs typeface="Inter"/>
              <a:sym typeface="Inter"/>
            </a:endParaRPr>
          </a:p>
        </p:txBody>
      </p:sp>
      <p:sp>
        <p:nvSpPr>
          <p:cNvPr id="314" name="Google Shape;314;p22"/>
          <p:cNvSpPr/>
          <p:nvPr/>
        </p:nvSpPr>
        <p:spPr>
          <a:xfrm>
            <a:off x="5884164" y="1597914"/>
            <a:ext cx="234543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Reduces dependence on any single tree.</a:t>
            </a:r>
            <a:endParaRPr sz="600" b="0" i="0" u="none" strike="noStrike" cap="none">
              <a:solidFill>
                <a:schemeClr val="dk1"/>
              </a:solidFill>
              <a:latin typeface="Inter"/>
              <a:ea typeface="Inter"/>
              <a:cs typeface="Inter"/>
              <a:sym typeface="Inter"/>
            </a:endParaRPr>
          </a:p>
        </p:txBody>
      </p:sp>
      <p:sp>
        <p:nvSpPr>
          <p:cNvPr id="315" name="Google Shape;315;p22"/>
          <p:cNvSpPr/>
          <p:nvPr/>
        </p:nvSpPr>
        <p:spPr>
          <a:xfrm>
            <a:off x="5294376" y="2091690"/>
            <a:ext cx="3182112" cy="576072"/>
          </a:xfrm>
          <a:prstGeom prst="roundRect">
            <a:avLst>
              <a:gd name="adj" fmla="val 16667"/>
            </a:avLst>
          </a:prstGeom>
          <a:solidFill>
            <a:srgbClr val="EAF2FF"/>
          </a:solidFill>
          <a:ln w="10150" cap="flat" cmpd="sng">
            <a:solidFill>
              <a:srgbClr val="EAF2FF"/>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6" name="Google Shape;316;p22"/>
          <p:cNvSpPr/>
          <p:nvPr/>
        </p:nvSpPr>
        <p:spPr>
          <a:xfrm>
            <a:off x="5472684" y="2228850"/>
            <a:ext cx="288036" cy="288036"/>
          </a:xfrm>
          <a:prstGeom prst="ellipse">
            <a:avLst/>
          </a:prstGeom>
          <a:solidFill>
            <a:srgbClr val="3A86FF"/>
          </a:solidFill>
          <a:ln w="127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7" name="Google Shape;317;p22"/>
          <p:cNvSpPr/>
          <p:nvPr/>
        </p:nvSpPr>
        <p:spPr>
          <a:xfrm>
            <a:off x="5472684" y="2316651"/>
            <a:ext cx="288000" cy="116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a:t>
            </a:r>
            <a:endParaRPr sz="800" b="0" i="0" u="none" strike="noStrike" cap="none">
              <a:solidFill>
                <a:schemeClr val="dk1"/>
              </a:solidFill>
              <a:latin typeface="Inter"/>
              <a:ea typeface="Inter"/>
              <a:cs typeface="Inter"/>
              <a:sym typeface="Inter"/>
            </a:endParaRPr>
          </a:p>
        </p:txBody>
      </p:sp>
      <p:sp>
        <p:nvSpPr>
          <p:cNvPr id="318" name="Google Shape;318;p22"/>
          <p:cNvSpPr/>
          <p:nvPr/>
        </p:nvSpPr>
        <p:spPr>
          <a:xfrm>
            <a:off x="5884164" y="2194560"/>
            <a:ext cx="231800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Balanced class weights</a:t>
            </a:r>
            <a:endParaRPr sz="800" b="0" i="0" u="none" strike="noStrike" cap="none">
              <a:solidFill>
                <a:schemeClr val="dk1"/>
              </a:solidFill>
              <a:latin typeface="Inter"/>
              <a:ea typeface="Inter"/>
              <a:cs typeface="Inter"/>
              <a:sym typeface="Inter"/>
            </a:endParaRPr>
          </a:p>
        </p:txBody>
      </p:sp>
      <p:sp>
        <p:nvSpPr>
          <p:cNvPr id="319" name="Google Shape;319;p22"/>
          <p:cNvSpPr/>
          <p:nvPr/>
        </p:nvSpPr>
        <p:spPr>
          <a:xfrm>
            <a:off x="5884164" y="2386584"/>
            <a:ext cx="234543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Gives the attack class more influence during training.</a:t>
            </a:r>
            <a:endParaRPr sz="600" b="0" i="0" u="none" strike="noStrike" cap="none">
              <a:solidFill>
                <a:schemeClr val="dk1"/>
              </a:solidFill>
              <a:latin typeface="Inter"/>
              <a:ea typeface="Inter"/>
              <a:cs typeface="Inter"/>
              <a:sym typeface="Inter"/>
            </a:endParaRPr>
          </a:p>
        </p:txBody>
      </p:sp>
      <p:sp>
        <p:nvSpPr>
          <p:cNvPr id="320" name="Google Shape;320;p22"/>
          <p:cNvSpPr/>
          <p:nvPr/>
        </p:nvSpPr>
        <p:spPr>
          <a:xfrm>
            <a:off x="5294376" y="2880360"/>
            <a:ext cx="3182112" cy="576072"/>
          </a:xfrm>
          <a:prstGeom prst="roundRect">
            <a:avLst>
              <a:gd name="adj" fmla="val 16667"/>
            </a:avLst>
          </a:prstGeom>
          <a:solidFill>
            <a:srgbClr val="FFF6E8"/>
          </a:solidFill>
          <a:ln w="10150" cap="flat" cmpd="sng">
            <a:solidFill>
              <a:srgbClr val="FFF6E8"/>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1" name="Google Shape;321;p22"/>
          <p:cNvSpPr/>
          <p:nvPr/>
        </p:nvSpPr>
        <p:spPr>
          <a:xfrm>
            <a:off x="5472684" y="3017520"/>
            <a:ext cx="288036" cy="288036"/>
          </a:xfrm>
          <a:prstGeom prst="ellipse">
            <a:avLst/>
          </a:prstGeom>
          <a:solidFill>
            <a:srgbClr val="FFB347"/>
          </a:solidFill>
          <a:ln w="127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2" name="Google Shape;322;p22"/>
          <p:cNvSpPr/>
          <p:nvPr/>
        </p:nvSpPr>
        <p:spPr>
          <a:xfrm>
            <a:off x="5472684" y="3105321"/>
            <a:ext cx="288000" cy="116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a:t>
            </a:r>
            <a:endParaRPr sz="800" b="0" i="0" u="none" strike="noStrike" cap="none">
              <a:solidFill>
                <a:schemeClr val="dk1"/>
              </a:solidFill>
              <a:latin typeface="Inter"/>
              <a:ea typeface="Inter"/>
              <a:cs typeface="Inter"/>
              <a:sym typeface="Inter"/>
            </a:endParaRPr>
          </a:p>
        </p:txBody>
      </p:sp>
      <p:sp>
        <p:nvSpPr>
          <p:cNvPr id="323" name="Google Shape;323;p22"/>
          <p:cNvSpPr/>
          <p:nvPr/>
        </p:nvSpPr>
        <p:spPr>
          <a:xfrm>
            <a:off x="5884164" y="2983230"/>
            <a:ext cx="231800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60 / 20 / 20 split</a:t>
            </a:r>
            <a:endParaRPr sz="800" b="0" i="0" u="none" strike="noStrike" cap="none">
              <a:solidFill>
                <a:schemeClr val="dk1"/>
              </a:solidFill>
              <a:latin typeface="Inter"/>
              <a:ea typeface="Inter"/>
              <a:cs typeface="Inter"/>
              <a:sym typeface="Inter"/>
            </a:endParaRPr>
          </a:p>
        </p:txBody>
      </p:sp>
      <p:sp>
        <p:nvSpPr>
          <p:cNvPr id="324" name="Google Shape;324;p22"/>
          <p:cNvSpPr/>
          <p:nvPr/>
        </p:nvSpPr>
        <p:spPr>
          <a:xfrm>
            <a:off x="5884164" y="3175254"/>
            <a:ext cx="234543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Separate train, validation, and test data.</a:t>
            </a:r>
            <a:endParaRPr sz="600" b="0" i="0" u="none" strike="noStrike" cap="none">
              <a:solidFill>
                <a:schemeClr val="dk1"/>
              </a:solidFill>
              <a:latin typeface="Inter"/>
              <a:ea typeface="Inter"/>
              <a:cs typeface="Inter"/>
              <a:sym typeface="Inter"/>
            </a:endParaRPr>
          </a:p>
        </p:txBody>
      </p:sp>
      <p:sp>
        <p:nvSpPr>
          <p:cNvPr id="325" name="Google Shape;325;p22"/>
          <p:cNvSpPr/>
          <p:nvPr/>
        </p:nvSpPr>
        <p:spPr>
          <a:xfrm>
            <a:off x="5294376" y="3669030"/>
            <a:ext cx="3182112" cy="576072"/>
          </a:xfrm>
          <a:prstGeom prst="roundRect">
            <a:avLst>
              <a:gd name="adj" fmla="val 16667"/>
            </a:avLst>
          </a:prstGeom>
          <a:solidFill>
            <a:srgbClr val="FFF0F0"/>
          </a:solidFill>
          <a:ln w="10150" cap="flat" cmpd="sng">
            <a:solidFill>
              <a:srgbClr val="FFF0F0"/>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6" name="Google Shape;326;p22"/>
          <p:cNvSpPr/>
          <p:nvPr/>
        </p:nvSpPr>
        <p:spPr>
          <a:xfrm>
            <a:off x="5472684" y="3806190"/>
            <a:ext cx="288036" cy="288036"/>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7" name="Google Shape;327;p22"/>
          <p:cNvSpPr/>
          <p:nvPr/>
        </p:nvSpPr>
        <p:spPr>
          <a:xfrm>
            <a:off x="5472684" y="3893991"/>
            <a:ext cx="288000" cy="116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a:t>
            </a:r>
            <a:endParaRPr sz="800" b="0" i="0" u="none" strike="noStrike" cap="none">
              <a:solidFill>
                <a:schemeClr val="dk1"/>
              </a:solidFill>
              <a:latin typeface="Inter"/>
              <a:ea typeface="Inter"/>
              <a:cs typeface="Inter"/>
              <a:sym typeface="Inter"/>
            </a:endParaRPr>
          </a:p>
        </p:txBody>
      </p:sp>
      <p:sp>
        <p:nvSpPr>
          <p:cNvPr id="328" name="Google Shape;328;p22"/>
          <p:cNvSpPr/>
          <p:nvPr/>
        </p:nvSpPr>
        <p:spPr>
          <a:xfrm>
            <a:off x="5884164" y="3771900"/>
            <a:ext cx="231800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Threshold tuning</a:t>
            </a:r>
            <a:endParaRPr sz="800" b="0" i="0" u="none" strike="noStrike" cap="none">
              <a:solidFill>
                <a:schemeClr val="dk1"/>
              </a:solidFill>
              <a:latin typeface="Inter"/>
              <a:ea typeface="Inter"/>
              <a:cs typeface="Inter"/>
              <a:sym typeface="Inter"/>
            </a:endParaRPr>
          </a:p>
        </p:txBody>
      </p:sp>
      <p:sp>
        <p:nvSpPr>
          <p:cNvPr id="329" name="Google Shape;329;p22"/>
          <p:cNvSpPr/>
          <p:nvPr/>
        </p:nvSpPr>
        <p:spPr>
          <a:xfrm>
            <a:off x="5884164" y="3963924"/>
            <a:ext cx="2345436" cy="137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Uses validation F1 instead of assuming 0.50.</a:t>
            </a:r>
            <a:endParaRPr sz="600" b="0" i="0" u="none" strike="noStrike" cap="none">
              <a:solidFill>
                <a:schemeClr val="dk1"/>
              </a:solidFill>
              <a:latin typeface="Inter"/>
              <a:ea typeface="Inter"/>
              <a:cs typeface="Inter"/>
              <a:sym typeface="Inter"/>
            </a:endParaRPr>
          </a:p>
        </p:txBody>
      </p:sp>
      <p:sp>
        <p:nvSpPr>
          <p:cNvPr id="330" name="Google Shape;330;p22"/>
          <p:cNvSpPr/>
          <p:nvPr/>
        </p:nvSpPr>
        <p:spPr>
          <a:xfrm>
            <a:off x="493776" y="4656582"/>
            <a:ext cx="8092440" cy="123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95A3"/>
              </a:buClr>
              <a:buSzPts val="500"/>
              <a:buFont typeface="Inter"/>
              <a:buNone/>
            </a:pPr>
            <a:r>
              <a:rPr lang="en" sz="500" b="0" i="1" u="none" strike="noStrike" cap="none">
                <a:solidFill>
                  <a:srgbClr val="8595A3"/>
                </a:solidFill>
                <a:latin typeface="Inter"/>
                <a:ea typeface="Inter"/>
                <a:cs typeface="Inter"/>
                <a:sym typeface="Inter"/>
              </a:rPr>
              <a:t>Reference: scikit-learn RandomForestClassifier documentation. Project implementation used the parameters shown above.</a:t>
            </a:r>
            <a:endParaRPr sz="500" b="0" i="0" u="none" strike="noStrike" cap="none">
              <a:solidFill>
                <a:schemeClr val="dk1"/>
              </a:solidFill>
              <a:latin typeface="Inter"/>
              <a:ea typeface="Inter"/>
              <a:cs typeface="Inter"/>
              <a:sym typeface="Inter"/>
            </a:endParaRPr>
          </a:p>
        </p:txBody>
      </p:sp>
      <p:sp>
        <p:nvSpPr>
          <p:cNvPr id="331" name="Google Shape;331;p22"/>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7</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3"/>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Model performance</a:t>
            </a:r>
            <a:endParaRPr sz="2100" b="0" i="0" u="none" strike="noStrike" cap="none">
              <a:solidFill>
                <a:schemeClr val="dk1"/>
              </a:solidFill>
              <a:latin typeface="Inter"/>
              <a:ea typeface="Inter"/>
              <a:cs typeface="Inter"/>
              <a:sym typeface="Inter"/>
            </a:endParaRPr>
          </a:p>
        </p:txBody>
      </p:sp>
      <p:sp>
        <p:nvSpPr>
          <p:cNvPr id="338" name="Google Shape;338;p23"/>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Results from the balanced test set after scanning the first 1,000,000 rows.</a:t>
            </a:r>
            <a:endParaRPr sz="900" b="0" i="0" u="none" strike="noStrike" cap="none">
              <a:solidFill>
                <a:schemeClr val="dk1"/>
              </a:solidFill>
              <a:latin typeface="Inter"/>
              <a:ea typeface="Inter"/>
              <a:cs typeface="Inter"/>
              <a:sym typeface="Inter"/>
            </a:endParaRPr>
          </a:p>
        </p:txBody>
      </p:sp>
      <p:sp>
        <p:nvSpPr>
          <p:cNvPr id="339" name="Google Shape;339;p23"/>
          <p:cNvSpPr/>
          <p:nvPr/>
        </p:nvSpPr>
        <p:spPr>
          <a:xfrm>
            <a:off x="493776" y="1179576"/>
            <a:ext cx="2811780" cy="3188970"/>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0" name="Google Shape;340;p23"/>
          <p:cNvSpPr/>
          <p:nvPr/>
        </p:nvSpPr>
        <p:spPr>
          <a:xfrm>
            <a:off x="733806" y="1405890"/>
            <a:ext cx="229743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PRIMARY SECURITY METRIC</a:t>
            </a:r>
            <a:endParaRPr sz="700" b="0" i="0" u="none" strike="noStrike" cap="none">
              <a:solidFill>
                <a:schemeClr val="dk1"/>
              </a:solidFill>
              <a:latin typeface="Inter"/>
              <a:ea typeface="Inter"/>
              <a:cs typeface="Inter"/>
              <a:sym typeface="Inter"/>
            </a:endParaRPr>
          </a:p>
        </p:txBody>
      </p:sp>
      <p:sp>
        <p:nvSpPr>
          <p:cNvPr id="341" name="Google Shape;341;p23"/>
          <p:cNvSpPr/>
          <p:nvPr/>
        </p:nvSpPr>
        <p:spPr>
          <a:xfrm>
            <a:off x="939546" y="1769364"/>
            <a:ext cx="1920240" cy="1920240"/>
          </a:xfrm>
          <a:prstGeom prst="ellipse">
            <a:avLst/>
          </a:prstGeom>
          <a:solidFill>
            <a:srgbClr val="113A4C"/>
          </a:solidFill>
          <a:ln w="13950" cap="flat" cmpd="sng">
            <a:solidFill>
              <a:srgbClr val="1A516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2" name="Google Shape;342;p23"/>
          <p:cNvSpPr/>
          <p:nvPr/>
        </p:nvSpPr>
        <p:spPr>
          <a:xfrm>
            <a:off x="1179576" y="2009394"/>
            <a:ext cx="1440180" cy="1440180"/>
          </a:xfrm>
          <a:prstGeom prst="ellipse">
            <a:avLst/>
          </a:prstGeom>
          <a:solidFill>
            <a:srgbClr val="071B2A"/>
          </a:solidFill>
          <a:ln w="889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3" name="Google Shape;343;p23"/>
          <p:cNvSpPr/>
          <p:nvPr/>
        </p:nvSpPr>
        <p:spPr>
          <a:xfrm>
            <a:off x="1248156" y="2489454"/>
            <a:ext cx="13030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000"/>
              <a:buFont typeface="Inter"/>
              <a:buNone/>
            </a:pPr>
            <a:r>
              <a:rPr lang="en" sz="2000" b="1" i="0" u="none" strike="noStrike" cap="none">
                <a:solidFill>
                  <a:srgbClr val="FFFFFF"/>
                </a:solidFill>
                <a:latin typeface="Inter"/>
                <a:ea typeface="Inter"/>
                <a:cs typeface="Inter"/>
                <a:sym typeface="Inter"/>
              </a:rPr>
              <a:t>87.33%</a:t>
            </a:r>
            <a:endParaRPr sz="2000" b="0" i="0" u="none" strike="noStrike" cap="none">
              <a:solidFill>
                <a:schemeClr val="dk1"/>
              </a:solidFill>
              <a:latin typeface="Inter"/>
              <a:ea typeface="Inter"/>
              <a:cs typeface="Inter"/>
              <a:sym typeface="Inter"/>
            </a:endParaRPr>
          </a:p>
        </p:txBody>
      </p:sp>
      <p:sp>
        <p:nvSpPr>
          <p:cNvPr id="344" name="Google Shape;344;p23"/>
          <p:cNvSpPr/>
          <p:nvPr/>
        </p:nvSpPr>
        <p:spPr>
          <a:xfrm>
            <a:off x="1357884" y="2825496"/>
            <a:ext cx="106299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RECALL</a:t>
            </a:r>
            <a:endParaRPr sz="700" b="0" i="0" u="none" strike="noStrike" cap="none">
              <a:solidFill>
                <a:schemeClr val="dk1"/>
              </a:solidFill>
              <a:latin typeface="Inter"/>
              <a:ea typeface="Inter"/>
              <a:cs typeface="Inter"/>
              <a:sym typeface="Inter"/>
            </a:endParaRPr>
          </a:p>
        </p:txBody>
      </p:sp>
      <p:sp>
        <p:nvSpPr>
          <p:cNvPr id="345" name="Google Shape;345;p23"/>
          <p:cNvSpPr/>
          <p:nvPr/>
        </p:nvSpPr>
        <p:spPr>
          <a:xfrm>
            <a:off x="754380" y="3840480"/>
            <a:ext cx="2276856" cy="3566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DCE5"/>
              </a:buClr>
              <a:buSzPts val="800"/>
              <a:buFont typeface="Inter"/>
              <a:buNone/>
            </a:pPr>
            <a:r>
              <a:rPr lang="en" sz="800" b="0" i="0" u="none" strike="noStrike" cap="none">
                <a:solidFill>
                  <a:srgbClr val="C8DCE5"/>
                </a:solidFill>
                <a:latin typeface="Inter"/>
                <a:ea typeface="Inter"/>
                <a:cs typeface="Inter"/>
                <a:sym typeface="Inter"/>
              </a:rPr>
              <a:t>The model detected nearly 9 out of every 10 attack-IP logins in the test set.</a:t>
            </a:r>
            <a:endParaRPr sz="800" b="0" i="0" u="none" strike="noStrike" cap="none">
              <a:solidFill>
                <a:schemeClr val="dk1"/>
              </a:solidFill>
              <a:latin typeface="Inter"/>
              <a:ea typeface="Inter"/>
              <a:cs typeface="Inter"/>
              <a:sym typeface="Inter"/>
            </a:endParaRPr>
          </a:p>
        </p:txBody>
      </p:sp>
      <p:sp>
        <p:nvSpPr>
          <p:cNvPr id="346" name="Google Shape;346;p23"/>
          <p:cNvSpPr/>
          <p:nvPr/>
        </p:nvSpPr>
        <p:spPr>
          <a:xfrm>
            <a:off x="3552444" y="1179576"/>
            <a:ext cx="1536192" cy="932688"/>
          </a:xfrm>
          <a:prstGeom prst="roundRect">
            <a:avLst>
              <a:gd name="adj" fmla="val 882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7" name="Google Shape;347;p23"/>
          <p:cNvSpPr/>
          <p:nvPr/>
        </p:nvSpPr>
        <p:spPr>
          <a:xfrm>
            <a:off x="3552444" y="1179576"/>
            <a:ext cx="54864" cy="932688"/>
          </a:xfrm>
          <a:prstGeom prst="rect">
            <a:avLst/>
          </a:prstGeom>
          <a:solidFill>
            <a:srgbClr val="3A86FF"/>
          </a:solidFill>
          <a:ln w="127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8" name="Google Shape;348;p23"/>
          <p:cNvSpPr/>
          <p:nvPr/>
        </p:nvSpPr>
        <p:spPr>
          <a:xfrm>
            <a:off x="3723894" y="1303020"/>
            <a:ext cx="1261872"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ACCURACY</a:t>
            </a:r>
            <a:endParaRPr sz="600" b="0" i="0" u="none" strike="noStrike" cap="none">
              <a:solidFill>
                <a:schemeClr val="dk1"/>
              </a:solidFill>
              <a:latin typeface="Inter"/>
              <a:ea typeface="Inter"/>
              <a:cs typeface="Inter"/>
              <a:sym typeface="Inter"/>
            </a:endParaRPr>
          </a:p>
        </p:txBody>
      </p:sp>
      <p:sp>
        <p:nvSpPr>
          <p:cNvPr id="349" name="Google Shape;349;p23"/>
          <p:cNvSpPr/>
          <p:nvPr/>
        </p:nvSpPr>
        <p:spPr>
          <a:xfrm>
            <a:off x="3723894" y="1508760"/>
            <a:ext cx="1261872"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86FF"/>
              </a:buClr>
              <a:buSzPts val="1700"/>
              <a:buFont typeface="Inter"/>
              <a:buNone/>
            </a:pPr>
            <a:r>
              <a:rPr lang="en" sz="1700" b="1" i="0" u="none" strike="noStrike" cap="none">
                <a:solidFill>
                  <a:srgbClr val="3A86FF"/>
                </a:solidFill>
                <a:latin typeface="Inter"/>
                <a:ea typeface="Inter"/>
                <a:cs typeface="Inter"/>
                <a:sym typeface="Inter"/>
              </a:rPr>
              <a:t>85.58%</a:t>
            </a:r>
            <a:endParaRPr sz="1700" b="0" i="0" u="none" strike="noStrike" cap="none">
              <a:solidFill>
                <a:schemeClr val="dk1"/>
              </a:solidFill>
              <a:latin typeface="Inter"/>
              <a:ea typeface="Inter"/>
              <a:cs typeface="Inter"/>
              <a:sym typeface="Inter"/>
            </a:endParaRPr>
          </a:p>
        </p:txBody>
      </p:sp>
      <p:sp>
        <p:nvSpPr>
          <p:cNvPr id="350" name="Google Shape;350;p23"/>
          <p:cNvSpPr/>
          <p:nvPr/>
        </p:nvSpPr>
        <p:spPr>
          <a:xfrm>
            <a:off x="5253228" y="1179576"/>
            <a:ext cx="1536192" cy="932688"/>
          </a:xfrm>
          <a:prstGeom prst="roundRect">
            <a:avLst>
              <a:gd name="adj" fmla="val 882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1" name="Google Shape;351;p23"/>
          <p:cNvSpPr/>
          <p:nvPr/>
        </p:nvSpPr>
        <p:spPr>
          <a:xfrm>
            <a:off x="5253228" y="1179576"/>
            <a:ext cx="54864" cy="932688"/>
          </a:xfrm>
          <a:prstGeom prst="rect">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2" name="Google Shape;352;p23"/>
          <p:cNvSpPr/>
          <p:nvPr/>
        </p:nvSpPr>
        <p:spPr>
          <a:xfrm>
            <a:off x="5424678" y="1303020"/>
            <a:ext cx="1261872"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PRECISION</a:t>
            </a:r>
            <a:endParaRPr sz="600" b="0" i="0" u="none" strike="noStrike" cap="none">
              <a:solidFill>
                <a:schemeClr val="dk1"/>
              </a:solidFill>
              <a:latin typeface="Inter"/>
              <a:ea typeface="Inter"/>
              <a:cs typeface="Inter"/>
              <a:sym typeface="Inter"/>
            </a:endParaRPr>
          </a:p>
        </p:txBody>
      </p:sp>
      <p:sp>
        <p:nvSpPr>
          <p:cNvPr id="353" name="Google Shape;353;p23"/>
          <p:cNvSpPr/>
          <p:nvPr/>
        </p:nvSpPr>
        <p:spPr>
          <a:xfrm>
            <a:off x="5424678" y="1508760"/>
            <a:ext cx="1261872"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6B6B"/>
              </a:buClr>
              <a:buSzPts val="1700"/>
              <a:buFont typeface="Inter"/>
              <a:buNone/>
            </a:pPr>
            <a:r>
              <a:rPr lang="en" sz="1700" b="1" i="0" u="none" strike="noStrike" cap="none">
                <a:solidFill>
                  <a:srgbClr val="FF6B6B"/>
                </a:solidFill>
                <a:latin typeface="Inter"/>
                <a:ea typeface="Inter"/>
                <a:cs typeface="Inter"/>
                <a:sym typeface="Inter"/>
              </a:rPr>
              <a:t>54.18%</a:t>
            </a:r>
            <a:endParaRPr sz="1700" b="0" i="0" u="none" strike="noStrike" cap="none">
              <a:solidFill>
                <a:schemeClr val="dk1"/>
              </a:solidFill>
              <a:latin typeface="Inter"/>
              <a:ea typeface="Inter"/>
              <a:cs typeface="Inter"/>
              <a:sym typeface="Inter"/>
            </a:endParaRPr>
          </a:p>
        </p:txBody>
      </p:sp>
      <p:sp>
        <p:nvSpPr>
          <p:cNvPr id="354" name="Google Shape;354;p23"/>
          <p:cNvSpPr/>
          <p:nvPr/>
        </p:nvSpPr>
        <p:spPr>
          <a:xfrm>
            <a:off x="6954012" y="1179576"/>
            <a:ext cx="1536192" cy="932688"/>
          </a:xfrm>
          <a:prstGeom prst="roundRect">
            <a:avLst>
              <a:gd name="adj" fmla="val 882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5" name="Google Shape;355;p23"/>
          <p:cNvSpPr/>
          <p:nvPr/>
        </p:nvSpPr>
        <p:spPr>
          <a:xfrm>
            <a:off x="6954012" y="1179576"/>
            <a:ext cx="54864" cy="932688"/>
          </a:xfrm>
          <a:prstGeom prst="rect">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6" name="Google Shape;356;p23"/>
          <p:cNvSpPr/>
          <p:nvPr/>
        </p:nvSpPr>
        <p:spPr>
          <a:xfrm>
            <a:off x="7125462" y="1303020"/>
            <a:ext cx="1261872"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F1-SCORE</a:t>
            </a:r>
            <a:endParaRPr sz="600" b="0" i="0" u="none" strike="noStrike" cap="none">
              <a:solidFill>
                <a:schemeClr val="dk1"/>
              </a:solidFill>
              <a:latin typeface="Inter"/>
              <a:ea typeface="Inter"/>
              <a:cs typeface="Inter"/>
              <a:sym typeface="Inter"/>
            </a:endParaRPr>
          </a:p>
        </p:txBody>
      </p:sp>
      <p:sp>
        <p:nvSpPr>
          <p:cNvPr id="357" name="Google Shape;357;p23"/>
          <p:cNvSpPr/>
          <p:nvPr/>
        </p:nvSpPr>
        <p:spPr>
          <a:xfrm>
            <a:off x="7125462" y="1508760"/>
            <a:ext cx="1261872"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1700"/>
              <a:buFont typeface="Inter"/>
              <a:buNone/>
            </a:pPr>
            <a:r>
              <a:rPr lang="en" sz="1700" b="1" i="0" u="none" strike="noStrike" cap="none">
                <a:solidFill>
                  <a:srgbClr val="22D3A6"/>
                </a:solidFill>
                <a:latin typeface="Inter"/>
                <a:ea typeface="Inter"/>
                <a:cs typeface="Inter"/>
                <a:sym typeface="Inter"/>
              </a:rPr>
              <a:t>66.87%</a:t>
            </a:r>
            <a:endParaRPr sz="1700" b="0" i="0" u="none" strike="noStrike" cap="none">
              <a:solidFill>
                <a:schemeClr val="dk1"/>
              </a:solidFill>
              <a:latin typeface="Inter"/>
              <a:ea typeface="Inter"/>
              <a:cs typeface="Inter"/>
              <a:sym typeface="Inter"/>
            </a:endParaRPr>
          </a:p>
        </p:txBody>
      </p:sp>
      <p:sp>
        <p:nvSpPr>
          <p:cNvPr id="358" name="Google Shape;358;p23"/>
          <p:cNvSpPr/>
          <p:nvPr/>
        </p:nvSpPr>
        <p:spPr>
          <a:xfrm>
            <a:off x="3552444" y="2304288"/>
            <a:ext cx="1536192" cy="932688"/>
          </a:xfrm>
          <a:prstGeom prst="roundRect">
            <a:avLst>
              <a:gd name="adj" fmla="val 882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59" name="Google Shape;359;p23"/>
          <p:cNvSpPr/>
          <p:nvPr/>
        </p:nvSpPr>
        <p:spPr>
          <a:xfrm>
            <a:off x="3552444" y="2304288"/>
            <a:ext cx="54864" cy="932688"/>
          </a:xfrm>
          <a:prstGeom prst="rect">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0" name="Google Shape;360;p23"/>
          <p:cNvSpPr/>
          <p:nvPr/>
        </p:nvSpPr>
        <p:spPr>
          <a:xfrm>
            <a:off x="3723894" y="2427732"/>
            <a:ext cx="1261872"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ROC-AUC</a:t>
            </a:r>
            <a:endParaRPr sz="600" b="0" i="0" u="none" strike="noStrike" cap="none">
              <a:solidFill>
                <a:schemeClr val="dk1"/>
              </a:solidFill>
              <a:latin typeface="Inter"/>
              <a:ea typeface="Inter"/>
              <a:cs typeface="Inter"/>
              <a:sym typeface="Inter"/>
            </a:endParaRPr>
          </a:p>
        </p:txBody>
      </p:sp>
      <p:sp>
        <p:nvSpPr>
          <p:cNvPr id="361" name="Google Shape;361;p23"/>
          <p:cNvSpPr/>
          <p:nvPr/>
        </p:nvSpPr>
        <p:spPr>
          <a:xfrm>
            <a:off x="3723894" y="2633472"/>
            <a:ext cx="1261872"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C9F0"/>
              </a:buClr>
              <a:buSzPts val="1700"/>
              <a:buFont typeface="Inter"/>
              <a:buNone/>
            </a:pPr>
            <a:r>
              <a:rPr lang="en" sz="1700" b="1" i="0" u="none" strike="noStrike" cap="none">
                <a:solidFill>
                  <a:srgbClr val="4CC9F0"/>
                </a:solidFill>
                <a:latin typeface="Inter"/>
                <a:ea typeface="Inter"/>
                <a:cs typeface="Inter"/>
                <a:sym typeface="Inter"/>
              </a:rPr>
              <a:t>92.21%</a:t>
            </a:r>
            <a:endParaRPr sz="1700" b="0" i="0" u="none" strike="noStrike" cap="none">
              <a:solidFill>
                <a:schemeClr val="dk1"/>
              </a:solidFill>
              <a:latin typeface="Inter"/>
              <a:ea typeface="Inter"/>
              <a:cs typeface="Inter"/>
              <a:sym typeface="Inter"/>
            </a:endParaRPr>
          </a:p>
        </p:txBody>
      </p:sp>
      <p:sp>
        <p:nvSpPr>
          <p:cNvPr id="362" name="Google Shape;362;p23"/>
          <p:cNvSpPr/>
          <p:nvPr/>
        </p:nvSpPr>
        <p:spPr>
          <a:xfrm>
            <a:off x="5253228" y="2304288"/>
            <a:ext cx="1536192" cy="932688"/>
          </a:xfrm>
          <a:prstGeom prst="roundRect">
            <a:avLst>
              <a:gd name="adj" fmla="val 882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3" name="Google Shape;363;p23"/>
          <p:cNvSpPr/>
          <p:nvPr/>
        </p:nvSpPr>
        <p:spPr>
          <a:xfrm>
            <a:off x="5253228" y="2304288"/>
            <a:ext cx="54864" cy="932688"/>
          </a:xfrm>
          <a:prstGeom prst="rect">
            <a:avLst/>
          </a:prstGeom>
          <a:solidFill>
            <a:srgbClr val="FFB347"/>
          </a:solidFill>
          <a:ln w="127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4" name="Google Shape;364;p23"/>
          <p:cNvSpPr/>
          <p:nvPr/>
        </p:nvSpPr>
        <p:spPr>
          <a:xfrm>
            <a:off x="5424678" y="2427732"/>
            <a:ext cx="1261872"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PR-AUC</a:t>
            </a:r>
            <a:endParaRPr sz="600" b="0" i="0" u="none" strike="noStrike" cap="none">
              <a:solidFill>
                <a:schemeClr val="dk1"/>
              </a:solidFill>
              <a:latin typeface="Inter"/>
              <a:ea typeface="Inter"/>
              <a:cs typeface="Inter"/>
              <a:sym typeface="Inter"/>
            </a:endParaRPr>
          </a:p>
        </p:txBody>
      </p:sp>
      <p:sp>
        <p:nvSpPr>
          <p:cNvPr id="365" name="Google Shape;365;p23"/>
          <p:cNvSpPr/>
          <p:nvPr/>
        </p:nvSpPr>
        <p:spPr>
          <a:xfrm>
            <a:off x="5424678" y="2633472"/>
            <a:ext cx="1261872"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B347"/>
              </a:buClr>
              <a:buSzPts val="1700"/>
              <a:buFont typeface="Inter"/>
              <a:buNone/>
            </a:pPr>
            <a:r>
              <a:rPr lang="en" sz="1700" b="1" i="0" u="none" strike="noStrike" cap="none">
                <a:solidFill>
                  <a:srgbClr val="FFB347"/>
                </a:solidFill>
                <a:latin typeface="Inter"/>
                <a:ea typeface="Inter"/>
                <a:cs typeface="Inter"/>
                <a:sym typeface="Inter"/>
              </a:rPr>
              <a:t>68.75%</a:t>
            </a:r>
            <a:endParaRPr sz="1700" b="0" i="0" u="none" strike="noStrike" cap="none">
              <a:solidFill>
                <a:schemeClr val="dk1"/>
              </a:solidFill>
              <a:latin typeface="Inter"/>
              <a:ea typeface="Inter"/>
              <a:cs typeface="Inter"/>
              <a:sym typeface="Inter"/>
            </a:endParaRPr>
          </a:p>
        </p:txBody>
      </p:sp>
      <p:sp>
        <p:nvSpPr>
          <p:cNvPr id="366" name="Google Shape;366;p23"/>
          <p:cNvSpPr/>
          <p:nvPr/>
        </p:nvSpPr>
        <p:spPr>
          <a:xfrm>
            <a:off x="6954012" y="2304288"/>
            <a:ext cx="1536192" cy="932688"/>
          </a:xfrm>
          <a:prstGeom prst="roundRect">
            <a:avLst>
              <a:gd name="adj" fmla="val 8824"/>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7" name="Google Shape;367;p23"/>
          <p:cNvSpPr/>
          <p:nvPr/>
        </p:nvSpPr>
        <p:spPr>
          <a:xfrm>
            <a:off x="6954012" y="2304288"/>
            <a:ext cx="54864" cy="932688"/>
          </a:xfrm>
          <a:prstGeom prst="rect">
            <a:avLst/>
          </a:prstGeom>
          <a:solidFill>
            <a:srgbClr val="2FCB84"/>
          </a:solidFill>
          <a:ln w="12700" cap="flat" cmpd="sng">
            <a:solidFill>
              <a:srgbClr val="2FCB8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68" name="Google Shape;368;p23"/>
          <p:cNvSpPr/>
          <p:nvPr/>
        </p:nvSpPr>
        <p:spPr>
          <a:xfrm>
            <a:off x="7125462" y="2427732"/>
            <a:ext cx="1261872"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600"/>
              <a:buFont typeface="Inter"/>
              <a:buNone/>
            </a:pPr>
            <a:r>
              <a:rPr lang="en" sz="600" b="1" i="0" u="none" strike="noStrike" cap="none">
                <a:solidFill>
                  <a:srgbClr val="6B7F90"/>
                </a:solidFill>
                <a:latin typeface="Inter"/>
                <a:ea typeface="Inter"/>
                <a:cs typeface="Inter"/>
                <a:sym typeface="Inter"/>
              </a:rPr>
              <a:t>THRESHOLD</a:t>
            </a:r>
            <a:endParaRPr sz="600" b="0" i="0" u="none" strike="noStrike" cap="none">
              <a:solidFill>
                <a:schemeClr val="dk1"/>
              </a:solidFill>
              <a:latin typeface="Inter"/>
              <a:ea typeface="Inter"/>
              <a:cs typeface="Inter"/>
              <a:sym typeface="Inter"/>
            </a:endParaRPr>
          </a:p>
        </p:txBody>
      </p:sp>
      <p:sp>
        <p:nvSpPr>
          <p:cNvPr id="369" name="Google Shape;369;p23"/>
          <p:cNvSpPr/>
          <p:nvPr/>
        </p:nvSpPr>
        <p:spPr>
          <a:xfrm>
            <a:off x="7125462" y="2633472"/>
            <a:ext cx="1261872" cy="3154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FCB84"/>
              </a:buClr>
              <a:buSzPts val="1700"/>
              <a:buFont typeface="Inter"/>
              <a:buNone/>
            </a:pPr>
            <a:r>
              <a:rPr lang="en" sz="1700" b="1" i="0" u="none" strike="noStrike" cap="none">
                <a:solidFill>
                  <a:srgbClr val="2FCB84"/>
                </a:solidFill>
                <a:latin typeface="Inter"/>
                <a:ea typeface="Inter"/>
                <a:cs typeface="Inter"/>
                <a:sym typeface="Inter"/>
              </a:rPr>
              <a:t>0.5188</a:t>
            </a:r>
            <a:endParaRPr sz="1700" b="0" i="0" u="none" strike="noStrike" cap="none">
              <a:solidFill>
                <a:schemeClr val="dk1"/>
              </a:solidFill>
              <a:latin typeface="Inter"/>
              <a:ea typeface="Inter"/>
              <a:cs typeface="Inter"/>
              <a:sym typeface="Inter"/>
            </a:endParaRPr>
          </a:p>
        </p:txBody>
      </p:sp>
      <p:sp>
        <p:nvSpPr>
          <p:cNvPr id="370" name="Google Shape;370;p23"/>
          <p:cNvSpPr/>
          <p:nvPr/>
        </p:nvSpPr>
        <p:spPr>
          <a:xfrm>
            <a:off x="3552444" y="3483864"/>
            <a:ext cx="4937760" cy="884682"/>
          </a:xfrm>
          <a:prstGeom prst="roundRect">
            <a:avLst>
              <a:gd name="adj" fmla="val 9302"/>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71" name="Google Shape;371;p23"/>
          <p:cNvSpPr/>
          <p:nvPr/>
        </p:nvSpPr>
        <p:spPr>
          <a:xfrm>
            <a:off x="3758184" y="3790599"/>
            <a:ext cx="891600" cy="150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Interpretation</a:t>
            </a:r>
            <a:endParaRPr sz="800" b="0" i="0" u="none" strike="noStrike" cap="none">
              <a:solidFill>
                <a:schemeClr val="dk1"/>
              </a:solidFill>
              <a:latin typeface="Inter"/>
              <a:ea typeface="Inter"/>
              <a:cs typeface="Inter"/>
              <a:sym typeface="Inter"/>
            </a:endParaRPr>
          </a:p>
        </p:txBody>
      </p:sp>
      <p:sp>
        <p:nvSpPr>
          <p:cNvPr id="372" name="Google Shape;372;p23"/>
          <p:cNvSpPr/>
          <p:nvPr/>
        </p:nvSpPr>
        <p:spPr>
          <a:xfrm>
            <a:off x="4663440" y="3749451"/>
            <a:ext cx="35523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Strong recall and ROC-AUC show good separation, while moderate precision means the model still creates false alarms.</a:t>
            </a:r>
            <a:endParaRPr sz="800" b="0" i="0" u="none" strike="noStrike" cap="none">
              <a:solidFill>
                <a:schemeClr val="dk1"/>
              </a:solidFill>
              <a:latin typeface="Inter"/>
              <a:ea typeface="Inter"/>
              <a:cs typeface="Inter"/>
              <a:sym typeface="Inter"/>
            </a:endParaRPr>
          </a:p>
        </p:txBody>
      </p:sp>
      <p:sp>
        <p:nvSpPr>
          <p:cNvPr id="373" name="Google Shape;373;p23"/>
          <p:cNvSpPr/>
          <p:nvPr/>
        </p:nvSpPr>
        <p:spPr>
          <a:xfrm>
            <a:off x="493776" y="4656582"/>
            <a:ext cx="8092440" cy="123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95A3"/>
              </a:buClr>
              <a:buSzPts val="500"/>
              <a:buFont typeface="Inter"/>
              <a:buNone/>
            </a:pPr>
            <a:r>
              <a:rPr lang="en" sz="500" b="0" i="1" u="none" strike="noStrike" cap="none">
                <a:solidFill>
                  <a:srgbClr val="8595A3"/>
                </a:solidFill>
                <a:latin typeface="Inter"/>
                <a:ea typeface="Inter"/>
                <a:cs typeface="Inter"/>
                <a:sym typeface="Inter"/>
              </a:rPr>
              <a:t>Project results: Random Forest, target = Is Attack IP, max rows = 1,000,000, negatives per positive = 5. Metrics follow scikit-learn definitions.</a:t>
            </a:r>
            <a:endParaRPr sz="500" b="0" i="0" u="none" strike="noStrike" cap="none">
              <a:solidFill>
                <a:schemeClr val="dk1"/>
              </a:solidFill>
              <a:latin typeface="Inter"/>
              <a:ea typeface="Inter"/>
              <a:cs typeface="Inter"/>
              <a:sym typeface="Inter"/>
            </a:endParaRPr>
          </a:p>
        </p:txBody>
      </p:sp>
      <p:sp>
        <p:nvSpPr>
          <p:cNvPr id="374" name="Google Shape;374;p23"/>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8</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24"/>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Confusion matrix</a:t>
            </a:r>
            <a:endParaRPr sz="2100" b="0" i="0" u="none" strike="noStrike" cap="none">
              <a:solidFill>
                <a:schemeClr val="dk1"/>
              </a:solidFill>
              <a:latin typeface="Inter"/>
              <a:ea typeface="Inter"/>
              <a:cs typeface="Inter"/>
              <a:sym typeface="Inter"/>
            </a:endParaRPr>
          </a:p>
        </p:txBody>
      </p:sp>
      <p:sp>
        <p:nvSpPr>
          <p:cNvPr id="381" name="Google Shape;381;p24"/>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A closer look at what the model got right—and where it made mistakes.</a:t>
            </a:r>
            <a:endParaRPr sz="900" b="0" i="0" u="none" strike="noStrike" cap="none">
              <a:solidFill>
                <a:schemeClr val="dk1"/>
              </a:solidFill>
              <a:latin typeface="Inter"/>
              <a:ea typeface="Inter"/>
              <a:cs typeface="Inter"/>
              <a:sym typeface="Inter"/>
            </a:endParaRPr>
          </a:p>
        </p:txBody>
      </p:sp>
      <p:sp>
        <p:nvSpPr>
          <p:cNvPr id="382" name="Google Shape;382;p24"/>
          <p:cNvSpPr/>
          <p:nvPr/>
        </p:nvSpPr>
        <p:spPr>
          <a:xfrm>
            <a:off x="1543050" y="1179576"/>
            <a:ext cx="216027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PREDICTED</a:t>
            </a:r>
            <a:endParaRPr sz="700" b="0" i="0" u="none" strike="noStrike" cap="none">
              <a:solidFill>
                <a:schemeClr val="dk1"/>
              </a:solidFill>
              <a:latin typeface="Inter"/>
              <a:ea typeface="Inter"/>
              <a:cs typeface="Inter"/>
              <a:sym typeface="Inter"/>
            </a:endParaRPr>
          </a:p>
        </p:txBody>
      </p:sp>
      <p:sp>
        <p:nvSpPr>
          <p:cNvPr id="383" name="Google Shape;383;p24"/>
          <p:cNvSpPr/>
          <p:nvPr/>
        </p:nvSpPr>
        <p:spPr>
          <a:xfrm rot="-5400000">
            <a:off x="521208" y="2359152"/>
            <a:ext cx="425196"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ACTUAL</a:t>
            </a:r>
            <a:endParaRPr sz="700" b="0" i="0" u="none" strike="noStrike" cap="none">
              <a:solidFill>
                <a:schemeClr val="dk1"/>
              </a:solidFill>
              <a:latin typeface="Inter"/>
              <a:ea typeface="Inter"/>
              <a:cs typeface="Inter"/>
              <a:sym typeface="Inter"/>
            </a:endParaRPr>
          </a:p>
        </p:txBody>
      </p:sp>
      <p:sp>
        <p:nvSpPr>
          <p:cNvPr id="384" name="Google Shape;384;p24"/>
          <p:cNvSpPr/>
          <p:nvPr/>
        </p:nvSpPr>
        <p:spPr>
          <a:xfrm>
            <a:off x="1543050" y="1440180"/>
            <a:ext cx="1083564"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Normal</a:t>
            </a:r>
            <a:endParaRPr sz="800" b="0" i="0" u="none" strike="noStrike" cap="none">
              <a:solidFill>
                <a:schemeClr val="dk1"/>
              </a:solidFill>
              <a:latin typeface="Inter"/>
              <a:ea typeface="Inter"/>
              <a:cs typeface="Inter"/>
              <a:sym typeface="Inter"/>
            </a:endParaRPr>
          </a:p>
        </p:txBody>
      </p:sp>
      <p:sp>
        <p:nvSpPr>
          <p:cNvPr id="385" name="Google Shape;385;p24"/>
          <p:cNvSpPr/>
          <p:nvPr/>
        </p:nvSpPr>
        <p:spPr>
          <a:xfrm>
            <a:off x="2798064" y="1440180"/>
            <a:ext cx="1083564"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Attack IP</a:t>
            </a:r>
            <a:endParaRPr sz="800" b="0" i="0" u="none" strike="noStrike" cap="none">
              <a:solidFill>
                <a:schemeClr val="dk1"/>
              </a:solidFill>
              <a:latin typeface="Inter"/>
              <a:ea typeface="Inter"/>
              <a:cs typeface="Inter"/>
              <a:sym typeface="Inter"/>
            </a:endParaRPr>
          </a:p>
        </p:txBody>
      </p:sp>
      <p:sp>
        <p:nvSpPr>
          <p:cNvPr id="386" name="Google Shape;386;p24"/>
          <p:cNvSpPr/>
          <p:nvPr/>
        </p:nvSpPr>
        <p:spPr>
          <a:xfrm>
            <a:off x="788670" y="2043684"/>
            <a:ext cx="562356" cy="16459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Normal</a:t>
            </a:r>
            <a:endParaRPr sz="800" b="0" i="0" u="none" strike="noStrike" cap="none">
              <a:solidFill>
                <a:schemeClr val="dk1"/>
              </a:solidFill>
              <a:latin typeface="Inter"/>
              <a:ea typeface="Inter"/>
              <a:cs typeface="Inter"/>
              <a:sym typeface="Inter"/>
            </a:endParaRPr>
          </a:p>
        </p:txBody>
      </p:sp>
      <p:sp>
        <p:nvSpPr>
          <p:cNvPr id="387" name="Google Shape;387;p24"/>
          <p:cNvSpPr/>
          <p:nvPr/>
        </p:nvSpPr>
        <p:spPr>
          <a:xfrm>
            <a:off x="754380" y="3106674"/>
            <a:ext cx="603504" cy="16459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Attack IP</a:t>
            </a:r>
            <a:endParaRPr sz="800" b="0" i="0" u="none" strike="noStrike" cap="none">
              <a:solidFill>
                <a:schemeClr val="dk1"/>
              </a:solidFill>
              <a:latin typeface="Inter"/>
              <a:ea typeface="Inter"/>
              <a:cs typeface="Inter"/>
              <a:sym typeface="Inter"/>
            </a:endParaRPr>
          </a:p>
        </p:txBody>
      </p:sp>
      <p:sp>
        <p:nvSpPr>
          <p:cNvPr id="388" name="Google Shape;388;p24"/>
          <p:cNvSpPr/>
          <p:nvPr/>
        </p:nvSpPr>
        <p:spPr>
          <a:xfrm>
            <a:off x="1495044" y="1748790"/>
            <a:ext cx="1179576" cy="905256"/>
          </a:xfrm>
          <a:prstGeom prst="roundRect">
            <a:avLst>
              <a:gd name="adj" fmla="val 16667"/>
            </a:avLst>
          </a:prstGeom>
          <a:solidFill>
            <a:srgbClr val="E5FAF4"/>
          </a:solidFill>
          <a:ln w="10150" cap="flat" cmpd="sng">
            <a:solidFill>
              <a:srgbClr val="E5FAF4"/>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9" name="Google Shape;389;p24"/>
          <p:cNvSpPr/>
          <p:nvPr/>
        </p:nvSpPr>
        <p:spPr>
          <a:xfrm>
            <a:off x="1549908" y="1954530"/>
            <a:ext cx="1069848" cy="2606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FCB84"/>
              </a:buClr>
              <a:buSzPts val="1600"/>
              <a:buFont typeface="Inter"/>
              <a:buNone/>
            </a:pPr>
            <a:r>
              <a:rPr lang="en" sz="1600" b="1" i="0" u="none" strike="noStrike" cap="none">
                <a:solidFill>
                  <a:srgbClr val="2FCB84"/>
                </a:solidFill>
                <a:latin typeface="Inter"/>
                <a:ea typeface="Inter"/>
                <a:cs typeface="Inter"/>
                <a:sym typeface="Inter"/>
              </a:rPr>
              <a:t>84,833</a:t>
            </a:r>
            <a:endParaRPr sz="1600" b="0" i="0" u="none" strike="noStrike" cap="none">
              <a:solidFill>
                <a:schemeClr val="dk1"/>
              </a:solidFill>
              <a:latin typeface="Inter"/>
              <a:ea typeface="Inter"/>
              <a:cs typeface="Inter"/>
              <a:sym typeface="Inter"/>
            </a:endParaRPr>
          </a:p>
        </p:txBody>
      </p:sp>
      <p:sp>
        <p:nvSpPr>
          <p:cNvPr id="390" name="Google Shape;390;p24"/>
          <p:cNvSpPr/>
          <p:nvPr/>
        </p:nvSpPr>
        <p:spPr>
          <a:xfrm>
            <a:off x="1549908" y="2324862"/>
            <a:ext cx="1069848"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700"/>
              <a:buFont typeface="Inter"/>
              <a:buNone/>
            </a:pPr>
            <a:r>
              <a:rPr lang="en" sz="700" b="1" i="0" u="none" strike="noStrike" cap="none">
                <a:solidFill>
                  <a:srgbClr val="31475A"/>
                </a:solidFill>
                <a:latin typeface="Inter"/>
                <a:ea typeface="Inter"/>
                <a:cs typeface="Inter"/>
                <a:sym typeface="Inter"/>
              </a:rPr>
              <a:t>True negatives</a:t>
            </a:r>
            <a:endParaRPr sz="700" b="0" i="0" u="none" strike="noStrike" cap="none">
              <a:solidFill>
                <a:schemeClr val="dk1"/>
              </a:solidFill>
              <a:latin typeface="Inter"/>
              <a:ea typeface="Inter"/>
              <a:cs typeface="Inter"/>
              <a:sym typeface="Inter"/>
            </a:endParaRPr>
          </a:p>
        </p:txBody>
      </p:sp>
      <p:sp>
        <p:nvSpPr>
          <p:cNvPr id="391" name="Google Shape;391;p24"/>
          <p:cNvSpPr/>
          <p:nvPr/>
        </p:nvSpPr>
        <p:spPr>
          <a:xfrm>
            <a:off x="2750058" y="1748790"/>
            <a:ext cx="1179576" cy="905256"/>
          </a:xfrm>
          <a:prstGeom prst="roundRect">
            <a:avLst>
              <a:gd name="adj" fmla="val 16667"/>
            </a:avLst>
          </a:prstGeom>
          <a:solidFill>
            <a:srgbClr val="FFF0F0"/>
          </a:solidFill>
          <a:ln w="10150" cap="flat" cmpd="sng">
            <a:solidFill>
              <a:srgbClr val="FFF0F0"/>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2" name="Google Shape;392;p24"/>
          <p:cNvSpPr/>
          <p:nvPr/>
        </p:nvSpPr>
        <p:spPr>
          <a:xfrm>
            <a:off x="2804922" y="1954530"/>
            <a:ext cx="1069848" cy="2606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6B6B"/>
              </a:buClr>
              <a:buSzPts val="1600"/>
              <a:buFont typeface="Inter"/>
              <a:buNone/>
            </a:pPr>
            <a:r>
              <a:rPr lang="en" sz="1600" b="1" i="0" u="none" strike="noStrike" cap="none">
                <a:solidFill>
                  <a:srgbClr val="FF6B6B"/>
                </a:solidFill>
                <a:latin typeface="Inter"/>
                <a:ea typeface="Inter"/>
                <a:cs typeface="Inter"/>
                <a:sym typeface="Inter"/>
              </a:rPr>
              <a:t>14,701</a:t>
            </a:r>
            <a:endParaRPr sz="1600" b="0" i="0" u="none" strike="noStrike" cap="none">
              <a:solidFill>
                <a:schemeClr val="dk1"/>
              </a:solidFill>
              <a:latin typeface="Inter"/>
              <a:ea typeface="Inter"/>
              <a:cs typeface="Inter"/>
              <a:sym typeface="Inter"/>
            </a:endParaRPr>
          </a:p>
        </p:txBody>
      </p:sp>
      <p:sp>
        <p:nvSpPr>
          <p:cNvPr id="393" name="Google Shape;393;p24"/>
          <p:cNvSpPr/>
          <p:nvPr/>
        </p:nvSpPr>
        <p:spPr>
          <a:xfrm>
            <a:off x="2804922" y="2324862"/>
            <a:ext cx="1069848"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700"/>
              <a:buFont typeface="Inter"/>
              <a:buNone/>
            </a:pPr>
            <a:r>
              <a:rPr lang="en" sz="700" b="1" i="0" u="none" strike="noStrike" cap="none">
                <a:solidFill>
                  <a:srgbClr val="31475A"/>
                </a:solidFill>
                <a:latin typeface="Inter"/>
                <a:ea typeface="Inter"/>
                <a:cs typeface="Inter"/>
                <a:sym typeface="Inter"/>
              </a:rPr>
              <a:t>False positives</a:t>
            </a:r>
            <a:endParaRPr sz="700" b="0" i="0" u="none" strike="noStrike" cap="none">
              <a:solidFill>
                <a:schemeClr val="dk1"/>
              </a:solidFill>
              <a:latin typeface="Inter"/>
              <a:ea typeface="Inter"/>
              <a:cs typeface="Inter"/>
              <a:sym typeface="Inter"/>
            </a:endParaRPr>
          </a:p>
        </p:txBody>
      </p:sp>
      <p:sp>
        <p:nvSpPr>
          <p:cNvPr id="394" name="Google Shape;394;p24"/>
          <p:cNvSpPr/>
          <p:nvPr/>
        </p:nvSpPr>
        <p:spPr>
          <a:xfrm>
            <a:off x="1495044" y="2777490"/>
            <a:ext cx="1179576" cy="905256"/>
          </a:xfrm>
          <a:prstGeom prst="roundRect">
            <a:avLst>
              <a:gd name="adj" fmla="val 16667"/>
            </a:avLst>
          </a:prstGeom>
          <a:solidFill>
            <a:srgbClr val="FFF6E8"/>
          </a:solidFill>
          <a:ln w="10150" cap="flat" cmpd="sng">
            <a:solidFill>
              <a:srgbClr val="FFF6E8"/>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5" name="Google Shape;395;p24"/>
          <p:cNvSpPr/>
          <p:nvPr/>
        </p:nvSpPr>
        <p:spPr>
          <a:xfrm>
            <a:off x="1549908" y="2983230"/>
            <a:ext cx="1069848" cy="2606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B347"/>
              </a:buClr>
              <a:buSzPts val="1600"/>
              <a:buFont typeface="Inter"/>
              <a:buNone/>
            </a:pPr>
            <a:r>
              <a:rPr lang="en" sz="1600" b="1" i="0" u="none" strike="noStrike" cap="none">
                <a:solidFill>
                  <a:srgbClr val="FFB347"/>
                </a:solidFill>
                <a:latin typeface="Inter"/>
                <a:ea typeface="Inter"/>
                <a:cs typeface="Inter"/>
                <a:sym typeface="Inter"/>
              </a:rPr>
              <a:t>2,522</a:t>
            </a:r>
            <a:endParaRPr sz="1600" b="0" i="0" u="none" strike="noStrike" cap="none">
              <a:solidFill>
                <a:schemeClr val="dk1"/>
              </a:solidFill>
              <a:latin typeface="Inter"/>
              <a:ea typeface="Inter"/>
              <a:cs typeface="Inter"/>
              <a:sym typeface="Inter"/>
            </a:endParaRPr>
          </a:p>
        </p:txBody>
      </p:sp>
      <p:sp>
        <p:nvSpPr>
          <p:cNvPr id="396" name="Google Shape;396;p24"/>
          <p:cNvSpPr/>
          <p:nvPr/>
        </p:nvSpPr>
        <p:spPr>
          <a:xfrm>
            <a:off x="1549908" y="3353562"/>
            <a:ext cx="1069848"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700"/>
              <a:buFont typeface="Inter"/>
              <a:buNone/>
            </a:pPr>
            <a:r>
              <a:rPr lang="en" sz="700" b="1" i="0" u="none" strike="noStrike" cap="none">
                <a:solidFill>
                  <a:srgbClr val="31475A"/>
                </a:solidFill>
                <a:latin typeface="Inter"/>
                <a:ea typeface="Inter"/>
                <a:cs typeface="Inter"/>
                <a:sym typeface="Inter"/>
              </a:rPr>
              <a:t>False negatives</a:t>
            </a:r>
            <a:endParaRPr sz="700" b="0" i="0" u="none" strike="noStrike" cap="none">
              <a:solidFill>
                <a:schemeClr val="dk1"/>
              </a:solidFill>
              <a:latin typeface="Inter"/>
              <a:ea typeface="Inter"/>
              <a:cs typeface="Inter"/>
              <a:sym typeface="Inter"/>
            </a:endParaRPr>
          </a:p>
        </p:txBody>
      </p:sp>
      <p:sp>
        <p:nvSpPr>
          <p:cNvPr id="397" name="Google Shape;397;p24"/>
          <p:cNvSpPr/>
          <p:nvPr/>
        </p:nvSpPr>
        <p:spPr>
          <a:xfrm>
            <a:off x="2750058" y="2777490"/>
            <a:ext cx="1179576" cy="905256"/>
          </a:xfrm>
          <a:prstGeom prst="roundRect">
            <a:avLst>
              <a:gd name="adj" fmla="val 16667"/>
            </a:avLst>
          </a:prstGeom>
          <a:solidFill>
            <a:srgbClr val="EAF2FF"/>
          </a:solidFill>
          <a:ln w="10150" cap="flat" cmpd="sng">
            <a:solidFill>
              <a:srgbClr val="EAF2FF"/>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8" name="Google Shape;398;p24"/>
          <p:cNvSpPr/>
          <p:nvPr/>
        </p:nvSpPr>
        <p:spPr>
          <a:xfrm>
            <a:off x="2804922" y="2983230"/>
            <a:ext cx="1069848" cy="2606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86FF"/>
              </a:buClr>
              <a:buSzPts val="1600"/>
              <a:buFont typeface="Inter"/>
              <a:buNone/>
            </a:pPr>
            <a:r>
              <a:rPr lang="en" sz="1600" b="1" i="0" u="none" strike="noStrike" cap="none">
                <a:solidFill>
                  <a:srgbClr val="3A86FF"/>
                </a:solidFill>
                <a:latin typeface="Inter"/>
                <a:ea typeface="Inter"/>
                <a:cs typeface="Inter"/>
                <a:sym typeface="Inter"/>
              </a:rPr>
              <a:t>17,385</a:t>
            </a:r>
            <a:endParaRPr sz="1600" b="0" i="0" u="none" strike="noStrike" cap="none">
              <a:solidFill>
                <a:schemeClr val="dk1"/>
              </a:solidFill>
              <a:latin typeface="Inter"/>
              <a:ea typeface="Inter"/>
              <a:cs typeface="Inter"/>
              <a:sym typeface="Inter"/>
            </a:endParaRPr>
          </a:p>
        </p:txBody>
      </p:sp>
      <p:sp>
        <p:nvSpPr>
          <p:cNvPr id="399" name="Google Shape;399;p24"/>
          <p:cNvSpPr/>
          <p:nvPr/>
        </p:nvSpPr>
        <p:spPr>
          <a:xfrm>
            <a:off x="2804922" y="3353562"/>
            <a:ext cx="1069848"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1475A"/>
              </a:buClr>
              <a:buSzPts val="700"/>
              <a:buFont typeface="Inter"/>
              <a:buNone/>
            </a:pPr>
            <a:r>
              <a:rPr lang="en" sz="700" b="1" i="0" u="none" strike="noStrike" cap="none">
                <a:solidFill>
                  <a:srgbClr val="31475A"/>
                </a:solidFill>
                <a:latin typeface="Inter"/>
                <a:ea typeface="Inter"/>
                <a:cs typeface="Inter"/>
                <a:sym typeface="Inter"/>
              </a:rPr>
              <a:t>True positives</a:t>
            </a:r>
            <a:endParaRPr sz="700" b="0" i="0" u="none" strike="noStrike" cap="none">
              <a:solidFill>
                <a:schemeClr val="dk1"/>
              </a:solidFill>
              <a:latin typeface="Inter"/>
              <a:ea typeface="Inter"/>
              <a:cs typeface="Inter"/>
              <a:sym typeface="Inter"/>
            </a:endParaRPr>
          </a:p>
        </p:txBody>
      </p:sp>
      <p:sp>
        <p:nvSpPr>
          <p:cNvPr id="400" name="Google Shape;400;p24"/>
          <p:cNvSpPr/>
          <p:nvPr/>
        </p:nvSpPr>
        <p:spPr>
          <a:xfrm>
            <a:off x="4389125" y="1453900"/>
            <a:ext cx="4101000" cy="2741400"/>
          </a:xfrm>
          <a:prstGeom prst="roundRect">
            <a:avLst>
              <a:gd name="adj" fmla="val 3175"/>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1" name="Google Shape;401;p24"/>
          <p:cNvSpPr/>
          <p:nvPr/>
        </p:nvSpPr>
        <p:spPr>
          <a:xfrm>
            <a:off x="4649724" y="1680210"/>
            <a:ext cx="15773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400"/>
              <a:buFont typeface="Inter"/>
              <a:buNone/>
            </a:pPr>
            <a:r>
              <a:rPr lang="en" sz="1400" b="1" i="0" u="none" strike="noStrike" cap="none">
                <a:solidFill>
                  <a:srgbClr val="122637"/>
                </a:solidFill>
                <a:latin typeface="Inter"/>
                <a:ea typeface="Inter"/>
                <a:cs typeface="Inter"/>
                <a:sym typeface="Inter"/>
              </a:rPr>
              <a:t>What this means</a:t>
            </a:r>
            <a:endParaRPr sz="1400" b="0" i="0" u="none" strike="noStrike" cap="none">
              <a:solidFill>
                <a:schemeClr val="dk1"/>
              </a:solidFill>
              <a:latin typeface="Inter"/>
              <a:ea typeface="Inter"/>
              <a:cs typeface="Inter"/>
              <a:sym typeface="Inter"/>
            </a:endParaRPr>
          </a:p>
        </p:txBody>
      </p:sp>
      <p:sp>
        <p:nvSpPr>
          <p:cNvPr id="402" name="Google Shape;402;p24"/>
          <p:cNvSpPr/>
          <p:nvPr/>
        </p:nvSpPr>
        <p:spPr>
          <a:xfrm>
            <a:off x="4663440" y="2146554"/>
            <a:ext cx="123444" cy="123444"/>
          </a:xfrm>
          <a:prstGeom prst="ellipse">
            <a:avLst/>
          </a:prstGeom>
          <a:solidFill>
            <a:srgbClr val="2FCB84"/>
          </a:solidFill>
          <a:ln w="12700" cap="flat" cmpd="sng">
            <a:solidFill>
              <a:srgbClr val="2FCB8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3" name="Google Shape;403;p24"/>
          <p:cNvSpPr/>
          <p:nvPr/>
        </p:nvSpPr>
        <p:spPr>
          <a:xfrm>
            <a:off x="4889754" y="2125980"/>
            <a:ext cx="65151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17,385</a:t>
            </a:r>
            <a:endParaRPr sz="900" b="0" i="0" u="none" strike="noStrike" cap="none">
              <a:solidFill>
                <a:schemeClr val="dk1"/>
              </a:solidFill>
              <a:latin typeface="Inter"/>
              <a:ea typeface="Inter"/>
              <a:cs typeface="Inter"/>
              <a:sym typeface="Inter"/>
            </a:endParaRPr>
          </a:p>
        </p:txBody>
      </p:sp>
      <p:sp>
        <p:nvSpPr>
          <p:cNvPr id="404" name="Google Shape;404;p24"/>
          <p:cNvSpPr/>
          <p:nvPr/>
        </p:nvSpPr>
        <p:spPr>
          <a:xfrm>
            <a:off x="5520690" y="2139696"/>
            <a:ext cx="253746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attack-IP logins were correctly detected.</a:t>
            </a:r>
            <a:endParaRPr sz="800" b="0" i="0" u="none" strike="noStrike" cap="none">
              <a:solidFill>
                <a:schemeClr val="dk1"/>
              </a:solidFill>
              <a:latin typeface="Inter"/>
              <a:ea typeface="Inter"/>
              <a:cs typeface="Inter"/>
              <a:sym typeface="Inter"/>
            </a:endParaRPr>
          </a:p>
        </p:txBody>
      </p:sp>
      <p:sp>
        <p:nvSpPr>
          <p:cNvPr id="405" name="Google Shape;405;p24"/>
          <p:cNvSpPr/>
          <p:nvPr/>
        </p:nvSpPr>
        <p:spPr>
          <a:xfrm>
            <a:off x="4663440" y="2599182"/>
            <a:ext cx="123444" cy="123444"/>
          </a:xfrm>
          <a:prstGeom prst="ellipse">
            <a:avLst/>
          </a:prstGeom>
          <a:solidFill>
            <a:srgbClr val="FFB347"/>
          </a:solidFill>
          <a:ln w="127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6" name="Google Shape;406;p24"/>
          <p:cNvSpPr/>
          <p:nvPr/>
        </p:nvSpPr>
        <p:spPr>
          <a:xfrm>
            <a:off x="4889754" y="2578608"/>
            <a:ext cx="65151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2,522</a:t>
            </a:r>
            <a:endParaRPr sz="900" b="0" i="0" u="none" strike="noStrike" cap="none">
              <a:solidFill>
                <a:schemeClr val="dk1"/>
              </a:solidFill>
              <a:latin typeface="Inter"/>
              <a:ea typeface="Inter"/>
              <a:cs typeface="Inter"/>
              <a:sym typeface="Inter"/>
            </a:endParaRPr>
          </a:p>
        </p:txBody>
      </p:sp>
      <p:sp>
        <p:nvSpPr>
          <p:cNvPr id="407" name="Google Shape;407;p24"/>
          <p:cNvSpPr/>
          <p:nvPr/>
        </p:nvSpPr>
        <p:spPr>
          <a:xfrm>
            <a:off x="5520690" y="2592324"/>
            <a:ext cx="253746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attack-IP logins were missed.</a:t>
            </a:r>
            <a:endParaRPr sz="800" b="0" i="0" u="none" strike="noStrike" cap="none">
              <a:solidFill>
                <a:schemeClr val="dk1"/>
              </a:solidFill>
              <a:latin typeface="Inter"/>
              <a:ea typeface="Inter"/>
              <a:cs typeface="Inter"/>
              <a:sym typeface="Inter"/>
            </a:endParaRPr>
          </a:p>
        </p:txBody>
      </p:sp>
      <p:sp>
        <p:nvSpPr>
          <p:cNvPr id="408" name="Google Shape;408;p24"/>
          <p:cNvSpPr/>
          <p:nvPr/>
        </p:nvSpPr>
        <p:spPr>
          <a:xfrm>
            <a:off x="4663440" y="3051810"/>
            <a:ext cx="123444" cy="123444"/>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9" name="Google Shape;409;p24"/>
          <p:cNvSpPr/>
          <p:nvPr/>
        </p:nvSpPr>
        <p:spPr>
          <a:xfrm>
            <a:off x="4889754" y="3031236"/>
            <a:ext cx="65151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14,701</a:t>
            </a:r>
            <a:endParaRPr sz="900" b="0" i="0" u="none" strike="noStrike" cap="none">
              <a:solidFill>
                <a:schemeClr val="dk1"/>
              </a:solidFill>
              <a:latin typeface="Inter"/>
              <a:ea typeface="Inter"/>
              <a:cs typeface="Inter"/>
              <a:sym typeface="Inter"/>
            </a:endParaRPr>
          </a:p>
        </p:txBody>
      </p:sp>
      <p:sp>
        <p:nvSpPr>
          <p:cNvPr id="410" name="Google Shape;410;p24"/>
          <p:cNvSpPr/>
          <p:nvPr/>
        </p:nvSpPr>
        <p:spPr>
          <a:xfrm>
            <a:off x="5520690" y="3044952"/>
            <a:ext cx="253746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normal logins were incorrectly flagged.</a:t>
            </a:r>
            <a:endParaRPr sz="800" b="0" i="0" u="none" strike="noStrike" cap="none">
              <a:solidFill>
                <a:schemeClr val="dk1"/>
              </a:solidFill>
              <a:latin typeface="Inter"/>
              <a:ea typeface="Inter"/>
              <a:cs typeface="Inter"/>
              <a:sym typeface="Inter"/>
            </a:endParaRPr>
          </a:p>
        </p:txBody>
      </p:sp>
      <p:sp>
        <p:nvSpPr>
          <p:cNvPr id="411" name="Google Shape;411;p24"/>
          <p:cNvSpPr/>
          <p:nvPr/>
        </p:nvSpPr>
        <p:spPr>
          <a:xfrm>
            <a:off x="4663440" y="3504438"/>
            <a:ext cx="123444" cy="123444"/>
          </a:xfrm>
          <a:prstGeom prst="ellipse">
            <a:avLst/>
          </a:prstGeom>
          <a:solidFill>
            <a:srgbClr val="3A86FF"/>
          </a:solidFill>
          <a:ln w="12700" cap="flat" cmpd="sng">
            <a:solidFill>
              <a:srgbClr val="3A86FF"/>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2" name="Google Shape;412;p24"/>
          <p:cNvSpPr/>
          <p:nvPr/>
        </p:nvSpPr>
        <p:spPr>
          <a:xfrm>
            <a:off x="4889754" y="3483864"/>
            <a:ext cx="65151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900"/>
              <a:buFont typeface="Inter"/>
              <a:buNone/>
            </a:pPr>
            <a:r>
              <a:rPr lang="en" sz="900" b="1" i="0" u="none" strike="noStrike" cap="none">
                <a:solidFill>
                  <a:srgbClr val="122637"/>
                </a:solidFill>
                <a:latin typeface="Inter"/>
                <a:ea typeface="Inter"/>
                <a:cs typeface="Inter"/>
                <a:sym typeface="Inter"/>
              </a:rPr>
              <a:t>84,833</a:t>
            </a:r>
            <a:endParaRPr sz="900" b="0" i="0" u="none" strike="noStrike" cap="none">
              <a:solidFill>
                <a:schemeClr val="dk1"/>
              </a:solidFill>
              <a:latin typeface="Inter"/>
              <a:ea typeface="Inter"/>
              <a:cs typeface="Inter"/>
              <a:sym typeface="Inter"/>
            </a:endParaRPr>
          </a:p>
        </p:txBody>
      </p:sp>
      <p:sp>
        <p:nvSpPr>
          <p:cNvPr id="413" name="Google Shape;413;p24"/>
          <p:cNvSpPr/>
          <p:nvPr/>
        </p:nvSpPr>
        <p:spPr>
          <a:xfrm>
            <a:off x="5520690" y="3497580"/>
            <a:ext cx="2537460"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800"/>
              <a:buFont typeface="Inter"/>
              <a:buNone/>
            </a:pPr>
            <a:r>
              <a:rPr lang="en" sz="800" b="0" i="0" u="none" strike="noStrike" cap="none">
                <a:solidFill>
                  <a:srgbClr val="31475A"/>
                </a:solidFill>
                <a:latin typeface="Inter"/>
                <a:ea typeface="Inter"/>
                <a:cs typeface="Inter"/>
                <a:sym typeface="Inter"/>
              </a:rPr>
              <a:t>normal logins were correctly ignored.</a:t>
            </a:r>
            <a:endParaRPr sz="800" b="0" i="0" u="none" strike="noStrike" cap="none">
              <a:solidFill>
                <a:schemeClr val="dk1"/>
              </a:solidFill>
              <a:latin typeface="Inter"/>
              <a:ea typeface="Inter"/>
              <a:cs typeface="Inter"/>
              <a:sym typeface="Inter"/>
            </a:endParaRPr>
          </a:p>
        </p:txBody>
      </p:sp>
      <p:sp>
        <p:nvSpPr>
          <p:cNvPr id="414" name="Google Shape;414;p24"/>
          <p:cNvSpPr/>
          <p:nvPr/>
        </p:nvSpPr>
        <p:spPr>
          <a:xfrm>
            <a:off x="4649724" y="3751942"/>
            <a:ext cx="3566100" cy="308700"/>
          </a:xfrm>
          <a:prstGeom prst="roundRect">
            <a:avLst>
              <a:gd name="adj" fmla="val 16667"/>
            </a:avLst>
          </a:prstGeom>
          <a:solidFill>
            <a:srgbClr val="FFF6E8"/>
          </a:solidFill>
          <a:ln w="12700" cap="flat" cmpd="sng">
            <a:solidFill>
              <a:srgbClr val="FFF6E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5" name="Google Shape;415;p24"/>
          <p:cNvSpPr/>
          <p:nvPr/>
        </p:nvSpPr>
        <p:spPr>
          <a:xfrm>
            <a:off x="4786884" y="3841096"/>
            <a:ext cx="3305700" cy="130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5422"/>
              </a:buClr>
              <a:buSzPts val="700"/>
              <a:buFont typeface="Inter"/>
              <a:buNone/>
            </a:pPr>
            <a:r>
              <a:rPr lang="en" sz="700" b="1" i="0" u="none" strike="noStrike" cap="none">
                <a:solidFill>
                  <a:srgbClr val="7A5422"/>
                </a:solidFill>
                <a:latin typeface="Inter"/>
                <a:ea typeface="Inter"/>
                <a:cs typeface="Inter"/>
                <a:sym typeface="Inter"/>
              </a:rPr>
              <a:t>The model favors catching attacks, even at the cost of more false alarms.</a:t>
            </a:r>
            <a:endParaRPr sz="700" b="0" i="0" u="none" strike="noStrike" cap="none">
              <a:solidFill>
                <a:schemeClr val="dk1"/>
              </a:solidFill>
              <a:latin typeface="Inter"/>
              <a:ea typeface="Inter"/>
              <a:cs typeface="Inter"/>
              <a:sym typeface="Inter"/>
            </a:endParaRPr>
          </a:p>
        </p:txBody>
      </p:sp>
      <p:sp>
        <p:nvSpPr>
          <p:cNvPr id="416" name="Google Shape;416;p24"/>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9</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5"/>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How one login is scored</a:t>
            </a:r>
            <a:endParaRPr sz="2100" b="0" i="0" u="none" strike="noStrike" cap="none">
              <a:solidFill>
                <a:schemeClr val="dk1"/>
              </a:solidFill>
              <a:latin typeface="Inter"/>
              <a:ea typeface="Inter"/>
              <a:cs typeface="Inter"/>
              <a:sym typeface="Inter"/>
            </a:endParaRPr>
          </a:p>
        </p:txBody>
      </p:sp>
      <p:sp>
        <p:nvSpPr>
          <p:cNvPr id="423" name="Google Shape;423;p25"/>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The saved model can classify a new login using the prediction script.</a:t>
            </a:r>
            <a:endParaRPr sz="900" b="0" i="0" u="none" strike="noStrike" cap="none">
              <a:solidFill>
                <a:schemeClr val="dk1"/>
              </a:solidFill>
              <a:latin typeface="Inter"/>
              <a:ea typeface="Inter"/>
              <a:cs typeface="Inter"/>
              <a:sym typeface="Inter"/>
            </a:endParaRPr>
          </a:p>
        </p:txBody>
      </p:sp>
      <p:sp>
        <p:nvSpPr>
          <p:cNvPr id="424" name="Google Shape;424;p25"/>
          <p:cNvSpPr/>
          <p:nvPr/>
        </p:nvSpPr>
        <p:spPr>
          <a:xfrm>
            <a:off x="534924" y="1234440"/>
            <a:ext cx="2948940" cy="3127248"/>
          </a:xfrm>
          <a:prstGeom prst="roundRect">
            <a:avLst>
              <a:gd name="adj" fmla="val 2791"/>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5" name="Google Shape;425;p25"/>
          <p:cNvSpPr/>
          <p:nvPr/>
        </p:nvSpPr>
        <p:spPr>
          <a:xfrm>
            <a:off x="754380" y="1440180"/>
            <a:ext cx="1783080" cy="2057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300"/>
              <a:buFont typeface="Inter"/>
              <a:buNone/>
            </a:pPr>
            <a:r>
              <a:rPr lang="en" sz="1300" b="1" i="0" u="none" strike="noStrike" cap="none">
                <a:solidFill>
                  <a:srgbClr val="122637"/>
                </a:solidFill>
                <a:latin typeface="Inter"/>
                <a:ea typeface="Inter"/>
                <a:cs typeface="Inter"/>
                <a:sym typeface="Inter"/>
              </a:rPr>
              <a:t>Example login event</a:t>
            </a:r>
            <a:endParaRPr sz="1300" b="0" i="0" u="none" strike="noStrike" cap="none">
              <a:solidFill>
                <a:schemeClr val="dk1"/>
              </a:solidFill>
              <a:latin typeface="Inter"/>
              <a:ea typeface="Inter"/>
              <a:cs typeface="Inter"/>
              <a:sym typeface="Inter"/>
            </a:endParaRPr>
          </a:p>
        </p:txBody>
      </p:sp>
      <p:sp>
        <p:nvSpPr>
          <p:cNvPr id="426" name="Google Shape;426;p25"/>
          <p:cNvSpPr/>
          <p:nvPr/>
        </p:nvSpPr>
        <p:spPr>
          <a:xfrm>
            <a:off x="754380" y="179679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Country</a:t>
            </a:r>
            <a:endParaRPr sz="700" b="0" i="0" u="none" strike="noStrike" cap="none">
              <a:solidFill>
                <a:schemeClr val="dk1"/>
              </a:solidFill>
              <a:latin typeface="Inter"/>
              <a:ea typeface="Inter"/>
              <a:cs typeface="Inter"/>
              <a:sym typeface="Inter"/>
            </a:endParaRPr>
          </a:p>
        </p:txBody>
      </p:sp>
      <p:sp>
        <p:nvSpPr>
          <p:cNvPr id="427" name="Google Shape;427;p25"/>
          <p:cNvSpPr/>
          <p:nvPr/>
        </p:nvSpPr>
        <p:spPr>
          <a:xfrm>
            <a:off x="1755648" y="179679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US</a:t>
            </a:r>
            <a:endParaRPr sz="700" b="0" i="0" u="none" strike="noStrike" cap="none">
              <a:solidFill>
                <a:schemeClr val="dk1"/>
              </a:solidFill>
              <a:latin typeface="Inter"/>
              <a:ea typeface="Inter"/>
              <a:cs typeface="Inter"/>
              <a:sym typeface="Inter"/>
            </a:endParaRPr>
          </a:p>
        </p:txBody>
      </p:sp>
      <p:cxnSp>
        <p:nvCxnSpPr>
          <p:cNvPr id="428" name="Google Shape;428;p25"/>
          <p:cNvCxnSpPr/>
          <p:nvPr/>
        </p:nvCxnSpPr>
        <p:spPr>
          <a:xfrm>
            <a:off x="754380" y="2002536"/>
            <a:ext cx="2345436" cy="0"/>
          </a:xfrm>
          <a:prstGeom prst="straightConnector1">
            <a:avLst/>
          </a:prstGeom>
          <a:noFill/>
          <a:ln w="9525" cap="flat" cmpd="sng">
            <a:solidFill>
              <a:srgbClr val="E4EBF0"/>
            </a:solidFill>
            <a:prstDash val="solid"/>
            <a:round/>
            <a:headEnd type="none" w="sm" len="sm"/>
            <a:tailEnd type="none" w="sm" len="sm"/>
          </a:ln>
        </p:spPr>
      </p:cxnSp>
      <p:sp>
        <p:nvSpPr>
          <p:cNvPr id="429" name="Google Shape;429;p25"/>
          <p:cNvSpPr/>
          <p:nvPr/>
        </p:nvSpPr>
        <p:spPr>
          <a:xfrm>
            <a:off x="754380" y="210540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Region</a:t>
            </a:r>
            <a:endParaRPr sz="700" b="0" i="0" u="none" strike="noStrike" cap="none">
              <a:solidFill>
                <a:schemeClr val="dk1"/>
              </a:solidFill>
              <a:latin typeface="Inter"/>
              <a:ea typeface="Inter"/>
              <a:cs typeface="Inter"/>
              <a:sym typeface="Inter"/>
            </a:endParaRPr>
          </a:p>
        </p:txBody>
      </p:sp>
      <p:sp>
        <p:nvSpPr>
          <p:cNvPr id="430" name="Google Shape;430;p25"/>
          <p:cNvSpPr/>
          <p:nvPr/>
        </p:nvSpPr>
        <p:spPr>
          <a:xfrm>
            <a:off x="1755648" y="210540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New York</a:t>
            </a:r>
            <a:endParaRPr sz="700" b="0" i="0" u="none" strike="noStrike" cap="none">
              <a:solidFill>
                <a:schemeClr val="dk1"/>
              </a:solidFill>
              <a:latin typeface="Inter"/>
              <a:ea typeface="Inter"/>
              <a:cs typeface="Inter"/>
              <a:sym typeface="Inter"/>
            </a:endParaRPr>
          </a:p>
        </p:txBody>
      </p:sp>
      <p:cxnSp>
        <p:nvCxnSpPr>
          <p:cNvPr id="431" name="Google Shape;431;p25"/>
          <p:cNvCxnSpPr/>
          <p:nvPr/>
        </p:nvCxnSpPr>
        <p:spPr>
          <a:xfrm>
            <a:off x="754380" y="2311146"/>
            <a:ext cx="2345436" cy="0"/>
          </a:xfrm>
          <a:prstGeom prst="straightConnector1">
            <a:avLst/>
          </a:prstGeom>
          <a:noFill/>
          <a:ln w="9525" cap="flat" cmpd="sng">
            <a:solidFill>
              <a:srgbClr val="E4EBF0"/>
            </a:solidFill>
            <a:prstDash val="solid"/>
            <a:round/>
            <a:headEnd type="none" w="sm" len="sm"/>
            <a:tailEnd type="none" w="sm" len="sm"/>
          </a:ln>
        </p:spPr>
      </p:cxnSp>
      <p:sp>
        <p:nvSpPr>
          <p:cNvPr id="432" name="Google Shape;432;p25"/>
          <p:cNvSpPr/>
          <p:nvPr/>
        </p:nvSpPr>
        <p:spPr>
          <a:xfrm>
            <a:off x="754380" y="241401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Device</a:t>
            </a:r>
            <a:endParaRPr sz="700" b="0" i="0" u="none" strike="noStrike" cap="none">
              <a:solidFill>
                <a:schemeClr val="dk1"/>
              </a:solidFill>
              <a:latin typeface="Inter"/>
              <a:ea typeface="Inter"/>
              <a:cs typeface="Inter"/>
              <a:sym typeface="Inter"/>
            </a:endParaRPr>
          </a:p>
        </p:txBody>
      </p:sp>
      <p:sp>
        <p:nvSpPr>
          <p:cNvPr id="433" name="Google Shape;433;p25"/>
          <p:cNvSpPr/>
          <p:nvPr/>
        </p:nvSpPr>
        <p:spPr>
          <a:xfrm>
            <a:off x="1755648" y="241401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Desktop</a:t>
            </a:r>
            <a:endParaRPr sz="700" b="0" i="0" u="none" strike="noStrike" cap="none">
              <a:solidFill>
                <a:schemeClr val="dk1"/>
              </a:solidFill>
              <a:latin typeface="Inter"/>
              <a:ea typeface="Inter"/>
              <a:cs typeface="Inter"/>
              <a:sym typeface="Inter"/>
            </a:endParaRPr>
          </a:p>
        </p:txBody>
      </p:sp>
      <p:cxnSp>
        <p:nvCxnSpPr>
          <p:cNvPr id="434" name="Google Shape;434;p25"/>
          <p:cNvCxnSpPr/>
          <p:nvPr/>
        </p:nvCxnSpPr>
        <p:spPr>
          <a:xfrm>
            <a:off x="754380" y="2619756"/>
            <a:ext cx="2345436" cy="0"/>
          </a:xfrm>
          <a:prstGeom prst="straightConnector1">
            <a:avLst/>
          </a:prstGeom>
          <a:noFill/>
          <a:ln w="9525" cap="flat" cmpd="sng">
            <a:solidFill>
              <a:srgbClr val="E4EBF0"/>
            </a:solidFill>
            <a:prstDash val="solid"/>
            <a:round/>
            <a:headEnd type="none" w="sm" len="sm"/>
            <a:tailEnd type="none" w="sm" len="sm"/>
          </a:ln>
        </p:spPr>
      </p:cxnSp>
      <p:sp>
        <p:nvSpPr>
          <p:cNvPr id="435" name="Google Shape;435;p25"/>
          <p:cNvSpPr/>
          <p:nvPr/>
        </p:nvSpPr>
        <p:spPr>
          <a:xfrm>
            <a:off x="754380" y="272262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OS / Browser</a:t>
            </a:r>
            <a:endParaRPr sz="700" b="0" i="0" u="none" strike="noStrike" cap="none">
              <a:solidFill>
                <a:schemeClr val="dk1"/>
              </a:solidFill>
              <a:latin typeface="Inter"/>
              <a:ea typeface="Inter"/>
              <a:cs typeface="Inter"/>
              <a:sym typeface="Inter"/>
            </a:endParaRPr>
          </a:p>
        </p:txBody>
      </p:sp>
      <p:sp>
        <p:nvSpPr>
          <p:cNvPr id="436" name="Google Shape;436;p25"/>
          <p:cNvSpPr/>
          <p:nvPr/>
        </p:nvSpPr>
        <p:spPr>
          <a:xfrm>
            <a:off x="1755648" y="272262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Windows 10 / Chrome</a:t>
            </a:r>
            <a:endParaRPr sz="700" b="0" i="0" u="none" strike="noStrike" cap="none">
              <a:solidFill>
                <a:schemeClr val="dk1"/>
              </a:solidFill>
              <a:latin typeface="Inter"/>
              <a:ea typeface="Inter"/>
              <a:cs typeface="Inter"/>
              <a:sym typeface="Inter"/>
            </a:endParaRPr>
          </a:p>
        </p:txBody>
      </p:sp>
      <p:cxnSp>
        <p:nvCxnSpPr>
          <p:cNvPr id="437" name="Google Shape;437;p25"/>
          <p:cNvCxnSpPr/>
          <p:nvPr/>
        </p:nvCxnSpPr>
        <p:spPr>
          <a:xfrm>
            <a:off x="754380" y="2928366"/>
            <a:ext cx="2345436" cy="0"/>
          </a:xfrm>
          <a:prstGeom prst="straightConnector1">
            <a:avLst/>
          </a:prstGeom>
          <a:noFill/>
          <a:ln w="9525" cap="flat" cmpd="sng">
            <a:solidFill>
              <a:srgbClr val="E4EBF0"/>
            </a:solidFill>
            <a:prstDash val="solid"/>
            <a:round/>
            <a:headEnd type="none" w="sm" len="sm"/>
            <a:tailEnd type="none" w="sm" len="sm"/>
          </a:ln>
        </p:spPr>
      </p:cxnSp>
      <p:sp>
        <p:nvSpPr>
          <p:cNvPr id="438" name="Google Shape;438;p25"/>
          <p:cNvSpPr/>
          <p:nvPr/>
        </p:nvSpPr>
        <p:spPr>
          <a:xfrm>
            <a:off x="754380" y="303123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Login time</a:t>
            </a:r>
            <a:endParaRPr sz="700" b="0" i="0" u="none" strike="noStrike" cap="none">
              <a:solidFill>
                <a:schemeClr val="dk1"/>
              </a:solidFill>
              <a:latin typeface="Inter"/>
              <a:ea typeface="Inter"/>
              <a:cs typeface="Inter"/>
              <a:sym typeface="Inter"/>
            </a:endParaRPr>
          </a:p>
        </p:txBody>
      </p:sp>
      <p:sp>
        <p:nvSpPr>
          <p:cNvPr id="439" name="Google Shape;439;p25"/>
          <p:cNvSpPr/>
          <p:nvPr/>
        </p:nvSpPr>
        <p:spPr>
          <a:xfrm>
            <a:off x="1755648" y="303123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2:15 AM</a:t>
            </a:r>
            <a:endParaRPr sz="700" b="0" i="0" u="none" strike="noStrike" cap="none">
              <a:solidFill>
                <a:schemeClr val="dk1"/>
              </a:solidFill>
              <a:latin typeface="Inter"/>
              <a:ea typeface="Inter"/>
              <a:cs typeface="Inter"/>
              <a:sym typeface="Inter"/>
            </a:endParaRPr>
          </a:p>
        </p:txBody>
      </p:sp>
      <p:cxnSp>
        <p:nvCxnSpPr>
          <p:cNvPr id="440" name="Google Shape;440;p25"/>
          <p:cNvCxnSpPr/>
          <p:nvPr/>
        </p:nvCxnSpPr>
        <p:spPr>
          <a:xfrm>
            <a:off x="754380" y="3236976"/>
            <a:ext cx="2345436" cy="0"/>
          </a:xfrm>
          <a:prstGeom prst="straightConnector1">
            <a:avLst/>
          </a:prstGeom>
          <a:noFill/>
          <a:ln w="9525" cap="flat" cmpd="sng">
            <a:solidFill>
              <a:srgbClr val="E4EBF0"/>
            </a:solidFill>
            <a:prstDash val="solid"/>
            <a:round/>
            <a:headEnd type="none" w="sm" len="sm"/>
            <a:tailEnd type="none" w="sm" len="sm"/>
          </a:ln>
        </p:spPr>
      </p:cxnSp>
      <p:sp>
        <p:nvSpPr>
          <p:cNvPr id="441" name="Google Shape;441;p25"/>
          <p:cNvSpPr/>
          <p:nvPr/>
        </p:nvSpPr>
        <p:spPr>
          <a:xfrm>
            <a:off x="754380" y="333984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RTT</a:t>
            </a:r>
            <a:endParaRPr sz="700" b="0" i="0" u="none" strike="noStrike" cap="none">
              <a:solidFill>
                <a:schemeClr val="dk1"/>
              </a:solidFill>
              <a:latin typeface="Inter"/>
              <a:ea typeface="Inter"/>
              <a:cs typeface="Inter"/>
              <a:sym typeface="Inter"/>
            </a:endParaRPr>
          </a:p>
        </p:txBody>
      </p:sp>
      <p:sp>
        <p:nvSpPr>
          <p:cNvPr id="442" name="Google Shape;442;p25"/>
          <p:cNvSpPr/>
          <p:nvPr/>
        </p:nvSpPr>
        <p:spPr>
          <a:xfrm>
            <a:off x="1755648" y="333984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650 ms</a:t>
            </a:r>
            <a:endParaRPr sz="700" b="0" i="0" u="none" strike="noStrike" cap="none">
              <a:solidFill>
                <a:schemeClr val="dk1"/>
              </a:solidFill>
              <a:latin typeface="Inter"/>
              <a:ea typeface="Inter"/>
              <a:cs typeface="Inter"/>
              <a:sym typeface="Inter"/>
            </a:endParaRPr>
          </a:p>
        </p:txBody>
      </p:sp>
      <p:cxnSp>
        <p:nvCxnSpPr>
          <p:cNvPr id="443" name="Google Shape;443;p25"/>
          <p:cNvCxnSpPr/>
          <p:nvPr/>
        </p:nvCxnSpPr>
        <p:spPr>
          <a:xfrm>
            <a:off x="754380" y="3545586"/>
            <a:ext cx="2345436" cy="0"/>
          </a:xfrm>
          <a:prstGeom prst="straightConnector1">
            <a:avLst/>
          </a:prstGeom>
          <a:noFill/>
          <a:ln w="9525" cap="flat" cmpd="sng">
            <a:solidFill>
              <a:srgbClr val="E4EBF0"/>
            </a:solidFill>
            <a:prstDash val="solid"/>
            <a:round/>
            <a:headEnd type="none" w="sm" len="sm"/>
            <a:tailEnd type="none" w="sm" len="sm"/>
          </a:ln>
        </p:spPr>
      </p:cxnSp>
      <p:sp>
        <p:nvSpPr>
          <p:cNvPr id="444" name="Google Shape;444;p25"/>
          <p:cNvSpPr/>
          <p:nvPr/>
        </p:nvSpPr>
        <p:spPr>
          <a:xfrm>
            <a:off x="754380" y="364845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Login success</a:t>
            </a:r>
            <a:endParaRPr sz="700" b="0" i="0" u="none" strike="noStrike" cap="none">
              <a:solidFill>
                <a:schemeClr val="dk1"/>
              </a:solidFill>
              <a:latin typeface="Inter"/>
              <a:ea typeface="Inter"/>
              <a:cs typeface="Inter"/>
              <a:sym typeface="Inter"/>
            </a:endParaRPr>
          </a:p>
        </p:txBody>
      </p:sp>
      <p:sp>
        <p:nvSpPr>
          <p:cNvPr id="445" name="Google Shape;445;p25"/>
          <p:cNvSpPr/>
          <p:nvPr/>
        </p:nvSpPr>
        <p:spPr>
          <a:xfrm>
            <a:off x="1755648" y="3648456"/>
            <a:ext cx="14401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700"/>
              <a:buFont typeface="Inter"/>
              <a:buNone/>
            </a:pPr>
            <a:r>
              <a:rPr lang="en" sz="700" b="0" i="0" u="none" strike="noStrike" cap="none">
                <a:solidFill>
                  <a:srgbClr val="122637"/>
                </a:solidFill>
                <a:latin typeface="Inter"/>
                <a:ea typeface="Inter"/>
                <a:cs typeface="Inter"/>
                <a:sym typeface="Inter"/>
              </a:rPr>
              <a:t>True</a:t>
            </a:r>
            <a:endParaRPr sz="700" b="0" i="0" u="none" strike="noStrike" cap="none">
              <a:solidFill>
                <a:schemeClr val="dk1"/>
              </a:solidFill>
              <a:latin typeface="Inter"/>
              <a:ea typeface="Inter"/>
              <a:cs typeface="Inter"/>
              <a:sym typeface="Inter"/>
            </a:endParaRPr>
          </a:p>
        </p:txBody>
      </p:sp>
      <p:sp>
        <p:nvSpPr>
          <p:cNvPr id="446" name="Google Shape;446;p25"/>
          <p:cNvSpPr/>
          <p:nvPr/>
        </p:nvSpPr>
        <p:spPr>
          <a:xfrm>
            <a:off x="3669030" y="2221992"/>
            <a:ext cx="562356" cy="809244"/>
          </a:xfrm>
          <a:prstGeom prst="chevron">
            <a:avLst>
              <a:gd name="adj" fmla="val 50000"/>
            </a:avLst>
          </a:prstGeom>
          <a:solidFill>
            <a:srgbClr val="D7E6EE"/>
          </a:solidFill>
          <a:ln w="12700" cap="flat" cmpd="sng">
            <a:solidFill>
              <a:srgbClr val="D7E6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7" name="Google Shape;447;p25"/>
          <p:cNvSpPr/>
          <p:nvPr/>
        </p:nvSpPr>
        <p:spPr>
          <a:xfrm>
            <a:off x="4354830" y="1659636"/>
            <a:ext cx="1645920" cy="2002536"/>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8" name="Google Shape;448;p25"/>
          <p:cNvSpPr/>
          <p:nvPr/>
        </p:nvSpPr>
        <p:spPr>
          <a:xfrm>
            <a:off x="4999482" y="1940814"/>
            <a:ext cx="370332" cy="370332"/>
          </a:xfrm>
          <a:prstGeom prst="ellipse">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cxnSp>
        <p:nvCxnSpPr>
          <p:cNvPr id="449" name="Google Shape;449;p25"/>
          <p:cNvCxnSpPr/>
          <p:nvPr/>
        </p:nvCxnSpPr>
        <p:spPr>
          <a:xfrm>
            <a:off x="5184648" y="2023110"/>
            <a:ext cx="0" cy="198882"/>
          </a:xfrm>
          <a:prstGeom prst="straightConnector1">
            <a:avLst/>
          </a:prstGeom>
          <a:noFill/>
          <a:ln w="13950" cap="flat" cmpd="sng">
            <a:solidFill>
              <a:srgbClr val="22D3A6"/>
            </a:solidFill>
            <a:prstDash val="solid"/>
            <a:round/>
            <a:headEnd type="none" w="sm" len="sm"/>
            <a:tailEnd type="none" w="sm" len="sm"/>
          </a:ln>
        </p:spPr>
      </p:cxnSp>
      <p:cxnSp>
        <p:nvCxnSpPr>
          <p:cNvPr id="450" name="Google Shape;450;p25"/>
          <p:cNvCxnSpPr/>
          <p:nvPr/>
        </p:nvCxnSpPr>
        <p:spPr>
          <a:xfrm rot="10800000" flipH="1">
            <a:off x="5102352" y="2064258"/>
            <a:ext cx="82296" cy="48006"/>
          </a:xfrm>
          <a:prstGeom prst="straightConnector1">
            <a:avLst/>
          </a:prstGeom>
          <a:noFill/>
          <a:ln w="13950" cap="flat" cmpd="sng">
            <a:solidFill>
              <a:srgbClr val="22D3A6"/>
            </a:solidFill>
            <a:prstDash val="solid"/>
            <a:round/>
            <a:headEnd type="none" w="sm" len="sm"/>
            <a:tailEnd type="none" w="sm" len="sm"/>
          </a:ln>
        </p:spPr>
      </p:cxnSp>
      <p:cxnSp>
        <p:nvCxnSpPr>
          <p:cNvPr id="451" name="Google Shape;451;p25"/>
          <p:cNvCxnSpPr/>
          <p:nvPr/>
        </p:nvCxnSpPr>
        <p:spPr>
          <a:xfrm rot="10800000" flipH="1">
            <a:off x="5184648" y="2064258"/>
            <a:ext cx="82296" cy="48006"/>
          </a:xfrm>
          <a:prstGeom prst="straightConnector1">
            <a:avLst/>
          </a:prstGeom>
          <a:noFill/>
          <a:ln w="13950" cap="flat" cmpd="sng">
            <a:solidFill>
              <a:srgbClr val="22D3A6"/>
            </a:solidFill>
            <a:prstDash val="solid"/>
            <a:round/>
            <a:headEnd type="none" w="sm" len="sm"/>
            <a:tailEnd type="none" w="sm" len="sm"/>
          </a:ln>
        </p:spPr>
      </p:cxnSp>
      <p:sp>
        <p:nvSpPr>
          <p:cNvPr id="452" name="Google Shape;452;p25"/>
          <p:cNvSpPr/>
          <p:nvPr/>
        </p:nvSpPr>
        <p:spPr>
          <a:xfrm>
            <a:off x="5074920" y="2023110"/>
            <a:ext cx="68580" cy="6858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3" name="Google Shape;453;p25"/>
          <p:cNvSpPr/>
          <p:nvPr/>
        </p:nvSpPr>
        <p:spPr>
          <a:xfrm>
            <a:off x="5232654" y="2023110"/>
            <a:ext cx="68580" cy="6858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4" name="Google Shape;454;p25"/>
          <p:cNvSpPr/>
          <p:nvPr/>
        </p:nvSpPr>
        <p:spPr>
          <a:xfrm>
            <a:off x="5150358" y="2194560"/>
            <a:ext cx="68580" cy="6858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5" name="Google Shape;455;p25"/>
          <p:cNvSpPr/>
          <p:nvPr/>
        </p:nvSpPr>
        <p:spPr>
          <a:xfrm>
            <a:off x="4608576" y="2482596"/>
            <a:ext cx="1165860" cy="1920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Inter"/>
              <a:buNone/>
            </a:pPr>
            <a:r>
              <a:rPr lang="en" sz="1200" b="1" i="0" u="none" strike="noStrike" cap="none">
                <a:solidFill>
                  <a:srgbClr val="FFFFFF"/>
                </a:solidFill>
                <a:latin typeface="Inter"/>
                <a:ea typeface="Inter"/>
                <a:cs typeface="Inter"/>
                <a:sym typeface="Inter"/>
              </a:rPr>
              <a:t>Saved model</a:t>
            </a:r>
            <a:endParaRPr sz="1200" b="0" i="0" u="none" strike="noStrike" cap="none">
              <a:solidFill>
                <a:schemeClr val="dk1"/>
              </a:solidFill>
              <a:latin typeface="Inter"/>
              <a:ea typeface="Inter"/>
              <a:cs typeface="Inter"/>
              <a:sym typeface="Inter"/>
            </a:endParaRPr>
          </a:p>
        </p:txBody>
      </p:sp>
      <p:sp>
        <p:nvSpPr>
          <p:cNvPr id="456" name="Google Shape;456;p25"/>
          <p:cNvSpPr/>
          <p:nvPr/>
        </p:nvSpPr>
        <p:spPr>
          <a:xfrm>
            <a:off x="4539996" y="2811780"/>
            <a:ext cx="1268730"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DD4DF"/>
              </a:buClr>
              <a:buSzPts val="600"/>
              <a:buFont typeface="Arial"/>
              <a:buNone/>
            </a:pPr>
            <a:r>
              <a:rPr lang="en" sz="600" b="0" i="0" u="none" strike="noStrike" cap="none">
                <a:solidFill>
                  <a:srgbClr val="BDD4DF"/>
                </a:solidFill>
                <a:latin typeface="Arial"/>
                <a:ea typeface="Arial"/>
                <a:cs typeface="Arial"/>
                <a:sym typeface="Arial"/>
              </a:rPr>
              <a:t>login_threat_model_</a:t>
            </a:r>
            <a:endParaRPr sz="600" b="0" i="0" u="none" strike="noStrike" cap="none">
              <a:solidFill>
                <a:schemeClr val="dk1"/>
              </a:solidFill>
              <a:latin typeface="Inter"/>
              <a:ea typeface="Inter"/>
              <a:cs typeface="Inter"/>
              <a:sym typeface="Inter"/>
            </a:endParaRPr>
          </a:p>
          <a:p>
            <a:pPr marL="0" marR="0" lvl="0" indent="0" algn="ctr" rtl="0">
              <a:spcBef>
                <a:spcPts val="0"/>
              </a:spcBef>
              <a:spcAft>
                <a:spcPts val="0"/>
              </a:spcAft>
              <a:buClr>
                <a:srgbClr val="BDD4DF"/>
              </a:buClr>
              <a:buSzPts val="600"/>
              <a:buFont typeface="Arial"/>
              <a:buNone/>
            </a:pPr>
            <a:r>
              <a:rPr lang="en" sz="600" b="0" i="0" u="none" strike="noStrike" cap="none">
                <a:solidFill>
                  <a:srgbClr val="BDD4DF"/>
                </a:solidFill>
                <a:latin typeface="Arial"/>
                <a:ea typeface="Arial"/>
                <a:cs typeface="Arial"/>
                <a:sym typeface="Arial"/>
              </a:rPr>
              <a:t>balanced.joblib</a:t>
            </a:r>
            <a:endParaRPr sz="600" b="0" i="0" u="none" strike="noStrike" cap="none">
              <a:solidFill>
                <a:schemeClr val="dk1"/>
              </a:solidFill>
              <a:latin typeface="Inter"/>
              <a:ea typeface="Inter"/>
              <a:cs typeface="Inter"/>
              <a:sym typeface="Inter"/>
            </a:endParaRPr>
          </a:p>
        </p:txBody>
      </p:sp>
      <p:sp>
        <p:nvSpPr>
          <p:cNvPr id="457" name="Google Shape;457;p25"/>
          <p:cNvSpPr/>
          <p:nvPr/>
        </p:nvSpPr>
        <p:spPr>
          <a:xfrm>
            <a:off x="6124194" y="2221992"/>
            <a:ext cx="562356" cy="809244"/>
          </a:xfrm>
          <a:prstGeom prst="chevron">
            <a:avLst>
              <a:gd name="adj" fmla="val 50000"/>
            </a:avLst>
          </a:prstGeom>
          <a:solidFill>
            <a:srgbClr val="D7E6EE"/>
          </a:solidFill>
          <a:ln w="12700" cap="flat" cmpd="sng">
            <a:solidFill>
              <a:srgbClr val="D7E6EE"/>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8" name="Google Shape;458;p25"/>
          <p:cNvSpPr/>
          <p:nvPr/>
        </p:nvSpPr>
        <p:spPr>
          <a:xfrm>
            <a:off x="6823710" y="1357884"/>
            <a:ext cx="1769364" cy="973836"/>
          </a:xfrm>
          <a:prstGeom prst="roundRect">
            <a:avLst>
              <a:gd name="adj" fmla="val 16667"/>
            </a:avLst>
          </a:prstGeom>
          <a:solidFill>
            <a:srgbClr val="E5FAF4"/>
          </a:solidFill>
          <a:ln w="10150" cap="flat" cmpd="sng">
            <a:solidFill>
              <a:srgbClr val="E5FAF4"/>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9" name="Google Shape;459;p25"/>
          <p:cNvSpPr/>
          <p:nvPr/>
        </p:nvSpPr>
        <p:spPr>
          <a:xfrm>
            <a:off x="7015734" y="1563624"/>
            <a:ext cx="137160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Risk probability</a:t>
            </a:r>
            <a:endParaRPr sz="700" b="0" i="0" u="none" strike="noStrike" cap="none">
              <a:solidFill>
                <a:schemeClr val="dk1"/>
              </a:solidFill>
              <a:latin typeface="Inter"/>
              <a:ea typeface="Inter"/>
              <a:cs typeface="Inter"/>
              <a:sym typeface="Inter"/>
            </a:endParaRPr>
          </a:p>
        </p:txBody>
      </p:sp>
      <p:sp>
        <p:nvSpPr>
          <p:cNvPr id="460" name="Google Shape;460;p25"/>
          <p:cNvSpPr/>
          <p:nvPr/>
        </p:nvSpPr>
        <p:spPr>
          <a:xfrm>
            <a:off x="6995160" y="1844802"/>
            <a:ext cx="1426464" cy="2468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1400"/>
              <a:buFont typeface="Inter"/>
              <a:buNone/>
            </a:pPr>
            <a:r>
              <a:rPr lang="en" sz="1400" b="1" i="0" u="none" strike="noStrike" cap="none">
                <a:solidFill>
                  <a:srgbClr val="22D3A6"/>
                </a:solidFill>
                <a:latin typeface="Inter"/>
                <a:ea typeface="Inter"/>
                <a:cs typeface="Inter"/>
                <a:sym typeface="Inter"/>
              </a:rPr>
              <a:t>0.00 – 1.00</a:t>
            </a:r>
            <a:endParaRPr sz="1400" b="0" i="0" u="none" strike="noStrike" cap="none">
              <a:solidFill>
                <a:schemeClr val="dk1"/>
              </a:solidFill>
              <a:latin typeface="Inter"/>
              <a:ea typeface="Inter"/>
              <a:cs typeface="Inter"/>
              <a:sym typeface="Inter"/>
            </a:endParaRPr>
          </a:p>
        </p:txBody>
      </p:sp>
      <p:sp>
        <p:nvSpPr>
          <p:cNvPr id="461" name="Google Shape;461;p25"/>
          <p:cNvSpPr/>
          <p:nvPr/>
        </p:nvSpPr>
        <p:spPr>
          <a:xfrm>
            <a:off x="6823710" y="2571750"/>
            <a:ext cx="1769364" cy="973836"/>
          </a:xfrm>
          <a:prstGeom prst="roundRect">
            <a:avLst>
              <a:gd name="adj" fmla="val 16667"/>
            </a:avLst>
          </a:prstGeom>
          <a:solidFill>
            <a:srgbClr val="FFF0F0"/>
          </a:solidFill>
          <a:ln w="10150" cap="flat" cmpd="sng">
            <a:solidFill>
              <a:srgbClr val="FFF0F0"/>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2" name="Google Shape;462;p25"/>
          <p:cNvSpPr/>
          <p:nvPr/>
        </p:nvSpPr>
        <p:spPr>
          <a:xfrm>
            <a:off x="7015734" y="2770632"/>
            <a:ext cx="1371600" cy="1508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Final label</a:t>
            </a:r>
            <a:endParaRPr sz="700" b="0" i="0" u="none" strike="noStrike" cap="none">
              <a:solidFill>
                <a:schemeClr val="dk1"/>
              </a:solidFill>
              <a:latin typeface="Inter"/>
              <a:ea typeface="Inter"/>
              <a:cs typeface="Inter"/>
              <a:sym typeface="Inter"/>
            </a:endParaRPr>
          </a:p>
        </p:txBody>
      </p:sp>
      <p:sp>
        <p:nvSpPr>
          <p:cNvPr id="463" name="Google Shape;463;p25"/>
          <p:cNvSpPr/>
          <p:nvPr/>
        </p:nvSpPr>
        <p:spPr>
          <a:xfrm>
            <a:off x="6926580" y="3044952"/>
            <a:ext cx="1563624" cy="2606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6B6B"/>
              </a:buClr>
              <a:buSzPts val="1100"/>
              <a:buFont typeface="Inter"/>
              <a:buNone/>
            </a:pPr>
            <a:r>
              <a:rPr lang="en" sz="1100" b="1" i="0" u="none" strike="noStrike" cap="none">
                <a:solidFill>
                  <a:srgbClr val="FF6B6B"/>
                </a:solidFill>
                <a:latin typeface="Inter"/>
                <a:ea typeface="Inter"/>
                <a:cs typeface="Inter"/>
                <a:sym typeface="Inter"/>
              </a:rPr>
              <a:t>Normal or Suspicious</a:t>
            </a:r>
            <a:endParaRPr sz="1100" b="0" i="0" u="none" strike="noStrike" cap="none">
              <a:solidFill>
                <a:schemeClr val="dk1"/>
              </a:solidFill>
              <a:latin typeface="Inter"/>
              <a:ea typeface="Inter"/>
              <a:cs typeface="Inter"/>
              <a:sym typeface="Inter"/>
            </a:endParaRPr>
          </a:p>
        </p:txBody>
      </p:sp>
      <p:sp>
        <p:nvSpPr>
          <p:cNvPr id="464" name="Google Shape;464;p25"/>
          <p:cNvSpPr/>
          <p:nvPr/>
        </p:nvSpPr>
        <p:spPr>
          <a:xfrm>
            <a:off x="4135374" y="3998214"/>
            <a:ext cx="101498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700"/>
              <a:buFont typeface="Inter"/>
              <a:buNone/>
            </a:pPr>
            <a:r>
              <a:rPr lang="en" sz="700" b="1" i="0" u="none" strike="noStrike" cap="none">
                <a:solidFill>
                  <a:srgbClr val="6B7F90"/>
                </a:solidFill>
                <a:latin typeface="Inter"/>
                <a:ea typeface="Inter"/>
                <a:cs typeface="Inter"/>
                <a:sym typeface="Inter"/>
              </a:rPr>
              <a:t>Run the demo with:</a:t>
            </a:r>
            <a:endParaRPr sz="700" b="0" i="0" u="none" strike="noStrike" cap="none">
              <a:solidFill>
                <a:schemeClr val="dk1"/>
              </a:solidFill>
              <a:latin typeface="Inter"/>
              <a:ea typeface="Inter"/>
              <a:cs typeface="Inter"/>
              <a:sym typeface="Inter"/>
            </a:endParaRPr>
          </a:p>
        </p:txBody>
      </p:sp>
      <p:sp>
        <p:nvSpPr>
          <p:cNvPr id="465" name="Google Shape;465;p25"/>
          <p:cNvSpPr/>
          <p:nvPr/>
        </p:nvSpPr>
        <p:spPr>
          <a:xfrm>
            <a:off x="5150358" y="3909060"/>
            <a:ext cx="2948940" cy="356616"/>
          </a:xfrm>
          <a:prstGeom prst="roundRect">
            <a:avLst>
              <a:gd name="adj" fmla="val 16667"/>
            </a:avLst>
          </a:prstGeom>
          <a:solidFill>
            <a:srgbClr val="071B2A"/>
          </a:solidFill>
          <a:ln w="12700" cap="flat" cmpd="sng">
            <a:solidFill>
              <a:srgbClr val="071B2A"/>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6" name="Google Shape;466;p25"/>
          <p:cNvSpPr/>
          <p:nvPr/>
        </p:nvSpPr>
        <p:spPr>
          <a:xfrm>
            <a:off x="5294376" y="4025646"/>
            <a:ext cx="2660904"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Arial"/>
              <a:buNone/>
            </a:pPr>
            <a:r>
              <a:rPr lang="en" sz="700" b="0" i="0" u="none" strike="noStrike" cap="none">
                <a:solidFill>
                  <a:srgbClr val="FFFFFF"/>
                </a:solidFill>
                <a:latin typeface="Arial"/>
                <a:ea typeface="Arial"/>
                <a:cs typeface="Arial"/>
                <a:sym typeface="Arial"/>
              </a:rPr>
              <a:t>python src/predict_one_balanced.py</a:t>
            </a:r>
            <a:endParaRPr sz="700" b="0" i="0" u="none" strike="noStrike" cap="none">
              <a:solidFill>
                <a:schemeClr val="dk1"/>
              </a:solidFill>
              <a:latin typeface="Inter"/>
              <a:ea typeface="Inter"/>
              <a:cs typeface="Inter"/>
              <a:sym typeface="Inter"/>
            </a:endParaRPr>
          </a:p>
        </p:txBody>
      </p:sp>
      <p:sp>
        <p:nvSpPr>
          <p:cNvPr id="467" name="Google Shape;467;p25"/>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10</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6"/>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Limitations and next steps</a:t>
            </a:r>
            <a:endParaRPr sz="2100" b="0" i="0" u="none" strike="noStrike" cap="none">
              <a:solidFill>
                <a:schemeClr val="dk1"/>
              </a:solidFill>
              <a:latin typeface="Inter"/>
              <a:ea typeface="Inter"/>
              <a:cs typeface="Inter"/>
              <a:sym typeface="Inter"/>
            </a:endParaRPr>
          </a:p>
        </p:txBody>
      </p:sp>
      <p:sp>
        <p:nvSpPr>
          <p:cNvPr id="474" name="Google Shape;474;p26"/>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The model is a strong prototype, but it is not yet a production security system.</a:t>
            </a:r>
            <a:endParaRPr sz="900" b="0" i="0" u="none" strike="noStrike" cap="none">
              <a:solidFill>
                <a:schemeClr val="dk1"/>
              </a:solidFill>
              <a:latin typeface="Inter"/>
              <a:ea typeface="Inter"/>
              <a:cs typeface="Inter"/>
              <a:sym typeface="Inter"/>
            </a:endParaRPr>
          </a:p>
        </p:txBody>
      </p:sp>
      <p:sp>
        <p:nvSpPr>
          <p:cNvPr id="475" name="Google Shape;475;p26"/>
          <p:cNvSpPr/>
          <p:nvPr/>
        </p:nvSpPr>
        <p:spPr>
          <a:xfrm>
            <a:off x="514350" y="1220724"/>
            <a:ext cx="4011930" cy="3236976"/>
          </a:xfrm>
          <a:prstGeom prst="roundRect">
            <a:avLst>
              <a:gd name="adj" fmla="val 2542"/>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6" name="Google Shape;476;p26"/>
          <p:cNvSpPr/>
          <p:nvPr/>
        </p:nvSpPr>
        <p:spPr>
          <a:xfrm>
            <a:off x="740664" y="1412748"/>
            <a:ext cx="1179576" cy="233172"/>
          </a:xfrm>
          <a:prstGeom prst="roundRect">
            <a:avLst>
              <a:gd name="adj" fmla="val 16667"/>
            </a:avLst>
          </a:prstGeom>
          <a:solidFill>
            <a:srgbClr val="FFF0F0"/>
          </a:solidFill>
          <a:ln w="12700" cap="flat" cmpd="sng">
            <a:solidFill>
              <a:srgbClr val="FFF0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7" name="Google Shape;477;p26"/>
          <p:cNvSpPr/>
          <p:nvPr/>
        </p:nvSpPr>
        <p:spPr>
          <a:xfrm>
            <a:off x="795528" y="1447038"/>
            <a:ext cx="1069848"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6B6B"/>
              </a:buClr>
              <a:buSzPts val="600"/>
              <a:buFont typeface="Inter"/>
              <a:buNone/>
            </a:pPr>
            <a:r>
              <a:rPr lang="en" sz="600" b="1" i="0" u="none" strike="noStrike" cap="none">
                <a:solidFill>
                  <a:srgbClr val="FF6B6B"/>
                </a:solidFill>
                <a:latin typeface="Inter"/>
                <a:ea typeface="Inter"/>
                <a:cs typeface="Inter"/>
                <a:sym typeface="Inter"/>
              </a:rPr>
              <a:t>CURRENT LIMITATIONS</a:t>
            </a:r>
            <a:endParaRPr sz="600" b="0" i="0" u="none" strike="noStrike" cap="none">
              <a:solidFill>
                <a:schemeClr val="dk1"/>
              </a:solidFill>
              <a:latin typeface="Inter"/>
              <a:ea typeface="Inter"/>
              <a:cs typeface="Inter"/>
              <a:sym typeface="Inter"/>
            </a:endParaRPr>
          </a:p>
        </p:txBody>
      </p:sp>
      <p:sp>
        <p:nvSpPr>
          <p:cNvPr id="478" name="Google Shape;478;p26"/>
          <p:cNvSpPr/>
          <p:nvPr/>
        </p:nvSpPr>
        <p:spPr>
          <a:xfrm>
            <a:off x="740664" y="1899666"/>
            <a:ext cx="137160" cy="137160"/>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9" name="Google Shape;479;p26"/>
          <p:cNvSpPr/>
          <p:nvPr/>
        </p:nvSpPr>
        <p:spPr>
          <a:xfrm>
            <a:off x="980694" y="1879092"/>
            <a:ext cx="1234440" cy="15773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Synthesized data</a:t>
            </a:r>
            <a:endParaRPr sz="800" b="0" i="0" u="none" strike="noStrike" cap="none">
              <a:solidFill>
                <a:schemeClr val="dk1"/>
              </a:solidFill>
              <a:latin typeface="Inter"/>
              <a:ea typeface="Inter"/>
              <a:cs typeface="Inter"/>
              <a:sym typeface="Inter"/>
            </a:endParaRPr>
          </a:p>
        </p:txBody>
      </p:sp>
      <p:sp>
        <p:nvSpPr>
          <p:cNvPr id="480" name="Google Shape;480;p26"/>
          <p:cNvSpPr/>
          <p:nvPr/>
        </p:nvSpPr>
        <p:spPr>
          <a:xfrm>
            <a:off x="2194560" y="1879092"/>
            <a:ext cx="2002536"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Patterns reflect real behavior, but feature values are artificial.</a:t>
            </a:r>
            <a:endParaRPr sz="700" b="0" i="0" u="none" strike="noStrike" cap="none">
              <a:solidFill>
                <a:schemeClr val="dk1"/>
              </a:solidFill>
              <a:latin typeface="Inter"/>
              <a:ea typeface="Inter"/>
              <a:cs typeface="Inter"/>
              <a:sym typeface="Inter"/>
            </a:endParaRPr>
          </a:p>
        </p:txBody>
      </p:sp>
      <p:sp>
        <p:nvSpPr>
          <p:cNvPr id="481" name="Google Shape;481;p26"/>
          <p:cNvSpPr/>
          <p:nvPr/>
        </p:nvSpPr>
        <p:spPr>
          <a:xfrm>
            <a:off x="740664" y="2462022"/>
            <a:ext cx="137160" cy="137160"/>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82" name="Google Shape;482;p26"/>
          <p:cNvSpPr/>
          <p:nvPr/>
        </p:nvSpPr>
        <p:spPr>
          <a:xfrm>
            <a:off x="980694" y="2441448"/>
            <a:ext cx="1234440" cy="15773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Balanced evaluation</a:t>
            </a:r>
            <a:endParaRPr sz="800" b="0" i="0" u="none" strike="noStrike" cap="none">
              <a:solidFill>
                <a:schemeClr val="dk1"/>
              </a:solidFill>
              <a:latin typeface="Inter"/>
              <a:ea typeface="Inter"/>
              <a:cs typeface="Inter"/>
              <a:sym typeface="Inter"/>
            </a:endParaRPr>
          </a:p>
        </p:txBody>
      </p:sp>
      <p:sp>
        <p:nvSpPr>
          <p:cNvPr id="483" name="Google Shape;483;p26"/>
          <p:cNvSpPr/>
          <p:nvPr/>
        </p:nvSpPr>
        <p:spPr>
          <a:xfrm>
            <a:off x="2194560" y="2441448"/>
            <a:ext cx="2002536"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The test distribution is more attack-heavy than real traffic.</a:t>
            </a:r>
            <a:endParaRPr sz="700" b="0" i="0" u="none" strike="noStrike" cap="none">
              <a:solidFill>
                <a:schemeClr val="dk1"/>
              </a:solidFill>
              <a:latin typeface="Inter"/>
              <a:ea typeface="Inter"/>
              <a:cs typeface="Inter"/>
              <a:sym typeface="Inter"/>
            </a:endParaRPr>
          </a:p>
        </p:txBody>
      </p:sp>
      <p:sp>
        <p:nvSpPr>
          <p:cNvPr id="484" name="Google Shape;484;p26"/>
          <p:cNvSpPr/>
          <p:nvPr/>
        </p:nvSpPr>
        <p:spPr>
          <a:xfrm>
            <a:off x="740664" y="3024378"/>
            <a:ext cx="137160" cy="137160"/>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85" name="Google Shape;485;p26"/>
          <p:cNvSpPr/>
          <p:nvPr/>
        </p:nvSpPr>
        <p:spPr>
          <a:xfrm>
            <a:off x="980694" y="3003804"/>
            <a:ext cx="1234440" cy="15773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False positives</a:t>
            </a:r>
            <a:endParaRPr sz="800" b="0" i="0" u="none" strike="noStrike" cap="none">
              <a:solidFill>
                <a:schemeClr val="dk1"/>
              </a:solidFill>
              <a:latin typeface="Inter"/>
              <a:ea typeface="Inter"/>
              <a:cs typeface="Inter"/>
              <a:sym typeface="Inter"/>
            </a:endParaRPr>
          </a:p>
        </p:txBody>
      </p:sp>
      <p:sp>
        <p:nvSpPr>
          <p:cNvPr id="486" name="Google Shape;486;p26"/>
          <p:cNvSpPr/>
          <p:nvPr/>
        </p:nvSpPr>
        <p:spPr>
          <a:xfrm>
            <a:off x="2194560" y="3003804"/>
            <a:ext cx="2002536"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About 45.8% of flagged logins were not attack-IP examples.</a:t>
            </a:r>
            <a:endParaRPr sz="700" b="0" i="0" u="none" strike="noStrike" cap="none">
              <a:solidFill>
                <a:schemeClr val="dk1"/>
              </a:solidFill>
              <a:latin typeface="Inter"/>
              <a:ea typeface="Inter"/>
              <a:cs typeface="Inter"/>
              <a:sym typeface="Inter"/>
            </a:endParaRPr>
          </a:p>
        </p:txBody>
      </p:sp>
      <p:sp>
        <p:nvSpPr>
          <p:cNvPr id="487" name="Google Shape;487;p26"/>
          <p:cNvSpPr/>
          <p:nvPr/>
        </p:nvSpPr>
        <p:spPr>
          <a:xfrm>
            <a:off x="740664" y="3586734"/>
            <a:ext cx="137160" cy="137160"/>
          </a:xfrm>
          <a:prstGeom prst="ellipse">
            <a:avLst/>
          </a:prstGeom>
          <a:solidFill>
            <a:srgbClr val="FF6B6B"/>
          </a:solidFill>
          <a:ln w="12700" cap="flat" cmpd="sng">
            <a:solidFill>
              <a:srgbClr val="FF6B6B"/>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88" name="Google Shape;488;p26"/>
          <p:cNvSpPr/>
          <p:nvPr/>
        </p:nvSpPr>
        <p:spPr>
          <a:xfrm>
            <a:off x="980694" y="3566160"/>
            <a:ext cx="1234440" cy="15773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Target meaning</a:t>
            </a:r>
            <a:endParaRPr sz="800" b="0" i="0" u="none" strike="noStrike" cap="none">
              <a:solidFill>
                <a:schemeClr val="dk1"/>
              </a:solidFill>
              <a:latin typeface="Inter"/>
              <a:ea typeface="Inter"/>
              <a:cs typeface="Inter"/>
              <a:sym typeface="Inter"/>
            </a:endParaRPr>
          </a:p>
        </p:txBody>
      </p:sp>
      <p:sp>
        <p:nvSpPr>
          <p:cNvPr id="489" name="Google Shape;489;p26"/>
          <p:cNvSpPr/>
          <p:nvPr/>
        </p:nvSpPr>
        <p:spPr>
          <a:xfrm>
            <a:off x="2194560" y="3566160"/>
            <a:ext cx="2002536" cy="3017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700"/>
              <a:buFont typeface="Inter"/>
              <a:buNone/>
            </a:pPr>
            <a:r>
              <a:rPr lang="en" sz="700" b="0" i="0" u="none" strike="noStrike" cap="none">
                <a:solidFill>
                  <a:srgbClr val="31475A"/>
                </a:solidFill>
                <a:latin typeface="Inter"/>
                <a:ea typeface="Inter"/>
                <a:cs typeface="Inter"/>
                <a:sym typeface="Inter"/>
              </a:rPr>
              <a:t>“Attack IP” is a proxy for suspicious activity, not confirmed takeover.</a:t>
            </a:r>
            <a:endParaRPr sz="700" b="0" i="0" u="none" strike="noStrike" cap="none">
              <a:solidFill>
                <a:schemeClr val="dk1"/>
              </a:solidFill>
              <a:latin typeface="Inter"/>
              <a:ea typeface="Inter"/>
              <a:cs typeface="Inter"/>
              <a:sym typeface="Inter"/>
            </a:endParaRPr>
          </a:p>
        </p:txBody>
      </p:sp>
      <p:sp>
        <p:nvSpPr>
          <p:cNvPr id="490" name="Google Shape;490;p26"/>
          <p:cNvSpPr/>
          <p:nvPr/>
        </p:nvSpPr>
        <p:spPr>
          <a:xfrm>
            <a:off x="4704588" y="1220724"/>
            <a:ext cx="3922776" cy="3236976"/>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1" name="Google Shape;491;p26"/>
          <p:cNvSpPr/>
          <p:nvPr/>
        </p:nvSpPr>
        <p:spPr>
          <a:xfrm>
            <a:off x="4924044" y="1412748"/>
            <a:ext cx="809244" cy="233172"/>
          </a:xfrm>
          <a:prstGeom prst="roundRect">
            <a:avLst>
              <a:gd name="adj" fmla="val 16667"/>
            </a:avLst>
          </a:prstGeom>
          <a:solidFill>
            <a:srgbClr val="14394C"/>
          </a:solidFill>
          <a:ln w="12700" cap="flat" cmpd="sng">
            <a:solidFill>
              <a:srgbClr val="14394C"/>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2" name="Google Shape;492;p26"/>
          <p:cNvSpPr/>
          <p:nvPr/>
        </p:nvSpPr>
        <p:spPr>
          <a:xfrm>
            <a:off x="4978908" y="1447038"/>
            <a:ext cx="699516"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600"/>
              <a:buFont typeface="Inter"/>
              <a:buNone/>
            </a:pPr>
            <a:r>
              <a:rPr lang="en" sz="600" b="1" i="0" u="none" strike="noStrike" cap="none">
                <a:solidFill>
                  <a:srgbClr val="22D3A6"/>
                </a:solidFill>
                <a:latin typeface="Inter"/>
                <a:ea typeface="Inter"/>
                <a:cs typeface="Inter"/>
                <a:sym typeface="Inter"/>
              </a:rPr>
              <a:t>NEXT STEPS</a:t>
            </a:r>
            <a:endParaRPr sz="600" b="0" i="0" u="none" strike="noStrike" cap="none">
              <a:solidFill>
                <a:schemeClr val="dk1"/>
              </a:solidFill>
              <a:latin typeface="Inter"/>
              <a:ea typeface="Inter"/>
              <a:cs typeface="Inter"/>
              <a:sym typeface="Inter"/>
            </a:endParaRPr>
          </a:p>
        </p:txBody>
      </p:sp>
      <p:sp>
        <p:nvSpPr>
          <p:cNvPr id="493" name="Google Shape;493;p26"/>
          <p:cNvSpPr/>
          <p:nvPr/>
        </p:nvSpPr>
        <p:spPr>
          <a:xfrm>
            <a:off x="4924044" y="1872234"/>
            <a:ext cx="123444" cy="123444"/>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4" name="Google Shape;494;p26"/>
          <p:cNvSpPr/>
          <p:nvPr/>
        </p:nvSpPr>
        <p:spPr>
          <a:xfrm>
            <a:off x="5157216" y="1851660"/>
            <a:ext cx="161163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Test on natural class distribution</a:t>
            </a:r>
            <a:endParaRPr sz="800" b="0" i="0" u="none" strike="noStrike" cap="none">
              <a:solidFill>
                <a:schemeClr val="dk1"/>
              </a:solidFill>
              <a:latin typeface="Inter"/>
              <a:ea typeface="Inter"/>
              <a:cs typeface="Inter"/>
              <a:sym typeface="Inter"/>
            </a:endParaRPr>
          </a:p>
        </p:txBody>
      </p:sp>
      <p:sp>
        <p:nvSpPr>
          <p:cNvPr id="495" name="Google Shape;495;p26"/>
          <p:cNvSpPr/>
          <p:nvPr/>
        </p:nvSpPr>
        <p:spPr>
          <a:xfrm>
            <a:off x="6693408" y="1851660"/>
            <a:ext cx="1611630" cy="2468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DD3DE"/>
              </a:buClr>
              <a:buSzPts val="700"/>
              <a:buFont typeface="Inter"/>
              <a:buNone/>
            </a:pPr>
            <a:r>
              <a:rPr lang="en" sz="700" b="0" i="0" u="none" strike="noStrike" cap="none">
                <a:solidFill>
                  <a:srgbClr val="BDD3DE"/>
                </a:solidFill>
                <a:latin typeface="Inter"/>
                <a:ea typeface="Inter"/>
                <a:cs typeface="Inter"/>
                <a:sym typeface="Inter"/>
              </a:rPr>
              <a:t>Measure real false-alarm rates on untouched data.</a:t>
            </a:r>
            <a:endParaRPr sz="700" b="0" i="0" u="none" strike="noStrike" cap="none">
              <a:solidFill>
                <a:schemeClr val="dk1"/>
              </a:solidFill>
              <a:latin typeface="Inter"/>
              <a:ea typeface="Inter"/>
              <a:cs typeface="Inter"/>
              <a:sym typeface="Inter"/>
            </a:endParaRPr>
          </a:p>
        </p:txBody>
      </p:sp>
      <p:sp>
        <p:nvSpPr>
          <p:cNvPr id="496" name="Google Shape;496;p26"/>
          <p:cNvSpPr/>
          <p:nvPr/>
        </p:nvSpPr>
        <p:spPr>
          <a:xfrm>
            <a:off x="4924044" y="2324862"/>
            <a:ext cx="123444" cy="123444"/>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7" name="Google Shape;497;p26"/>
          <p:cNvSpPr/>
          <p:nvPr/>
        </p:nvSpPr>
        <p:spPr>
          <a:xfrm>
            <a:off x="5157216" y="2304288"/>
            <a:ext cx="161163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Use time-based splitting</a:t>
            </a:r>
            <a:endParaRPr sz="800" b="0" i="0" u="none" strike="noStrike" cap="none">
              <a:solidFill>
                <a:schemeClr val="dk1"/>
              </a:solidFill>
              <a:latin typeface="Inter"/>
              <a:ea typeface="Inter"/>
              <a:cs typeface="Inter"/>
              <a:sym typeface="Inter"/>
            </a:endParaRPr>
          </a:p>
        </p:txBody>
      </p:sp>
      <p:sp>
        <p:nvSpPr>
          <p:cNvPr id="498" name="Google Shape;498;p26"/>
          <p:cNvSpPr/>
          <p:nvPr/>
        </p:nvSpPr>
        <p:spPr>
          <a:xfrm>
            <a:off x="6693408" y="2304288"/>
            <a:ext cx="1611630" cy="2468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DD3DE"/>
              </a:buClr>
              <a:buSzPts val="700"/>
              <a:buFont typeface="Inter"/>
              <a:buNone/>
            </a:pPr>
            <a:r>
              <a:rPr lang="en" sz="700" b="0" i="0" u="none" strike="noStrike" cap="none">
                <a:solidFill>
                  <a:srgbClr val="BDD3DE"/>
                </a:solidFill>
                <a:latin typeface="Inter"/>
                <a:ea typeface="Inter"/>
                <a:cs typeface="Inter"/>
                <a:sym typeface="Inter"/>
              </a:rPr>
              <a:t>Train on earlier logins and test on later ones.</a:t>
            </a:r>
            <a:endParaRPr sz="700" b="0" i="0" u="none" strike="noStrike" cap="none">
              <a:solidFill>
                <a:schemeClr val="dk1"/>
              </a:solidFill>
              <a:latin typeface="Inter"/>
              <a:ea typeface="Inter"/>
              <a:cs typeface="Inter"/>
              <a:sym typeface="Inter"/>
            </a:endParaRPr>
          </a:p>
        </p:txBody>
      </p:sp>
      <p:sp>
        <p:nvSpPr>
          <p:cNvPr id="499" name="Google Shape;499;p26"/>
          <p:cNvSpPr/>
          <p:nvPr/>
        </p:nvSpPr>
        <p:spPr>
          <a:xfrm>
            <a:off x="4924044" y="2777490"/>
            <a:ext cx="123444" cy="123444"/>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00" name="Google Shape;500;p26"/>
          <p:cNvSpPr/>
          <p:nvPr/>
        </p:nvSpPr>
        <p:spPr>
          <a:xfrm>
            <a:off x="5157216" y="2756916"/>
            <a:ext cx="161163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Compare more models</a:t>
            </a:r>
            <a:endParaRPr sz="800" b="0" i="0" u="none" strike="noStrike" cap="none">
              <a:solidFill>
                <a:schemeClr val="dk1"/>
              </a:solidFill>
              <a:latin typeface="Inter"/>
              <a:ea typeface="Inter"/>
              <a:cs typeface="Inter"/>
              <a:sym typeface="Inter"/>
            </a:endParaRPr>
          </a:p>
        </p:txBody>
      </p:sp>
      <p:sp>
        <p:nvSpPr>
          <p:cNvPr id="501" name="Google Shape;501;p26"/>
          <p:cNvSpPr/>
          <p:nvPr/>
        </p:nvSpPr>
        <p:spPr>
          <a:xfrm>
            <a:off x="6693408" y="2756916"/>
            <a:ext cx="1611630" cy="2468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DD3DE"/>
              </a:buClr>
              <a:buSzPts val="700"/>
              <a:buFont typeface="Inter"/>
              <a:buNone/>
            </a:pPr>
            <a:r>
              <a:rPr lang="en" sz="700" b="0" i="0" u="none" strike="noStrike" cap="none">
                <a:solidFill>
                  <a:srgbClr val="BDD3DE"/>
                </a:solidFill>
                <a:latin typeface="Inter"/>
                <a:ea typeface="Inter"/>
                <a:cs typeface="Inter"/>
                <a:sym typeface="Inter"/>
              </a:rPr>
              <a:t>Try gradient boosting, XGBoost, and anomaly detection.</a:t>
            </a:r>
            <a:endParaRPr sz="700" b="0" i="0" u="none" strike="noStrike" cap="none">
              <a:solidFill>
                <a:schemeClr val="dk1"/>
              </a:solidFill>
              <a:latin typeface="Inter"/>
              <a:ea typeface="Inter"/>
              <a:cs typeface="Inter"/>
              <a:sym typeface="Inter"/>
            </a:endParaRPr>
          </a:p>
        </p:txBody>
      </p:sp>
      <p:sp>
        <p:nvSpPr>
          <p:cNvPr id="502" name="Google Shape;502;p26"/>
          <p:cNvSpPr/>
          <p:nvPr/>
        </p:nvSpPr>
        <p:spPr>
          <a:xfrm>
            <a:off x="4924044" y="3230118"/>
            <a:ext cx="123444" cy="123444"/>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03" name="Google Shape;503;p26"/>
          <p:cNvSpPr/>
          <p:nvPr/>
        </p:nvSpPr>
        <p:spPr>
          <a:xfrm>
            <a:off x="5157216" y="3209544"/>
            <a:ext cx="161163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Add explainability</a:t>
            </a:r>
            <a:endParaRPr sz="800" b="0" i="0" u="none" strike="noStrike" cap="none">
              <a:solidFill>
                <a:schemeClr val="dk1"/>
              </a:solidFill>
              <a:latin typeface="Inter"/>
              <a:ea typeface="Inter"/>
              <a:cs typeface="Inter"/>
              <a:sym typeface="Inter"/>
            </a:endParaRPr>
          </a:p>
        </p:txBody>
      </p:sp>
      <p:sp>
        <p:nvSpPr>
          <p:cNvPr id="504" name="Google Shape;504;p26"/>
          <p:cNvSpPr/>
          <p:nvPr/>
        </p:nvSpPr>
        <p:spPr>
          <a:xfrm>
            <a:off x="6693408" y="3209544"/>
            <a:ext cx="1611630" cy="2468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DD3DE"/>
              </a:buClr>
              <a:buSzPts val="700"/>
              <a:buFont typeface="Inter"/>
              <a:buNone/>
            </a:pPr>
            <a:r>
              <a:rPr lang="en" sz="700" b="0" i="0" u="none" strike="noStrike" cap="none">
                <a:solidFill>
                  <a:srgbClr val="BDD3DE"/>
                </a:solidFill>
                <a:latin typeface="Inter"/>
                <a:ea typeface="Inter"/>
                <a:cs typeface="Inter"/>
                <a:sym typeface="Inter"/>
              </a:rPr>
              <a:t>Show feature importance or SHAP explanations.</a:t>
            </a:r>
            <a:endParaRPr sz="700" b="0" i="0" u="none" strike="noStrike" cap="none">
              <a:solidFill>
                <a:schemeClr val="dk1"/>
              </a:solidFill>
              <a:latin typeface="Inter"/>
              <a:ea typeface="Inter"/>
              <a:cs typeface="Inter"/>
              <a:sym typeface="Inter"/>
            </a:endParaRPr>
          </a:p>
        </p:txBody>
      </p:sp>
      <p:sp>
        <p:nvSpPr>
          <p:cNvPr id="505" name="Google Shape;505;p26"/>
          <p:cNvSpPr/>
          <p:nvPr/>
        </p:nvSpPr>
        <p:spPr>
          <a:xfrm>
            <a:off x="4924044" y="3682746"/>
            <a:ext cx="123444" cy="123444"/>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06" name="Google Shape;506;p26"/>
          <p:cNvSpPr/>
          <p:nvPr/>
        </p:nvSpPr>
        <p:spPr>
          <a:xfrm>
            <a:off x="5157216" y="3662172"/>
            <a:ext cx="161163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Build a simple dashboard</a:t>
            </a:r>
            <a:endParaRPr sz="800" b="0" i="0" u="none" strike="noStrike" cap="none">
              <a:solidFill>
                <a:schemeClr val="dk1"/>
              </a:solidFill>
              <a:latin typeface="Inter"/>
              <a:ea typeface="Inter"/>
              <a:cs typeface="Inter"/>
              <a:sym typeface="Inter"/>
            </a:endParaRPr>
          </a:p>
        </p:txBody>
      </p:sp>
      <p:sp>
        <p:nvSpPr>
          <p:cNvPr id="507" name="Google Shape;507;p26"/>
          <p:cNvSpPr/>
          <p:nvPr/>
        </p:nvSpPr>
        <p:spPr>
          <a:xfrm>
            <a:off x="6693408" y="3662172"/>
            <a:ext cx="1611630" cy="2468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DD3DE"/>
              </a:buClr>
              <a:buSzPts val="700"/>
              <a:buFont typeface="Inter"/>
              <a:buNone/>
            </a:pPr>
            <a:r>
              <a:rPr lang="en" sz="700" b="0" i="0" u="none" strike="noStrike" cap="none">
                <a:solidFill>
                  <a:srgbClr val="BDD3DE"/>
                </a:solidFill>
                <a:latin typeface="Inter"/>
                <a:ea typeface="Inter"/>
                <a:cs typeface="Inter"/>
                <a:sym typeface="Inter"/>
              </a:rPr>
              <a:t>Allow users to enter login details and view risk scores.</a:t>
            </a:r>
            <a:endParaRPr sz="700" b="0" i="0" u="none" strike="noStrike" cap="none">
              <a:solidFill>
                <a:schemeClr val="dk1"/>
              </a:solidFill>
              <a:latin typeface="Inter"/>
              <a:ea typeface="Inter"/>
              <a:cs typeface="Inter"/>
              <a:sym typeface="Inter"/>
            </a:endParaRPr>
          </a:p>
        </p:txBody>
      </p:sp>
      <p:sp>
        <p:nvSpPr>
          <p:cNvPr id="508" name="Google Shape;508;p26"/>
          <p:cNvSpPr/>
          <p:nvPr/>
        </p:nvSpPr>
        <p:spPr>
          <a:xfrm>
            <a:off x="493776" y="4656582"/>
            <a:ext cx="8092440" cy="123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595A3"/>
              </a:buClr>
              <a:buSzPts val="500"/>
              <a:buFont typeface="Inter"/>
              <a:buNone/>
            </a:pPr>
            <a:r>
              <a:rPr lang="en" sz="500" b="0" i="1" u="none" strike="noStrike" cap="none">
                <a:solidFill>
                  <a:srgbClr val="8595A3"/>
                </a:solidFill>
                <a:latin typeface="Inter"/>
                <a:ea typeface="Inter"/>
                <a:cs typeface="Inter"/>
                <a:sym typeface="Inter"/>
              </a:rPr>
              <a:t>Dataset warning and synthesis details: Zenodo DOI 10.5281/zenodo.6782156.</a:t>
            </a:r>
            <a:endParaRPr sz="500" b="0" i="0" u="none" strike="noStrike" cap="none">
              <a:solidFill>
                <a:schemeClr val="dk1"/>
              </a:solidFill>
              <a:latin typeface="Inter"/>
              <a:ea typeface="Inter"/>
              <a:cs typeface="Inter"/>
              <a:sym typeface="Inter"/>
            </a:endParaRPr>
          </a:p>
        </p:txBody>
      </p:sp>
      <p:sp>
        <p:nvSpPr>
          <p:cNvPr id="509" name="Google Shape;509;p26"/>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11</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27"/>
          <p:cNvSpPr/>
          <p:nvPr/>
        </p:nvSpPr>
        <p:spPr>
          <a:xfrm>
            <a:off x="445770" y="425196"/>
            <a:ext cx="6652260" cy="3977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2100"/>
              <a:buFont typeface="Inter"/>
              <a:buNone/>
            </a:pPr>
            <a:r>
              <a:rPr lang="en" sz="2100" b="1" i="0" u="none" strike="noStrike" cap="none">
                <a:solidFill>
                  <a:srgbClr val="122637"/>
                </a:solidFill>
                <a:latin typeface="Inter"/>
                <a:ea typeface="Inter"/>
                <a:cs typeface="Inter"/>
                <a:sym typeface="Inter"/>
              </a:rPr>
              <a:t>Conclusion</a:t>
            </a:r>
            <a:endParaRPr sz="2100" b="0" i="0" u="none" strike="noStrike" cap="none">
              <a:solidFill>
                <a:schemeClr val="dk1"/>
              </a:solidFill>
              <a:latin typeface="Inter"/>
              <a:ea typeface="Inter"/>
              <a:cs typeface="Inter"/>
              <a:sym typeface="Inter"/>
            </a:endParaRPr>
          </a:p>
        </p:txBody>
      </p:sp>
      <p:sp>
        <p:nvSpPr>
          <p:cNvPr id="516" name="Google Shape;516;p27"/>
          <p:cNvSpPr/>
          <p:nvPr/>
        </p:nvSpPr>
        <p:spPr>
          <a:xfrm>
            <a:off x="459486" y="809244"/>
            <a:ext cx="7475220" cy="2400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F90"/>
              </a:buClr>
              <a:buSzPts val="900"/>
              <a:buFont typeface="Inter"/>
              <a:buNone/>
            </a:pPr>
            <a:r>
              <a:rPr lang="en" sz="900" b="0" i="0" u="none" strike="noStrike" cap="none">
                <a:solidFill>
                  <a:srgbClr val="6B7F90"/>
                </a:solidFill>
                <a:latin typeface="Inter"/>
                <a:ea typeface="Inter"/>
                <a:cs typeface="Inter"/>
                <a:sym typeface="Inter"/>
              </a:rPr>
              <a:t>A complete end-to-end machine learning prototype for suspicious login detection.</a:t>
            </a:r>
            <a:endParaRPr sz="900" b="0" i="0" u="none" strike="noStrike" cap="none">
              <a:solidFill>
                <a:schemeClr val="dk1"/>
              </a:solidFill>
              <a:latin typeface="Inter"/>
              <a:ea typeface="Inter"/>
              <a:cs typeface="Inter"/>
              <a:sym typeface="Inter"/>
            </a:endParaRPr>
          </a:p>
        </p:txBody>
      </p:sp>
      <p:sp>
        <p:nvSpPr>
          <p:cNvPr id="517" name="Google Shape;517;p27"/>
          <p:cNvSpPr/>
          <p:nvPr/>
        </p:nvSpPr>
        <p:spPr>
          <a:xfrm>
            <a:off x="534924" y="1179576"/>
            <a:ext cx="4855464" cy="3278124"/>
          </a:xfrm>
          <a:prstGeom prst="roundRect">
            <a:avLst>
              <a:gd name="adj" fmla="val 16667"/>
            </a:avLst>
          </a:prstGeom>
          <a:solidFill>
            <a:srgbClr val="071B2A"/>
          </a:solidFill>
          <a:ln w="10150" cap="flat" cmpd="sng">
            <a:solidFill>
              <a:srgbClr val="071B2A"/>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18" name="Google Shape;518;p27"/>
          <p:cNvSpPr/>
          <p:nvPr/>
        </p:nvSpPr>
        <p:spPr>
          <a:xfrm>
            <a:off x="809244" y="1419606"/>
            <a:ext cx="109728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KEY TAKEAWAY</a:t>
            </a:r>
            <a:endParaRPr sz="700" b="0" i="0" u="none" strike="noStrike" cap="none">
              <a:solidFill>
                <a:schemeClr val="dk1"/>
              </a:solidFill>
              <a:latin typeface="Inter"/>
              <a:ea typeface="Inter"/>
              <a:cs typeface="Inter"/>
              <a:sym typeface="Inter"/>
            </a:endParaRPr>
          </a:p>
        </p:txBody>
      </p:sp>
      <p:sp>
        <p:nvSpPr>
          <p:cNvPr id="519" name="Google Shape;519;p27"/>
          <p:cNvSpPr/>
          <p:nvPr/>
        </p:nvSpPr>
        <p:spPr>
          <a:xfrm>
            <a:off x="809244" y="1700784"/>
            <a:ext cx="4183380" cy="7818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Inter"/>
              <a:buNone/>
            </a:pPr>
            <a:r>
              <a:rPr lang="en" sz="1700" b="1" i="0" u="none" strike="noStrike" cap="none">
                <a:solidFill>
                  <a:srgbClr val="FFFFFF"/>
                </a:solidFill>
                <a:latin typeface="Inter"/>
                <a:ea typeface="Inter"/>
                <a:cs typeface="Inter"/>
                <a:sym typeface="Inter"/>
              </a:rPr>
              <a:t>The model successfully detects most attack-IP logins by combining contextual login signals.</a:t>
            </a:r>
            <a:endParaRPr sz="1700" b="0" i="0" u="none" strike="noStrike" cap="none">
              <a:solidFill>
                <a:schemeClr val="dk1"/>
              </a:solidFill>
              <a:latin typeface="Inter"/>
              <a:ea typeface="Inter"/>
              <a:cs typeface="Inter"/>
              <a:sym typeface="Inter"/>
            </a:endParaRPr>
          </a:p>
        </p:txBody>
      </p:sp>
      <p:sp>
        <p:nvSpPr>
          <p:cNvPr id="520" name="Google Shape;520;p27"/>
          <p:cNvSpPr/>
          <p:nvPr/>
        </p:nvSpPr>
        <p:spPr>
          <a:xfrm>
            <a:off x="822960" y="2770632"/>
            <a:ext cx="137160" cy="137160"/>
          </a:xfrm>
          <a:prstGeom prst="ellipse">
            <a:avLst/>
          </a:prstGeom>
          <a:solidFill>
            <a:srgbClr val="22D3A6"/>
          </a:solidFill>
          <a:ln w="12700" cap="flat" cmpd="sng">
            <a:solidFill>
              <a:srgbClr val="22D3A6"/>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1" name="Google Shape;521;p27"/>
          <p:cNvSpPr/>
          <p:nvPr/>
        </p:nvSpPr>
        <p:spPr>
          <a:xfrm>
            <a:off x="1062990" y="2756916"/>
            <a:ext cx="133731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87.33% recall</a:t>
            </a:r>
            <a:endParaRPr sz="800" b="0" i="0" u="none" strike="noStrike" cap="none">
              <a:solidFill>
                <a:schemeClr val="dk1"/>
              </a:solidFill>
              <a:latin typeface="Inter"/>
              <a:ea typeface="Inter"/>
              <a:cs typeface="Inter"/>
              <a:sym typeface="Inter"/>
            </a:endParaRPr>
          </a:p>
        </p:txBody>
      </p:sp>
      <p:sp>
        <p:nvSpPr>
          <p:cNvPr id="522" name="Google Shape;522;p27"/>
          <p:cNvSpPr/>
          <p:nvPr/>
        </p:nvSpPr>
        <p:spPr>
          <a:xfrm>
            <a:off x="2366010" y="2756916"/>
            <a:ext cx="253746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CD3DF"/>
              </a:buClr>
              <a:buSzPts val="700"/>
              <a:buFont typeface="Inter"/>
              <a:buNone/>
            </a:pPr>
            <a:r>
              <a:rPr lang="en" sz="700" b="0" i="0" u="none" strike="noStrike" cap="none">
                <a:solidFill>
                  <a:srgbClr val="BCD3DF"/>
                </a:solidFill>
                <a:latin typeface="Inter"/>
                <a:ea typeface="Inter"/>
                <a:cs typeface="Inter"/>
                <a:sym typeface="Inter"/>
              </a:rPr>
              <a:t>Most suspicious examples were detected.</a:t>
            </a:r>
            <a:endParaRPr sz="700" b="0" i="0" u="none" strike="noStrike" cap="none">
              <a:solidFill>
                <a:schemeClr val="dk1"/>
              </a:solidFill>
              <a:latin typeface="Inter"/>
              <a:ea typeface="Inter"/>
              <a:cs typeface="Inter"/>
              <a:sym typeface="Inter"/>
            </a:endParaRPr>
          </a:p>
        </p:txBody>
      </p:sp>
      <p:sp>
        <p:nvSpPr>
          <p:cNvPr id="523" name="Google Shape;523;p27"/>
          <p:cNvSpPr/>
          <p:nvPr/>
        </p:nvSpPr>
        <p:spPr>
          <a:xfrm>
            <a:off x="822960" y="3195828"/>
            <a:ext cx="137160" cy="137160"/>
          </a:xfrm>
          <a:prstGeom prst="ellipse">
            <a:avLst/>
          </a:prstGeom>
          <a:solidFill>
            <a:srgbClr val="4CC9F0"/>
          </a:solidFill>
          <a:ln w="12700" cap="flat" cmpd="sng">
            <a:solidFill>
              <a:srgbClr val="4CC9F0"/>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4" name="Google Shape;524;p27"/>
          <p:cNvSpPr/>
          <p:nvPr/>
        </p:nvSpPr>
        <p:spPr>
          <a:xfrm>
            <a:off x="1062990" y="3182112"/>
            <a:ext cx="133731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Full Python pipeline</a:t>
            </a:r>
            <a:endParaRPr sz="800" b="0" i="0" u="none" strike="noStrike" cap="none">
              <a:solidFill>
                <a:schemeClr val="dk1"/>
              </a:solidFill>
              <a:latin typeface="Inter"/>
              <a:ea typeface="Inter"/>
              <a:cs typeface="Inter"/>
              <a:sym typeface="Inter"/>
            </a:endParaRPr>
          </a:p>
        </p:txBody>
      </p:sp>
      <p:sp>
        <p:nvSpPr>
          <p:cNvPr id="525" name="Google Shape;525;p27"/>
          <p:cNvSpPr/>
          <p:nvPr/>
        </p:nvSpPr>
        <p:spPr>
          <a:xfrm>
            <a:off x="2366010" y="3182112"/>
            <a:ext cx="253746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CD3DF"/>
              </a:buClr>
              <a:buSzPts val="700"/>
              <a:buFont typeface="Inter"/>
              <a:buNone/>
            </a:pPr>
            <a:r>
              <a:rPr lang="en" sz="700" b="0" i="0" u="none" strike="noStrike" cap="none">
                <a:solidFill>
                  <a:srgbClr val="BCD3DF"/>
                </a:solidFill>
                <a:latin typeface="Inter"/>
                <a:ea typeface="Inter"/>
                <a:cs typeface="Inter"/>
                <a:sym typeface="Inter"/>
              </a:rPr>
              <a:t>Download, preprocess, balance, train, evaluate, and predict.</a:t>
            </a:r>
            <a:endParaRPr sz="700" b="0" i="0" u="none" strike="noStrike" cap="none">
              <a:solidFill>
                <a:schemeClr val="dk1"/>
              </a:solidFill>
              <a:latin typeface="Inter"/>
              <a:ea typeface="Inter"/>
              <a:cs typeface="Inter"/>
              <a:sym typeface="Inter"/>
            </a:endParaRPr>
          </a:p>
        </p:txBody>
      </p:sp>
      <p:sp>
        <p:nvSpPr>
          <p:cNvPr id="526" name="Google Shape;526;p27"/>
          <p:cNvSpPr/>
          <p:nvPr/>
        </p:nvSpPr>
        <p:spPr>
          <a:xfrm>
            <a:off x="822960" y="3621024"/>
            <a:ext cx="137160" cy="137160"/>
          </a:xfrm>
          <a:prstGeom prst="ellipse">
            <a:avLst/>
          </a:prstGeom>
          <a:solidFill>
            <a:srgbClr val="FFB347"/>
          </a:solidFill>
          <a:ln w="12700" cap="flat" cmpd="sng">
            <a:solidFill>
              <a:srgbClr val="FFB347"/>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7" name="Google Shape;527;p27"/>
          <p:cNvSpPr/>
          <p:nvPr/>
        </p:nvSpPr>
        <p:spPr>
          <a:xfrm>
            <a:off x="1062990" y="3607308"/>
            <a:ext cx="133731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00"/>
              <a:buFont typeface="Inter"/>
              <a:buNone/>
            </a:pPr>
            <a:r>
              <a:rPr lang="en" sz="800" b="1" i="0" u="none" strike="noStrike" cap="none">
                <a:solidFill>
                  <a:srgbClr val="FFFFFF"/>
                </a:solidFill>
                <a:latin typeface="Inter"/>
                <a:ea typeface="Inter"/>
                <a:cs typeface="Inter"/>
                <a:sym typeface="Inter"/>
              </a:rPr>
              <a:t>Honest limitations</a:t>
            </a:r>
            <a:endParaRPr sz="800" b="0" i="0" u="none" strike="noStrike" cap="none">
              <a:solidFill>
                <a:schemeClr val="dk1"/>
              </a:solidFill>
              <a:latin typeface="Inter"/>
              <a:ea typeface="Inter"/>
              <a:cs typeface="Inter"/>
              <a:sym typeface="Inter"/>
            </a:endParaRPr>
          </a:p>
        </p:txBody>
      </p:sp>
      <p:sp>
        <p:nvSpPr>
          <p:cNvPr id="528" name="Google Shape;528;p27"/>
          <p:cNvSpPr/>
          <p:nvPr/>
        </p:nvSpPr>
        <p:spPr>
          <a:xfrm>
            <a:off x="2366010" y="3607308"/>
            <a:ext cx="2537460"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CD3DF"/>
              </a:buClr>
              <a:buSzPts val="700"/>
              <a:buFont typeface="Inter"/>
              <a:buNone/>
            </a:pPr>
            <a:r>
              <a:rPr lang="en" sz="700" b="0" i="0" u="none" strike="noStrike" cap="none">
                <a:solidFill>
                  <a:srgbClr val="BCD3DF"/>
                </a:solidFill>
                <a:latin typeface="Inter"/>
                <a:ea typeface="Inter"/>
                <a:cs typeface="Inter"/>
                <a:sym typeface="Inter"/>
              </a:rPr>
              <a:t>Results are useful, but not production-ready.</a:t>
            </a:r>
            <a:endParaRPr sz="700" b="0" i="0" u="none" strike="noStrike" cap="none">
              <a:solidFill>
                <a:schemeClr val="dk1"/>
              </a:solidFill>
              <a:latin typeface="Inter"/>
              <a:ea typeface="Inter"/>
              <a:cs typeface="Inter"/>
              <a:sym typeface="Inter"/>
            </a:endParaRPr>
          </a:p>
        </p:txBody>
      </p:sp>
      <p:sp>
        <p:nvSpPr>
          <p:cNvPr id="529" name="Google Shape;529;p27"/>
          <p:cNvSpPr/>
          <p:nvPr/>
        </p:nvSpPr>
        <p:spPr>
          <a:xfrm>
            <a:off x="5623560" y="1179576"/>
            <a:ext cx="2983230" cy="3278124"/>
          </a:xfrm>
          <a:prstGeom prst="roundRect">
            <a:avLst>
              <a:gd name="adj" fmla="val 2759"/>
            </a:avLst>
          </a:prstGeom>
          <a:solidFill>
            <a:srgbClr val="FFFFFF"/>
          </a:solidFill>
          <a:ln w="10150" cap="flat" cmpd="sng">
            <a:solidFill>
              <a:srgbClr val="DCE6EE"/>
            </a:solidFill>
            <a:prstDash val="solid"/>
            <a:round/>
            <a:headEnd type="none" w="sm" len="sm"/>
            <a:tailEnd type="none" w="sm" len="sm"/>
          </a:ln>
          <a:effectLst>
            <a:outerShdw blurRad="12700" dist="50800" dir="2700000" algn="bl" rotWithShape="0">
              <a:srgbClr val="AAB8C4">
                <a:alpha val="10196"/>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30" name="Google Shape;530;p27"/>
          <p:cNvSpPr/>
          <p:nvPr/>
        </p:nvSpPr>
        <p:spPr>
          <a:xfrm>
            <a:off x="5863590" y="1412748"/>
            <a:ext cx="1234440" cy="2331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1400"/>
              <a:buFont typeface="Inter"/>
              <a:buNone/>
            </a:pPr>
            <a:r>
              <a:rPr lang="en" sz="1400" b="1" i="0" u="none" strike="noStrike" cap="none">
                <a:solidFill>
                  <a:srgbClr val="122637"/>
                </a:solidFill>
                <a:latin typeface="Inter"/>
                <a:ea typeface="Inter"/>
                <a:cs typeface="Inter"/>
                <a:sym typeface="Inter"/>
              </a:rPr>
              <a:t>Sources</a:t>
            </a:r>
            <a:endParaRPr sz="1400" b="0" i="0" u="none" strike="noStrike" cap="none">
              <a:solidFill>
                <a:schemeClr val="dk1"/>
              </a:solidFill>
              <a:latin typeface="Inter"/>
              <a:ea typeface="Inter"/>
              <a:cs typeface="Inter"/>
              <a:sym typeface="Inter"/>
            </a:endParaRPr>
          </a:p>
        </p:txBody>
      </p:sp>
      <p:sp>
        <p:nvSpPr>
          <p:cNvPr id="531" name="Google Shape;531;p27"/>
          <p:cNvSpPr/>
          <p:nvPr/>
        </p:nvSpPr>
        <p:spPr>
          <a:xfrm>
            <a:off x="5863590" y="1906524"/>
            <a:ext cx="19202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1</a:t>
            </a:r>
            <a:endParaRPr sz="700" b="0" i="0" u="none" strike="noStrike" cap="none">
              <a:solidFill>
                <a:schemeClr val="dk1"/>
              </a:solidFill>
              <a:latin typeface="Inter"/>
              <a:ea typeface="Inter"/>
              <a:cs typeface="Inter"/>
              <a:sym typeface="Inter"/>
            </a:endParaRPr>
          </a:p>
        </p:txBody>
      </p:sp>
      <p:sp>
        <p:nvSpPr>
          <p:cNvPr id="532" name="Google Shape;532;p27"/>
          <p:cNvSpPr/>
          <p:nvPr/>
        </p:nvSpPr>
        <p:spPr>
          <a:xfrm>
            <a:off x="6144768" y="1906524"/>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RBA Dataset</a:t>
            </a:r>
            <a:endParaRPr sz="800" b="0" i="0" u="none" strike="noStrike" cap="none">
              <a:solidFill>
                <a:schemeClr val="dk1"/>
              </a:solidFill>
              <a:latin typeface="Inter"/>
              <a:ea typeface="Inter"/>
              <a:cs typeface="Inter"/>
              <a:sym typeface="Inter"/>
            </a:endParaRPr>
          </a:p>
        </p:txBody>
      </p:sp>
      <p:sp>
        <p:nvSpPr>
          <p:cNvPr id="533" name="Google Shape;533;p27"/>
          <p:cNvSpPr/>
          <p:nvPr/>
        </p:nvSpPr>
        <p:spPr>
          <a:xfrm>
            <a:off x="6995160" y="1820906"/>
            <a:ext cx="13305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Zenodo DOI 10.5281/zenodo.6782156</a:t>
            </a:r>
            <a:endParaRPr sz="600" b="0" i="0" u="none" strike="noStrike" cap="none">
              <a:solidFill>
                <a:schemeClr val="dk1"/>
              </a:solidFill>
              <a:latin typeface="Inter"/>
              <a:ea typeface="Inter"/>
              <a:cs typeface="Inter"/>
              <a:sym typeface="Inter"/>
            </a:endParaRPr>
          </a:p>
        </p:txBody>
      </p:sp>
      <p:sp>
        <p:nvSpPr>
          <p:cNvPr id="534" name="Google Shape;534;p27"/>
          <p:cNvSpPr/>
          <p:nvPr/>
        </p:nvSpPr>
        <p:spPr>
          <a:xfrm>
            <a:off x="5863590" y="2434590"/>
            <a:ext cx="19202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2</a:t>
            </a:r>
            <a:endParaRPr sz="700" b="0" i="0" u="none" strike="noStrike" cap="none">
              <a:solidFill>
                <a:schemeClr val="dk1"/>
              </a:solidFill>
              <a:latin typeface="Inter"/>
              <a:ea typeface="Inter"/>
              <a:cs typeface="Inter"/>
              <a:sym typeface="Inter"/>
            </a:endParaRPr>
          </a:p>
        </p:txBody>
      </p:sp>
      <p:sp>
        <p:nvSpPr>
          <p:cNvPr id="535" name="Google Shape;535;p27"/>
          <p:cNvSpPr/>
          <p:nvPr/>
        </p:nvSpPr>
        <p:spPr>
          <a:xfrm>
            <a:off x="6144768" y="2434590"/>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Dataset paper</a:t>
            </a:r>
            <a:endParaRPr sz="800" b="0" i="0" u="none" strike="noStrike" cap="none">
              <a:solidFill>
                <a:schemeClr val="dk1"/>
              </a:solidFill>
              <a:latin typeface="Inter"/>
              <a:ea typeface="Inter"/>
              <a:cs typeface="Inter"/>
              <a:sym typeface="Inter"/>
            </a:endParaRPr>
          </a:p>
        </p:txBody>
      </p:sp>
      <p:sp>
        <p:nvSpPr>
          <p:cNvPr id="536" name="Google Shape;536;p27"/>
          <p:cNvSpPr/>
          <p:nvPr/>
        </p:nvSpPr>
        <p:spPr>
          <a:xfrm>
            <a:off x="6995160" y="2348972"/>
            <a:ext cx="13305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Wiefling et al., ACM TOPS (2022), DOI 10.1145/3546069</a:t>
            </a:r>
            <a:endParaRPr sz="600" b="0" i="0" u="none" strike="noStrike" cap="none">
              <a:solidFill>
                <a:schemeClr val="dk1"/>
              </a:solidFill>
              <a:latin typeface="Inter"/>
              <a:ea typeface="Inter"/>
              <a:cs typeface="Inter"/>
              <a:sym typeface="Inter"/>
            </a:endParaRPr>
          </a:p>
        </p:txBody>
      </p:sp>
      <p:sp>
        <p:nvSpPr>
          <p:cNvPr id="537" name="Google Shape;537;p27"/>
          <p:cNvSpPr/>
          <p:nvPr/>
        </p:nvSpPr>
        <p:spPr>
          <a:xfrm>
            <a:off x="5863590" y="2962656"/>
            <a:ext cx="19202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3</a:t>
            </a:r>
            <a:endParaRPr sz="700" b="0" i="0" u="none" strike="noStrike" cap="none">
              <a:solidFill>
                <a:schemeClr val="dk1"/>
              </a:solidFill>
              <a:latin typeface="Inter"/>
              <a:ea typeface="Inter"/>
              <a:cs typeface="Inter"/>
              <a:sym typeface="Inter"/>
            </a:endParaRPr>
          </a:p>
        </p:txBody>
      </p:sp>
      <p:sp>
        <p:nvSpPr>
          <p:cNvPr id="538" name="Google Shape;538;p27"/>
          <p:cNvSpPr/>
          <p:nvPr/>
        </p:nvSpPr>
        <p:spPr>
          <a:xfrm>
            <a:off x="6144768" y="2962656"/>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Random Forest</a:t>
            </a:r>
            <a:endParaRPr sz="800" b="0" i="0" u="none" strike="noStrike" cap="none">
              <a:solidFill>
                <a:schemeClr val="dk1"/>
              </a:solidFill>
              <a:latin typeface="Inter"/>
              <a:ea typeface="Inter"/>
              <a:cs typeface="Inter"/>
              <a:sym typeface="Inter"/>
            </a:endParaRPr>
          </a:p>
        </p:txBody>
      </p:sp>
      <p:sp>
        <p:nvSpPr>
          <p:cNvPr id="539" name="Google Shape;539;p27"/>
          <p:cNvSpPr/>
          <p:nvPr/>
        </p:nvSpPr>
        <p:spPr>
          <a:xfrm>
            <a:off x="6995160" y="2877038"/>
            <a:ext cx="13305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scikit-learn RandomForestClassifier documentation</a:t>
            </a:r>
            <a:endParaRPr sz="600" b="0" i="0" u="none" strike="noStrike" cap="none">
              <a:solidFill>
                <a:schemeClr val="dk1"/>
              </a:solidFill>
              <a:latin typeface="Inter"/>
              <a:ea typeface="Inter"/>
              <a:cs typeface="Inter"/>
              <a:sym typeface="Inter"/>
            </a:endParaRPr>
          </a:p>
        </p:txBody>
      </p:sp>
      <p:sp>
        <p:nvSpPr>
          <p:cNvPr id="540" name="Google Shape;540;p27"/>
          <p:cNvSpPr/>
          <p:nvPr/>
        </p:nvSpPr>
        <p:spPr>
          <a:xfrm>
            <a:off x="5863590" y="3490722"/>
            <a:ext cx="192024"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2D3A6"/>
              </a:buClr>
              <a:buSzPts val="700"/>
              <a:buFont typeface="Inter"/>
              <a:buNone/>
            </a:pPr>
            <a:r>
              <a:rPr lang="en" sz="700" b="1" i="0" u="none" strike="noStrike" cap="none">
                <a:solidFill>
                  <a:srgbClr val="22D3A6"/>
                </a:solidFill>
                <a:latin typeface="Inter"/>
                <a:ea typeface="Inter"/>
                <a:cs typeface="Inter"/>
                <a:sym typeface="Inter"/>
              </a:rPr>
              <a:t>4</a:t>
            </a:r>
            <a:endParaRPr sz="700" b="0" i="0" u="none" strike="noStrike" cap="none">
              <a:solidFill>
                <a:schemeClr val="dk1"/>
              </a:solidFill>
              <a:latin typeface="Inter"/>
              <a:ea typeface="Inter"/>
              <a:cs typeface="Inter"/>
              <a:sym typeface="Inter"/>
            </a:endParaRPr>
          </a:p>
        </p:txBody>
      </p:sp>
      <p:sp>
        <p:nvSpPr>
          <p:cNvPr id="541" name="Google Shape;541;p27"/>
          <p:cNvSpPr/>
          <p:nvPr/>
        </p:nvSpPr>
        <p:spPr>
          <a:xfrm>
            <a:off x="6144768" y="3490722"/>
            <a:ext cx="973836" cy="15087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22637"/>
              </a:buClr>
              <a:buSzPts val="800"/>
              <a:buFont typeface="Inter"/>
              <a:buNone/>
            </a:pPr>
            <a:r>
              <a:rPr lang="en" sz="800" b="1" i="0" u="none" strike="noStrike" cap="none">
                <a:solidFill>
                  <a:srgbClr val="122637"/>
                </a:solidFill>
                <a:latin typeface="Inter"/>
                <a:ea typeface="Inter"/>
                <a:cs typeface="Inter"/>
                <a:sym typeface="Inter"/>
              </a:rPr>
              <a:t>Metrics</a:t>
            </a:r>
            <a:endParaRPr sz="800" b="0" i="0" u="none" strike="noStrike" cap="none">
              <a:solidFill>
                <a:schemeClr val="dk1"/>
              </a:solidFill>
              <a:latin typeface="Inter"/>
              <a:ea typeface="Inter"/>
              <a:cs typeface="Inter"/>
              <a:sym typeface="Inter"/>
            </a:endParaRPr>
          </a:p>
        </p:txBody>
      </p:sp>
      <p:sp>
        <p:nvSpPr>
          <p:cNvPr id="542" name="Google Shape;542;p27"/>
          <p:cNvSpPr/>
          <p:nvPr/>
        </p:nvSpPr>
        <p:spPr>
          <a:xfrm>
            <a:off x="6995160" y="3405104"/>
            <a:ext cx="13305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1475A"/>
              </a:buClr>
              <a:buSzPts val="600"/>
              <a:buFont typeface="Inter"/>
              <a:buNone/>
            </a:pPr>
            <a:r>
              <a:rPr lang="en" sz="600" b="0" i="0" u="none" strike="noStrike" cap="none">
                <a:solidFill>
                  <a:srgbClr val="31475A"/>
                </a:solidFill>
                <a:latin typeface="Inter"/>
                <a:ea typeface="Inter"/>
                <a:cs typeface="Inter"/>
                <a:sym typeface="Inter"/>
              </a:rPr>
              <a:t>scikit-learn precision, recall, F1, and PR-curve documentation</a:t>
            </a:r>
            <a:endParaRPr sz="600" b="0" i="0" u="none" strike="noStrike" cap="none">
              <a:solidFill>
                <a:schemeClr val="dk1"/>
              </a:solidFill>
              <a:latin typeface="Inter"/>
              <a:ea typeface="Inter"/>
              <a:cs typeface="Inter"/>
              <a:sym typeface="Inter"/>
            </a:endParaRPr>
          </a:p>
        </p:txBody>
      </p:sp>
      <p:sp>
        <p:nvSpPr>
          <p:cNvPr id="543" name="Google Shape;543;p27"/>
          <p:cNvSpPr/>
          <p:nvPr/>
        </p:nvSpPr>
        <p:spPr>
          <a:xfrm>
            <a:off x="5863590" y="4046220"/>
            <a:ext cx="2468880" cy="274320"/>
          </a:xfrm>
          <a:prstGeom prst="roundRect">
            <a:avLst>
              <a:gd name="adj" fmla="val 16667"/>
            </a:avLst>
          </a:prstGeom>
          <a:solidFill>
            <a:srgbClr val="E5FAF4"/>
          </a:solidFill>
          <a:ln w="12700" cap="flat" cmpd="sng">
            <a:solidFill>
              <a:srgbClr val="E5FAF4"/>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44" name="Google Shape;544;p27"/>
          <p:cNvSpPr/>
          <p:nvPr/>
        </p:nvSpPr>
        <p:spPr>
          <a:xfrm>
            <a:off x="6062472" y="4121658"/>
            <a:ext cx="2071116" cy="1234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2D3A6"/>
              </a:buClr>
              <a:buSzPts val="900"/>
              <a:buFont typeface="Inter"/>
              <a:buNone/>
            </a:pPr>
            <a:r>
              <a:rPr lang="en" sz="900" b="1" i="0" u="none" strike="noStrike" cap="none">
                <a:solidFill>
                  <a:srgbClr val="22D3A6"/>
                </a:solidFill>
                <a:latin typeface="Inter"/>
                <a:ea typeface="Inter"/>
                <a:cs typeface="Inter"/>
                <a:sym typeface="Inter"/>
              </a:rPr>
              <a:t>Questions?</a:t>
            </a:r>
            <a:endParaRPr sz="900" b="0" i="0" u="none" strike="noStrike" cap="none">
              <a:solidFill>
                <a:schemeClr val="dk1"/>
              </a:solidFill>
              <a:latin typeface="Inter"/>
              <a:ea typeface="Inter"/>
              <a:cs typeface="Inter"/>
              <a:sym typeface="Inter"/>
            </a:endParaRPr>
          </a:p>
        </p:txBody>
      </p:sp>
      <p:sp>
        <p:nvSpPr>
          <p:cNvPr id="545" name="Google Shape;545;p27"/>
          <p:cNvSpPr txBox="1">
            <a:spLocks noGrp="1"/>
          </p:cNvSpPr>
          <p:nvPr>
            <p:ph type="sldNum" idx="4294967295"/>
          </p:nvPr>
        </p:nvSpPr>
        <p:spPr>
          <a:xfrm>
            <a:off x="8695944" y="4882896"/>
            <a:ext cx="171450" cy="12344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7C8B99"/>
                </a:solidFill>
                <a:latin typeface="Inter"/>
                <a:ea typeface="Inter"/>
                <a:cs typeface="Inter"/>
                <a:sym typeface="Inter"/>
              </a:rPr>
              <a:t>12</a:t>
            </a:fld>
            <a:endParaRPr sz="600" b="0" i="0" u="none" strike="noStrike" cap="none">
              <a:solidFill>
                <a:srgbClr val="7C8B99"/>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2DCF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64592"/>
            <a:ext cx="5669280" cy="228600"/>
          </a:xfrm>
          <a:prstGeom prst="rect">
            <a:avLst/>
          </a:prstGeom>
          <a:noFill/>
        </p:spPr>
        <p:txBody>
          <a:bodyPr wrap="none">
            <a:spAutoFit/>
          </a:bodyPr>
          <a:lstStyle/>
          <a:p>
            <a:r>
              <a:rPr sz="800" b="1">
                <a:solidFill>
                  <a:srgbClr val="5E6C7B"/>
                </a:solidFill>
                <a:latin typeface="Montserrat"/>
              </a:rPr>
              <a:t>LOGIN THREAT DETECTION • MACHINE LEARNING PROJECT</a:t>
            </a:r>
          </a:p>
        </p:txBody>
      </p:sp>
      <p:sp>
        <p:nvSpPr>
          <p:cNvPr id="4" name="TextBox 3"/>
          <p:cNvSpPr txBox="1"/>
          <p:nvPr/>
        </p:nvSpPr>
        <p:spPr>
          <a:xfrm>
            <a:off x="502920" y="530352"/>
            <a:ext cx="7132320" cy="502920"/>
          </a:xfrm>
          <a:prstGeom prst="rect">
            <a:avLst/>
          </a:prstGeom>
          <a:noFill/>
        </p:spPr>
        <p:txBody>
          <a:bodyPr wrap="none">
            <a:spAutoFit/>
          </a:bodyPr>
          <a:lstStyle/>
          <a:p>
            <a:r>
              <a:rPr sz="2800" b="1">
                <a:solidFill>
                  <a:srgbClr val="0E2233"/>
                </a:solidFill>
                <a:latin typeface="Montserrat"/>
              </a:rPr>
              <a:t>Acknowledgments &amp; project link</a:t>
            </a:r>
          </a:p>
        </p:txBody>
      </p:sp>
      <p:sp>
        <p:nvSpPr>
          <p:cNvPr id="5" name="TextBox 4"/>
          <p:cNvSpPr txBox="1"/>
          <p:nvPr/>
        </p:nvSpPr>
        <p:spPr>
          <a:xfrm>
            <a:off x="502920" y="1005840"/>
            <a:ext cx="7132320" cy="320040"/>
          </a:xfrm>
          <a:prstGeom prst="rect">
            <a:avLst/>
          </a:prstGeom>
          <a:noFill/>
        </p:spPr>
        <p:txBody>
          <a:bodyPr wrap="none">
            <a:spAutoFit/>
          </a:bodyPr>
          <a:lstStyle/>
          <a:p>
            <a:r>
              <a:rPr sz="1200">
                <a:solidFill>
                  <a:srgbClr val="5E6C7B"/>
                </a:solidFill>
                <a:latin typeface="Montserrat"/>
              </a:rPr>
              <a:t>Thank you to the people and program that supported this project.</a:t>
            </a:r>
          </a:p>
        </p:txBody>
      </p:sp>
      <p:sp>
        <p:nvSpPr>
          <p:cNvPr id="6" name="Rounded Rectangle 5"/>
          <p:cNvSpPr/>
          <p:nvPr/>
        </p:nvSpPr>
        <p:spPr>
          <a:xfrm>
            <a:off x="594360" y="1508760"/>
            <a:ext cx="4983480" cy="2880360"/>
          </a:xfrm>
          <a:prstGeom prst="roundRect">
            <a:avLst>
              <a:gd name="adj" fmla="val 16000"/>
            </a:avLst>
          </a:prstGeom>
          <a:solidFill>
            <a:srgbClr val="05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83080"/>
            <a:ext cx="4206240" cy="320040"/>
          </a:xfrm>
          <a:prstGeom prst="rect">
            <a:avLst/>
          </a:prstGeom>
          <a:noFill/>
        </p:spPr>
        <p:txBody>
          <a:bodyPr wrap="none">
            <a:spAutoFit/>
          </a:bodyPr>
          <a:lstStyle/>
          <a:p>
            <a:r>
              <a:rPr sz="900" b="1">
                <a:solidFill>
                  <a:srgbClr val="2DCFAB"/>
                </a:solidFill>
                <a:latin typeface="Montserrat"/>
              </a:rPr>
              <a:t>ACKNOWLEDGMENTS</a:t>
            </a:r>
          </a:p>
        </p:txBody>
      </p:sp>
      <p:sp>
        <p:nvSpPr>
          <p:cNvPr id="8" name="TextBox 7"/>
          <p:cNvSpPr txBox="1"/>
          <p:nvPr/>
        </p:nvSpPr>
        <p:spPr>
          <a:xfrm>
            <a:off x="896112" y="2085340"/>
            <a:ext cx="4251960" cy="1918474"/>
          </a:xfrm>
          <a:prstGeom prst="rect">
            <a:avLst/>
          </a:prstGeom>
          <a:noFill/>
        </p:spPr>
        <p:txBody>
          <a:bodyPr wrap="square">
            <a:spAutoFit/>
          </a:bodyPr>
          <a:lstStyle/>
          <a:p>
            <a:pPr>
              <a:spcAft>
                <a:spcPts val="400"/>
              </a:spcAft>
            </a:pPr>
            <a:r>
              <a:rPr sz="1400" b="1" dirty="0">
                <a:solidFill>
                  <a:srgbClr val="FFFFFF"/>
                </a:solidFill>
                <a:latin typeface="Montserrat"/>
              </a:rPr>
              <a:t>We would like to thank Dr. Bhavani and The University of Texas at Dallas for giving us the opportunity to be part of the UT Dallas Summer Program AI and Cybersecurity.
Thank you for the support and guidance throughout the program.</a:t>
            </a:r>
          </a:p>
        </p:txBody>
      </p:sp>
      <p:sp>
        <p:nvSpPr>
          <p:cNvPr id="9" name="TextBox 8"/>
          <p:cNvSpPr txBox="1"/>
          <p:nvPr/>
        </p:nvSpPr>
        <p:spPr>
          <a:xfrm>
            <a:off x="896112" y="4041648"/>
            <a:ext cx="4206240" cy="256032"/>
          </a:xfrm>
          <a:prstGeom prst="rect">
            <a:avLst/>
          </a:prstGeom>
          <a:noFill/>
        </p:spPr>
        <p:txBody>
          <a:bodyPr wrap="none">
            <a:spAutoFit/>
          </a:bodyPr>
          <a:lstStyle/>
          <a:p>
            <a:r>
              <a:rPr sz="1100" b="1">
                <a:solidFill>
                  <a:srgbClr val="2DCFAB"/>
                </a:solidFill>
                <a:latin typeface="Montserrat"/>
              </a:rPr>
              <a:t>Thank you for listening.</a:t>
            </a:r>
          </a:p>
        </p:txBody>
      </p:sp>
      <p:sp>
        <p:nvSpPr>
          <p:cNvPr id="10" name="Rounded Rectangle 9"/>
          <p:cNvSpPr/>
          <p:nvPr/>
        </p:nvSpPr>
        <p:spPr>
          <a:xfrm>
            <a:off x="5897880" y="1508760"/>
            <a:ext cx="2971800" cy="2880360"/>
          </a:xfrm>
          <a:prstGeom prst="roundRect">
            <a:avLst>
              <a:gd name="adj" fmla="val 12000"/>
            </a:avLst>
          </a:prstGeom>
          <a:solidFill>
            <a:srgbClr val="FFFFFF"/>
          </a:solidFill>
          <a:ln w="12700">
            <a:solidFill>
              <a:srgbClr val="D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90488" y="1847088"/>
            <a:ext cx="2423160" cy="411480"/>
          </a:xfrm>
          <a:prstGeom prst="rect">
            <a:avLst/>
          </a:prstGeom>
          <a:noFill/>
        </p:spPr>
        <p:txBody>
          <a:bodyPr wrap="none">
            <a:spAutoFit/>
          </a:bodyPr>
          <a:lstStyle/>
          <a:p>
            <a:r>
              <a:rPr sz="1800" b="1">
                <a:solidFill>
                  <a:srgbClr val="0E2233"/>
                </a:solidFill>
                <a:latin typeface="Montserrat"/>
              </a:rPr>
              <a:t>GitHub repository</a:t>
            </a:r>
          </a:p>
        </p:txBody>
      </p:sp>
      <p:sp>
        <p:nvSpPr>
          <p:cNvPr id="15" name="TextBox 14"/>
          <p:cNvSpPr txBox="1"/>
          <p:nvPr/>
        </p:nvSpPr>
        <p:spPr>
          <a:xfrm>
            <a:off x="6199632" y="3995135"/>
            <a:ext cx="2331720" cy="320040"/>
          </a:xfrm>
          <a:prstGeom prst="rect">
            <a:avLst/>
          </a:prstGeom>
          <a:noFill/>
        </p:spPr>
        <p:txBody>
          <a:bodyPr wrap="none">
            <a:spAutoFit/>
          </a:bodyPr>
          <a:lstStyle/>
          <a:p>
            <a:r>
              <a:rPr sz="1500" b="1" dirty="0">
                <a:solidFill>
                  <a:srgbClr val="0E2233"/>
                </a:solidFill>
                <a:latin typeface="Montserrat"/>
              </a:rPr>
              <a:t>Questions?</a:t>
            </a:r>
          </a:p>
        </p:txBody>
      </p:sp>
      <p:sp>
        <p:nvSpPr>
          <p:cNvPr id="16" name="Rectangle 15"/>
          <p:cNvSpPr/>
          <p:nvPr/>
        </p:nvSpPr>
        <p:spPr>
          <a:xfrm>
            <a:off x="502920" y="4590288"/>
            <a:ext cx="8183879" cy="9144"/>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626864"/>
            <a:ext cx="1371600" cy="164592"/>
          </a:xfrm>
          <a:prstGeom prst="rect">
            <a:avLst/>
          </a:prstGeom>
          <a:noFill/>
        </p:spPr>
        <p:txBody>
          <a:bodyPr wrap="none">
            <a:spAutoFit/>
          </a:bodyPr>
          <a:lstStyle/>
          <a:p>
            <a:pPr algn="l"/>
            <a:r>
              <a:rPr sz="650">
                <a:solidFill>
                  <a:srgbClr val="96A0AA"/>
                </a:solidFill>
                <a:latin typeface="Montserrat"/>
              </a:rPr>
              <a:t>Safe Login</a:t>
            </a:r>
          </a:p>
        </p:txBody>
      </p:sp>
      <p:sp>
        <p:nvSpPr>
          <p:cNvPr id="18" name="TextBox 17"/>
          <p:cNvSpPr txBox="1"/>
          <p:nvPr/>
        </p:nvSpPr>
        <p:spPr>
          <a:xfrm>
            <a:off x="7406640" y="4626864"/>
            <a:ext cx="1280160" cy="164592"/>
          </a:xfrm>
          <a:prstGeom prst="rect">
            <a:avLst/>
          </a:prstGeom>
          <a:noFill/>
        </p:spPr>
        <p:txBody>
          <a:bodyPr wrap="none">
            <a:spAutoFit/>
          </a:bodyPr>
          <a:lstStyle/>
          <a:p>
            <a:pPr algn="r"/>
            <a:r>
              <a:rPr sz="650">
                <a:solidFill>
                  <a:srgbClr val="96A0AA"/>
                </a:solidFill>
                <a:latin typeface="Montserrat"/>
              </a:rPr>
              <a:t>Programming Project</a:t>
            </a:r>
          </a:p>
        </p:txBody>
      </p:sp>
      <p:sp>
        <p:nvSpPr>
          <p:cNvPr id="19" name="TextBox 18"/>
          <p:cNvSpPr txBox="1"/>
          <p:nvPr/>
        </p:nvSpPr>
        <p:spPr>
          <a:xfrm>
            <a:off x="8613648" y="4626864"/>
            <a:ext cx="320040" cy="164592"/>
          </a:xfrm>
          <a:prstGeom prst="rect">
            <a:avLst/>
          </a:prstGeom>
          <a:noFill/>
        </p:spPr>
        <p:txBody>
          <a:bodyPr wrap="none">
            <a:spAutoFit/>
          </a:bodyPr>
          <a:lstStyle/>
          <a:p>
            <a:pPr algn="r"/>
            <a:r>
              <a:rPr sz="650">
                <a:solidFill>
                  <a:srgbClr val="96A0AA"/>
                </a:solidFill>
                <a:latin typeface="Montserrat"/>
              </a:rPr>
              <a:t>13</a:t>
            </a:r>
          </a:p>
        </p:txBody>
      </p:sp>
      <p:pic>
        <p:nvPicPr>
          <p:cNvPr id="21" name="Picture 20">
            <a:extLst>
              <a:ext uri="{FF2B5EF4-FFF2-40B4-BE49-F238E27FC236}">
                <a16:creationId xmlns:a16="http://schemas.microsoft.com/office/drawing/2014/main" id="{7018CF76-A4F1-75B3-09DF-3FC8EB79FD69}"/>
              </a:ext>
            </a:extLst>
          </p:cNvPr>
          <p:cNvPicPr>
            <a:picLocks noChangeAspect="1"/>
          </p:cNvPicPr>
          <p:nvPr/>
        </p:nvPicPr>
        <p:blipFill>
          <a:blip r:embed="rId3"/>
          <a:stretch>
            <a:fillRect/>
          </a:stretch>
        </p:blipFill>
        <p:spPr>
          <a:xfrm>
            <a:off x="6502401" y="2195734"/>
            <a:ext cx="1844294" cy="1844294"/>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2215</Words>
  <Application>Microsoft Office PowerPoint</Application>
  <PresentationFormat>On-screen Show (16:9)</PresentationFormat>
  <Paragraphs>297</Paragraphs>
  <Slides>13</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Montserrat</vt:lpstr>
      <vt:lpstr>Inter</vt:lpstr>
      <vt:lpstr>Arial</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Pranav Das</cp:lastModifiedBy>
  <cp:revision>4</cp:revision>
  <dcterms:modified xsi:type="dcterms:W3CDTF">2026-07-17T17:28:22Z</dcterms:modified>
</cp:coreProperties>
</file>