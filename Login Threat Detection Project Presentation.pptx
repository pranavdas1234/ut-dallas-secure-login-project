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  <p:sldMasterId id="214748366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embeddedFontLst>
    <p:embeddedFont>
      <p:font typeface="Inter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.fntdata"/><Relationship Id="rId11" Type="http://schemas.openxmlformats.org/officeDocument/2006/relationships/slide" Target="slides/slide5.xml"/><Relationship Id="rId22" Type="http://schemas.openxmlformats.org/officeDocument/2006/relationships/font" Target="fonts/Inter-boldItalic.fntdata"/><Relationship Id="rId10" Type="http://schemas.openxmlformats.org/officeDocument/2006/relationships/slide" Target="slides/slide4.xml"/><Relationship Id="rId21" Type="http://schemas.openxmlformats.org/officeDocument/2006/relationships/font" Target="fonts/Inter-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schemas.openxmlformats.org/officeDocument/2006/relationships/font" Target="fonts/Inter-regular.fntdata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4bdbee899_2_1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g3f4bdbee899_2_1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g3f4bdbee899_2_1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4bdbee899_2_55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3f4bdbee899_2_55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3f4bdbee899_2_55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f4bdbee899_2_8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f4bdbee899_2_8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f4bdbee899_2_8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f4bdbee899_2_12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g3f4bdbee899_2_12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g3f4bdbee899_2_12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f4bdbee899_2_17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g3f4bdbee899_2_17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g3f4bdbee899_2_17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f4bdbee899_2_20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g3f4bdbee899_2_20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g3f4bdbee899_2_20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f4bdbee899_2_24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" name="Google Shape;302;g3f4bdbee899_2_24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g3f4bdbee899_2_24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f4bdbee899_2_274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4" name="Google Shape;334;g3f4bdbee899_2_274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g3f4bdbee899_2_274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f4bdbee899_2_316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3f4bdbee899_2_316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g3f4bdbee899_2_316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f4bdbee899_2_35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9" name="Google Shape;419;g3f4bdbee899_2_35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g3f4bdbee899_2_35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f4bdbee899_2_40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0" name="Google Shape;470;g3f4bdbee899_2_40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g3f4bdbee899_2_40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3f4bdbee899_2_44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2" name="Google Shape;512;g3f4bdbee899_2_44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g3f4bdbee899_2_44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bg>
      <p:bgPr>
        <a:solidFill>
          <a:srgbClr val="F5F8FC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5"/>
          <p:cNvSpPr/>
          <p:nvPr/>
        </p:nvSpPr>
        <p:spPr>
          <a:xfrm>
            <a:off x="445770" y="123444"/>
            <a:ext cx="58293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7184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5E7184"/>
                </a:solidFill>
                <a:latin typeface="Inter"/>
                <a:ea typeface="Inter"/>
                <a:cs typeface="Inter"/>
                <a:sym typeface="Inter"/>
              </a:rPr>
              <a:t>LOGIN THREAT DETECTION • MACHINE LEARNING PROJECT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56" name="Google Shape;56;p15"/>
          <p:cNvCxnSpPr/>
          <p:nvPr/>
        </p:nvCxnSpPr>
        <p:spPr>
          <a:xfrm>
            <a:off x="445770" y="4855464"/>
            <a:ext cx="8243316" cy="0"/>
          </a:xfrm>
          <a:prstGeom prst="straightConnector1">
            <a:avLst/>
          </a:prstGeom>
          <a:noFill/>
          <a:ln cap="flat" cmpd="sng" w="9525">
            <a:solidFill>
              <a:srgbClr val="DDE5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15"/>
          <p:cNvSpPr/>
          <p:nvPr/>
        </p:nvSpPr>
        <p:spPr>
          <a:xfrm>
            <a:off x="445770" y="4896612"/>
            <a:ext cx="102870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8B99"/>
              </a:buClr>
              <a:buSzPts val="600"/>
              <a:buFont typeface="Inter"/>
              <a:buNone/>
            </a:pPr>
            <a:r>
              <a:rPr lang="en" sz="600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Safe Login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" name="Google Shape;58;p15"/>
          <p:cNvSpPr/>
          <p:nvPr/>
        </p:nvSpPr>
        <p:spPr>
          <a:xfrm>
            <a:off x="7269480" y="4896612"/>
            <a:ext cx="137160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C8B99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Programming Project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0" lvl="1" marL="0" marR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0" lvl="2" marL="0" marR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0" lvl="3" marL="0" marR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0" lvl="4" marL="0" marR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0" lvl="5" marL="0" marR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0" lvl="6" marL="0" marR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0" lvl="7" marL="0" marR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0" lvl="8" marL="0" marR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1B2A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5" name="Google Shape;65;p16"/>
          <p:cNvCxnSpPr/>
          <p:nvPr/>
        </p:nvCxnSpPr>
        <p:spPr>
          <a:xfrm flipH="1">
            <a:off x="3360420" y="0"/>
            <a:ext cx="1920240" cy="514350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" name="Google Shape;66;p16"/>
          <p:cNvCxnSpPr/>
          <p:nvPr/>
        </p:nvCxnSpPr>
        <p:spPr>
          <a:xfrm flipH="1">
            <a:off x="3737610" y="0"/>
            <a:ext cx="1920240" cy="514350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" name="Google Shape;67;p16"/>
          <p:cNvCxnSpPr/>
          <p:nvPr/>
        </p:nvCxnSpPr>
        <p:spPr>
          <a:xfrm flipH="1">
            <a:off x="4114800" y="0"/>
            <a:ext cx="1920240" cy="514350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" name="Google Shape;68;p16"/>
          <p:cNvCxnSpPr/>
          <p:nvPr/>
        </p:nvCxnSpPr>
        <p:spPr>
          <a:xfrm flipH="1">
            <a:off x="4491990" y="0"/>
            <a:ext cx="1920240" cy="514350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" name="Google Shape;69;p16"/>
          <p:cNvCxnSpPr/>
          <p:nvPr/>
        </p:nvCxnSpPr>
        <p:spPr>
          <a:xfrm flipH="1">
            <a:off x="4869180" y="0"/>
            <a:ext cx="1920240" cy="514350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" name="Google Shape;70;p16"/>
          <p:cNvCxnSpPr/>
          <p:nvPr/>
        </p:nvCxnSpPr>
        <p:spPr>
          <a:xfrm flipH="1">
            <a:off x="5246370" y="0"/>
            <a:ext cx="1920240" cy="514350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6"/>
          <p:cNvCxnSpPr/>
          <p:nvPr/>
        </p:nvCxnSpPr>
        <p:spPr>
          <a:xfrm flipH="1">
            <a:off x="5623560" y="0"/>
            <a:ext cx="1920240" cy="514350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16"/>
          <p:cNvCxnSpPr/>
          <p:nvPr/>
        </p:nvCxnSpPr>
        <p:spPr>
          <a:xfrm flipH="1">
            <a:off x="6000750" y="0"/>
            <a:ext cx="1920240" cy="514350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" name="Google Shape;73;p16"/>
          <p:cNvCxnSpPr/>
          <p:nvPr/>
        </p:nvCxnSpPr>
        <p:spPr>
          <a:xfrm flipH="1">
            <a:off x="6377940" y="0"/>
            <a:ext cx="1920240" cy="514350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" name="Google Shape;74;p16"/>
          <p:cNvCxnSpPr/>
          <p:nvPr/>
        </p:nvCxnSpPr>
        <p:spPr>
          <a:xfrm>
            <a:off x="4526280" y="205740"/>
            <a:ext cx="4732020" cy="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" name="Google Shape;75;p16"/>
          <p:cNvCxnSpPr/>
          <p:nvPr/>
        </p:nvCxnSpPr>
        <p:spPr>
          <a:xfrm>
            <a:off x="4907280" y="720090"/>
            <a:ext cx="4731900" cy="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" name="Google Shape;76;p16"/>
          <p:cNvCxnSpPr/>
          <p:nvPr/>
        </p:nvCxnSpPr>
        <p:spPr>
          <a:xfrm>
            <a:off x="4698800" y="1234440"/>
            <a:ext cx="4731900" cy="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" name="Google Shape;77;p16"/>
          <p:cNvCxnSpPr/>
          <p:nvPr/>
        </p:nvCxnSpPr>
        <p:spPr>
          <a:xfrm>
            <a:off x="4526280" y="1748790"/>
            <a:ext cx="4732020" cy="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" name="Google Shape;78;p16"/>
          <p:cNvCxnSpPr/>
          <p:nvPr/>
        </p:nvCxnSpPr>
        <p:spPr>
          <a:xfrm>
            <a:off x="4373880" y="2263140"/>
            <a:ext cx="4731900" cy="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9" name="Google Shape;79;p16"/>
          <p:cNvCxnSpPr/>
          <p:nvPr/>
        </p:nvCxnSpPr>
        <p:spPr>
          <a:xfrm>
            <a:off x="4145280" y="2777490"/>
            <a:ext cx="4731900" cy="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0" name="Google Shape;80;p16"/>
          <p:cNvCxnSpPr/>
          <p:nvPr/>
        </p:nvCxnSpPr>
        <p:spPr>
          <a:xfrm>
            <a:off x="3992880" y="3291840"/>
            <a:ext cx="4731900" cy="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1" name="Google Shape;81;p16"/>
          <p:cNvCxnSpPr/>
          <p:nvPr/>
        </p:nvCxnSpPr>
        <p:spPr>
          <a:xfrm>
            <a:off x="3797243" y="3806190"/>
            <a:ext cx="4731900" cy="0"/>
          </a:xfrm>
          <a:prstGeom prst="straightConnector1">
            <a:avLst/>
          </a:prstGeom>
          <a:noFill/>
          <a:ln cap="flat" cmpd="sng" w="9525">
            <a:solidFill>
              <a:srgbClr val="123B5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" name="Google Shape;82;p16"/>
          <p:cNvSpPr/>
          <p:nvPr/>
        </p:nvSpPr>
        <p:spPr>
          <a:xfrm>
            <a:off x="5554980" y="582930"/>
            <a:ext cx="2777490" cy="2777490"/>
          </a:xfrm>
          <a:prstGeom prst="ellipse">
            <a:avLst/>
          </a:prstGeom>
          <a:solidFill>
            <a:srgbClr val="0C3042"/>
          </a:solidFill>
          <a:ln cap="flat" cmpd="sng" w="15225">
            <a:solidFill>
              <a:srgbClr val="1A53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6"/>
          <p:cNvSpPr/>
          <p:nvPr/>
        </p:nvSpPr>
        <p:spPr>
          <a:xfrm>
            <a:off x="5932170" y="960120"/>
            <a:ext cx="2023200" cy="2023200"/>
          </a:xfrm>
          <a:prstGeom prst="ellipse">
            <a:avLst/>
          </a:prstGeom>
          <a:solidFill>
            <a:srgbClr val="0F4050"/>
          </a:solidFill>
          <a:ln cap="flat" cmpd="sng" w="10150">
            <a:solidFill>
              <a:srgbClr val="2C61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/>
          <p:nvPr/>
        </p:nvSpPr>
        <p:spPr>
          <a:xfrm rot="10800000">
            <a:off x="6206525" y="1165775"/>
            <a:ext cx="1508700" cy="1680300"/>
          </a:xfrm>
          <a:prstGeom prst="pentagon">
            <a:avLst>
              <a:gd fmla="val 105146" name="hf"/>
              <a:gd fmla="val 110557" name="vf"/>
            </a:avLst>
          </a:prstGeom>
          <a:solidFill>
            <a:srgbClr val="22D3A6">
              <a:alpha val="94901"/>
            </a:srgbClr>
          </a:solidFill>
          <a:ln cap="flat" cmpd="sng" w="15225">
            <a:solidFill>
              <a:srgbClr val="52E2B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6"/>
          <p:cNvSpPr/>
          <p:nvPr/>
        </p:nvSpPr>
        <p:spPr>
          <a:xfrm>
            <a:off x="6590538" y="1794613"/>
            <a:ext cx="740700" cy="562500"/>
          </a:xfrm>
          <a:prstGeom prst="roundRect">
            <a:avLst>
              <a:gd fmla="val 16667" name="adj"/>
            </a:avLst>
          </a:prstGeom>
          <a:solidFill>
            <a:srgbClr val="071B2A"/>
          </a:solidFill>
          <a:ln cap="flat" cmpd="sng" w="1270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6"/>
          <p:cNvSpPr/>
          <p:nvPr/>
        </p:nvSpPr>
        <p:spPr>
          <a:xfrm>
            <a:off x="6693408" y="1472287"/>
            <a:ext cx="534900" cy="534900"/>
          </a:xfrm>
          <a:prstGeom prst="arc">
            <a:avLst>
              <a:gd fmla="val 16200000" name="adj1"/>
              <a:gd fmla="val 0" name="adj2"/>
            </a:avLst>
          </a:prstGeom>
          <a:solidFill>
            <a:srgbClr val="071B2A">
              <a:alpha val="0"/>
            </a:srgbClr>
          </a:solidFill>
          <a:ln cap="flat" cmpd="sng" w="4825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6892290" y="1947672"/>
            <a:ext cx="150876" cy="150876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6"/>
          <p:cNvSpPr/>
          <p:nvPr/>
        </p:nvSpPr>
        <p:spPr>
          <a:xfrm>
            <a:off x="6947154" y="2064258"/>
            <a:ext cx="48006" cy="137160"/>
          </a:xfrm>
          <a:prstGeom prst="rect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6"/>
          <p:cNvSpPr/>
          <p:nvPr/>
        </p:nvSpPr>
        <p:spPr>
          <a:xfrm>
            <a:off x="5436057" y="3703320"/>
            <a:ext cx="82200" cy="82200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6"/>
          <p:cNvSpPr/>
          <p:nvPr/>
        </p:nvSpPr>
        <p:spPr>
          <a:xfrm>
            <a:off x="5870225" y="4011930"/>
            <a:ext cx="82200" cy="82200"/>
          </a:xfrm>
          <a:prstGeom prst="ellipse">
            <a:avLst/>
          </a:prstGeom>
          <a:solidFill>
            <a:srgbClr val="4CC9F0"/>
          </a:solidFill>
          <a:ln cap="flat" cmpd="sng" w="12700">
            <a:solidFill>
              <a:srgbClr val="4CC9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6"/>
          <p:cNvSpPr/>
          <p:nvPr/>
        </p:nvSpPr>
        <p:spPr>
          <a:xfrm>
            <a:off x="6327597" y="3600450"/>
            <a:ext cx="82200" cy="82200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6"/>
          <p:cNvSpPr/>
          <p:nvPr/>
        </p:nvSpPr>
        <p:spPr>
          <a:xfrm>
            <a:off x="6830345" y="3943350"/>
            <a:ext cx="82200" cy="82200"/>
          </a:xfrm>
          <a:prstGeom prst="ellipse">
            <a:avLst/>
          </a:prstGeom>
          <a:solidFill>
            <a:srgbClr val="4CC9F0"/>
          </a:solidFill>
          <a:ln cap="flat" cmpd="sng" w="12700">
            <a:solidFill>
              <a:srgbClr val="4CC9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7356297" y="3531870"/>
            <a:ext cx="82200" cy="82200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6"/>
          <p:cNvSpPr/>
          <p:nvPr/>
        </p:nvSpPr>
        <p:spPr>
          <a:xfrm>
            <a:off x="7767777" y="3874770"/>
            <a:ext cx="82200" cy="82200"/>
          </a:xfrm>
          <a:prstGeom prst="ellipse">
            <a:avLst/>
          </a:prstGeom>
          <a:solidFill>
            <a:srgbClr val="4CC9F0"/>
          </a:solidFill>
          <a:ln cap="flat" cmpd="sng" w="12700">
            <a:solidFill>
              <a:srgbClr val="4CC9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6"/>
          <p:cNvSpPr/>
          <p:nvPr/>
        </p:nvSpPr>
        <p:spPr>
          <a:xfrm>
            <a:off x="514350" y="857250"/>
            <a:ext cx="397764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Inter"/>
              <a:buNone/>
            </a:pPr>
            <a:r>
              <a:rPr b="1" lang="en" sz="26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Safe Login</a:t>
            </a:r>
            <a:endParaRPr b="0" i="0" sz="2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16"/>
          <p:cNvSpPr/>
          <p:nvPr/>
        </p:nvSpPr>
        <p:spPr>
          <a:xfrm>
            <a:off x="514350" y="1405890"/>
            <a:ext cx="4594860" cy="9258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Detecting Suspicious Logins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with Machine Learning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534924" y="2482596"/>
            <a:ext cx="4080510" cy="5349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BD0DC"/>
              </a:buClr>
              <a:buSzPts val="1100"/>
              <a:buFont typeface="Inter"/>
              <a:buNone/>
            </a:pPr>
            <a:r>
              <a:rPr b="0" i="0" lang="en" sz="1100" u="none" cap="none" strike="noStrike">
                <a:solidFill>
                  <a:srgbClr val="BBD0DC"/>
                </a:solidFill>
                <a:latin typeface="Inter"/>
                <a:ea typeface="Inter"/>
                <a:cs typeface="Inter"/>
                <a:sym typeface="Inter"/>
              </a:rPr>
              <a:t>A Python-based cybersecurity classification project using the Risk-Based Authentication dataset</a:t>
            </a:r>
            <a:endParaRPr b="0" i="0" sz="1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534924" y="3257550"/>
            <a:ext cx="788670" cy="233172"/>
          </a:xfrm>
          <a:prstGeom prst="roundRect">
            <a:avLst>
              <a:gd fmla="val 16667" name="adj"/>
            </a:avLst>
          </a:prstGeom>
          <a:solidFill>
            <a:srgbClr val="14394C"/>
          </a:solidFill>
          <a:ln cap="flat" cmpd="sng" w="12700">
            <a:solidFill>
              <a:srgbClr val="1439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589788" y="3291840"/>
            <a:ext cx="678942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PYTHON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1405890" y="3257550"/>
            <a:ext cx="1220724" cy="233172"/>
          </a:xfrm>
          <a:prstGeom prst="roundRect">
            <a:avLst>
              <a:gd fmla="val 16667" name="adj"/>
            </a:avLst>
          </a:prstGeom>
          <a:solidFill>
            <a:srgbClr val="14394C"/>
          </a:solidFill>
          <a:ln cap="flat" cmpd="sng" w="12700">
            <a:solidFill>
              <a:srgbClr val="1439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6"/>
          <p:cNvSpPr/>
          <p:nvPr/>
        </p:nvSpPr>
        <p:spPr>
          <a:xfrm>
            <a:off x="1460754" y="3291840"/>
            <a:ext cx="1110996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CC9F0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4CC9F0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2708910" y="3257550"/>
            <a:ext cx="1131570" cy="233172"/>
          </a:xfrm>
          <a:prstGeom prst="roundRect">
            <a:avLst>
              <a:gd fmla="val 16667" name="adj"/>
            </a:avLst>
          </a:prstGeom>
          <a:solidFill>
            <a:srgbClr val="14394C"/>
          </a:solidFill>
          <a:ln cap="flat" cmpd="sng" w="12700">
            <a:solidFill>
              <a:srgbClr val="1439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6"/>
          <p:cNvSpPr/>
          <p:nvPr/>
        </p:nvSpPr>
        <p:spPr>
          <a:xfrm>
            <a:off x="2763774" y="3291840"/>
            <a:ext cx="1021842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8DBE6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C8DBE6"/>
                </a:solidFill>
                <a:latin typeface="Inter"/>
                <a:ea typeface="Inter"/>
                <a:cs typeface="Inter"/>
                <a:sym typeface="Inter"/>
              </a:rPr>
              <a:t>CYBERSECURITY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534924" y="4594860"/>
            <a:ext cx="260604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5A7B9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85A7B9"/>
                </a:solidFill>
                <a:latin typeface="Inter"/>
                <a:ea typeface="Inter"/>
                <a:cs typeface="Inter"/>
                <a:sym typeface="Inter"/>
              </a:rPr>
              <a:t>Programming Project Presentation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5" name="Google Shape;105;p16"/>
          <p:cNvSpPr/>
          <p:nvPr/>
        </p:nvSpPr>
        <p:spPr>
          <a:xfrm rot="-5400000">
            <a:off x="6693410" y="1472305"/>
            <a:ext cx="534900" cy="534900"/>
          </a:xfrm>
          <a:prstGeom prst="arc">
            <a:avLst>
              <a:gd fmla="val 16200000" name="adj1"/>
              <a:gd fmla="val 0" name="adj2"/>
            </a:avLst>
          </a:prstGeom>
          <a:solidFill>
            <a:srgbClr val="071B2A">
              <a:alpha val="0"/>
            </a:srgbClr>
          </a:solidFill>
          <a:ln cap="flat" cmpd="sng" w="4825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6"/>
          <p:cNvSpPr txBox="1"/>
          <p:nvPr/>
        </p:nvSpPr>
        <p:spPr>
          <a:xfrm>
            <a:off x="438800" y="3632263"/>
            <a:ext cx="3521100" cy="5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By: Pranav Das, Julia Jeng, Sahas Vijay, Aarush Kikkuru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/>
          <p:nvPr/>
        </p:nvSpPr>
        <p:spPr>
          <a:xfrm>
            <a:off x="445770" y="425196"/>
            <a:ext cx="665226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Why this project matters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459486" y="809244"/>
            <a:ext cx="747522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900"/>
              <a:buFont typeface="Inter"/>
              <a:buNone/>
            </a:pPr>
            <a:r>
              <a:rPr b="0" i="0" lang="en" sz="9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A login can look normal on the surface while still carrying multiple risk signals.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4" name="Google Shape;114;p17"/>
          <p:cNvSpPr/>
          <p:nvPr/>
        </p:nvSpPr>
        <p:spPr>
          <a:xfrm>
            <a:off x="466344" y="1268730"/>
            <a:ext cx="2249424" cy="2091690"/>
          </a:xfrm>
          <a:prstGeom prst="roundRect">
            <a:avLst>
              <a:gd fmla="val 3934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7"/>
          <p:cNvSpPr/>
          <p:nvPr/>
        </p:nvSpPr>
        <p:spPr>
          <a:xfrm>
            <a:off x="617220" y="1426464"/>
            <a:ext cx="377190" cy="377190"/>
          </a:xfrm>
          <a:prstGeom prst="ellipse">
            <a:avLst/>
          </a:prstGeom>
          <a:solidFill>
            <a:srgbClr val="EAF2FF"/>
          </a:solidFill>
          <a:ln cap="flat" cmpd="sng" w="12700">
            <a:solidFill>
              <a:srgbClr val="EAF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7"/>
          <p:cNvSpPr/>
          <p:nvPr/>
        </p:nvSpPr>
        <p:spPr>
          <a:xfrm>
            <a:off x="617220" y="1553340"/>
            <a:ext cx="3771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86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3A86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17"/>
          <p:cNvSpPr/>
          <p:nvPr/>
        </p:nvSpPr>
        <p:spPr>
          <a:xfrm>
            <a:off x="617220" y="1975104"/>
            <a:ext cx="1940814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1300"/>
              <a:buFont typeface="Inter"/>
              <a:buNone/>
            </a:pPr>
            <a:r>
              <a:rPr b="1" i="0" lang="en" sz="13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Passwords are not enough</a:t>
            </a:r>
            <a:endParaRPr b="0" i="0" sz="13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17"/>
          <p:cNvSpPr/>
          <p:nvPr/>
        </p:nvSpPr>
        <p:spPr>
          <a:xfrm>
            <a:off x="617220" y="2414016"/>
            <a:ext cx="1906524" cy="720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A correct password does not prove that the person logging in is the legitimate account owner.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3038094" y="1268730"/>
            <a:ext cx="2249424" cy="2091690"/>
          </a:xfrm>
          <a:prstGeom prst="roundRect">
            <a:avLst>
              <a:gd fmla="val 3934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7"/>
          <p:cNvSpPr/>
          <p:nvPr/>
        </p:nvSpPr>
        <p:spPr>
          <a:xfrm>
            <a:off x="3188970" y="1426464"/>
            <a:ext cx="377190" cy="377190"/>
          </a:xfrm>
          <a:prstGeom prst="ellipse">
            <a:avLst/>
          </a:prstGeom>
          <a:solidFill>
            <a:srgbClr val="E5FAF4"/>
          </a:solidFill>
          <a:ln cap="flat" cmpd="sng" w="12700">
            <a:solidFill>
              <a:srgbClr val="E5FA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188970" y="1556765"/>
            <a:ext cx="3771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3188970" y="1975104"/>
            <a:ext cx="1940814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1300"/>
              <a:buFont typeface="Inter"/>
              <a:buNone/>
            </a:pPr>
            <a:r>
              <a:rPr b="1" i="0" lang="en" sz="13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Context reveals risk</a:t>
            </a:r>
            <a:endParaRPr b="0" i="0" sz="13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3188970" y="2414016"/>
            <a:ext cx="1906524" cy="720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Time, location, device, network, latency, and login success patterns can make suspicious activity easier to detect.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5609844" y="1268730"/>
            <a:ext cx="2249424" cy="2091690"/>
          </a:xfrm>
          <a:prstGeom prst="roundRect">
            <a:avLst>
              <a:gd fmla="val 3934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7"/>
          <p:cNvSpPr/>
          <p:nvPr/>
        </p:nvSpPr>
        <p:spPr>
          <a:xfrm>
            <a:off x="5760720" y="1426464"/>
            <a:ext cx="377190" cy="377190"/>
          </a:xfrm>
          <a:prstGeom prst="ellipse">
            <a:avLst/>
          </a:prstGeom>
          <a:solidFill>
            <a:srgbClr val="FFF0F0"/>
          </a:solidFill>
          <a:ln cap="flat" cmpd="sng" w="12700">
            <a:solidFill>
              <a:srgbClr val="FFF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7"/>
          <p:cNvSpPr/>
          <p:nvPr/>
        </p:nvSpPr>
        <p:spPr>
          <a:xfrm>
            <a:off x="5760720" y="1553277"/>
            <a:ext cx="3771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6B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6B6B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5760720" y="1975104"/>
            <a:ext cx="1940814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1300"/>
              <a:buFont typeface="Inter"/>
              <a:buNone/>
            </a:pPr>
            <a:r>
              <a:rPr b="1" i="0" lang="en" sz="13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ML combines signals</a:t>
            </a:r>
            <a:endParaRPr b="0" i="0" sz="13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17"/>
          <p:cNvSpPr/>
          <p:nvPr/>
        </p:nvSpPr>
        <p:spPr>
          <a:xfrm>
            <a:off x="5760720" y="2414016"/>
            <a:ext cx="1906524" cy="720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A classification model can evaluate many weak signals together and assign a risk decision to each login.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809244" y="3655314"/>
            <a:ext cx="7523100" cy="569100"/>
          </a:xfrm>
          <a:prstGeom prst="roundRect">
            <a:avLst>
              <a:gd fmla="val 16667" name="adj"/>
            </a:avLst>
          </a:prstGeom>
          <a:solidFill>
            <a:srgbClr val="071B2A"/>
          </a:solidFill>
          <a:ln cap="flat" cmpd="sng" w="1270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7"/>
          <p:cNvSpPr/>
          <p:nvPr/>
        </p:nvSpPr>
        <p:spPr>
          <a:xfrm>
            <a:off x="1014984" y="3859701"/>
            <a:ext cx="994500" cy="13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Project question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2112264" y="3811695"/>
            <a:ext cx="57264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Inter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Can a machine learning model use login context to identify suspicious activity?</a:t>
            </a:r>
            <a:endParaRPr b="0" i="0" sz="13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17"/>
          <p:cNvSpPr txBox="1"/>
          <p:nvPr>
            <p:ph idx="4294967295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600" u="none" cap="none" strike="noStrike">
              <a:solidFill>
                <a:srgbClr val="7C8B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8"/>
          <p:cNvSpPr/>
          <p:nvPr/>
        </p:nvSpPr>
        <p:spPr>
          <a:xfrm>
            <a:off x="445770" y="425196"/>
            <a:ext cx="665226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Project objective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459486" y="809244"/>
            <a:ext cx="747522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900"/>
              <a:buFont typeface="Inter"/>
              <a:buNone/>
            </a:pPr>
            <a:r>
              <a:rPr b="0" i="0" lang="en" sz="9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Convert raw login activity into a clear, explainable security decision.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0" name="Google Shape;140;p18"/>
          <p:cNvSpPr/>
          <p:nvPr/>
        </p:nvSpPr>
        <p:spPr>
          <a:xfrm>
            <a:off x="651510" y="1323594"/>
            <a:ext cx="96012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INPUT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1" name="Google Shape;141;p18"/>
          <p:cNvSpPr/>
          <p:nvPr/>
        </p:nvSpPr>
        <p:spPr>
          <a:xfrm>
            <a:off x="4101084" y="1323594"/>
            <a:ext cx="96012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MODEL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2" name="Google Shape;142;p18"/>
          <p:cNvSpPr/>
          <p:nvPr/>
        </p:nvSpPr>
        <p:spPr>
          <a:xfrm>
            <a:off x="7002036" y="1368157"/>
            <a:ext cx="9600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OUTPUT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562356" y="1563624"/>
            <a:ext cx="2228850" cy="1933956"/>
          </a:xfrm>
          <a:prstGeom prst="roundRect">
            <a:avLst>
              <a:gd fmla="val 4255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8"/>
          <p:cNvSpPr/>
          <p:nvPr/>
        </p:nvSpPr>
        <p:spPr>
          <a:xfrm>
            <a:off x="754380" y="1817370"/>
            <a:ext cx="370332" cy="370332"/>
          </a:xfrm>
          <a:prstGeom prst="ellipse">
            <a:avLst/>
          </a:prstGeom>
          <a:solidFill>
            <a:srgbClr val="EAF2FF"/>
          </a:solidFill>
          <a:ln cap="flat" cmpd="sng" w="12700">
            <a:solidFill>
              <a:srgbClr val="EAF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8"/>
          <p:cNvSpPr/>
          <p:nvPr/>
        </p:nvSpPr>
        <p:spPr>
          <a:xfrm>
            <a:off x="857250" y="1906524"/>
            <a:ext cx="164592" cy="164592"/>
          </a:xfrm>
          <a:prstGeom prst="ellipse">
            <a:avLst/>
          </a:prstGeom>
          <a:solidFill>
            <a:srgbClr val="EAF2FF">
              <a:alpha val="0"/>
            </a:srgbClr>
          </a:solidFill>
          <a:ln cap="flat" cmpd="sng" w="16500">
            <a:solidFill>
              <a:srgbClr val="3A8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46" name="Google Shape;146;p18"/>
          <p:cNvCxnSpPr/>
          <p:nvPr/>
        </p:nvCxnSpPr>
        <p:spPr>
          <a:xfrm rot="10800000">
            <a:off x="939546" y="1940814"/>
            <a:ext cx="0" cy="48006"/>
          </a:xfrm>
          <a:prstGeom prst="straightConnector1">
            <a:avLst/>
          </a:prstGeom>
          <a:noFill/>
          <a:ln cap="flat" cmpd="sng" w="15225">
            <a:solidFill>
              <a:srgbClr val="3A86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7" name="Google Shape;147;p18"/>
          <p:cNvCxnSpPr/>
          <p:nvPr/>
        </p:nvCxnSpPr>
        <p:spPr>
          <a:xfrm>
            <a:off x="939546" y="1988820"/>
            <a:ext cx="48006" cy="27432"/>
          </a:xfrm>
          <a:prstGeom prst="straightConnector1">
            <a:avLst/>
          </a:prstGeom>
          <a:noFill/>
          <a:ln cap="flat" cmpd="sng" w="15225">
            <a:solidFill>
              <a:srgbClr val="3A86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" name="Google Shape;148;p18"/>
          <p:cNvSpPr/>
          <p:nvPr/>
        </p:nvSpPr>
        <p:spPr>
          <a:xfrm>
            <a:off x="754380" y="2311146"/>
            <a:ext cx="370332" cy="370332"/>
          </a:xfrm>
          <a:prstGeom prst="ellipse">
            <a:avLst/>
          </a:prstGeom>
          <a:solidFill>
            <a:srgbClr val="E5FAF4"/>
          </a:solidFill>
          <a:ln cap="flat" cmpd="sng" w="12700">
            <a:solidFill>
              <a:srgbClr val="E5FA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8"/>
          <p:cNvSpPr/>
          <p:nvPr/>
        </p:nvSpPr>
        <p:spPr>
          <a:xfrm>
            <a:off x="850392" y="2400300"/>
            <a:ext cx="178308" cy="178308"/>
          </a:xfrm>
          <a:prstGeom prst="ellipse">
            <a:avLst/>
          </a:prstGeom>
          <a:solidFill>
            <a:srgbClr val="E5FAF4">
              <a:alpha val="0"/>
            </a:srgbClr>
          </a:solidFill>
          <a:ln cap="flat" cmpd="sng" w="15225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50" name="Google Shape;150;p18"/>
          <p:cNvCxnSpPr/>
          <p:nvPr/>
        </p:nvCxnSpPr>
        <p:spPr>
          <a:xfrm>
            <a:off x="939546" y="2400300"/>
            <a:ext cx="0" cy="178308"/>
          </a:xfrm>
          <a:prstGeom prst="straightConnector1">
            <a:avLst/>
          </a:prstGeom>
          <a:noFill/>
          <a:ln cap="flat" cmpd="sng" w="11425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1" name="Google Shape;151;p18"/>
          <p:cNvCxnSpPr/>
          <p:nvPr/>
        </p:nvCxnSpPr>
        <p:spPr>
          <a:xfrm>
            <a:off x="850392" y="2489454"/>
            <a:ext cx="178308" cy="0"/>
          </a:xfrm>
          <a:prstGeom prst="straightConnector1">
            <a:avLst/>
          </a:prstGeom>
          <a:noFill/>
          <a:ln cap="flat" cmpd="sng" w="11425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" name="Google Shape;152;p18"/>
          <p:cNvSpPr/>
          <p:nvPr/>
        </p:nvSpPr>
        <p:spPr>
          <a:xfrm>
            <a:off x="754380" y="2804922"/>
            <a:ext cx="370332" cy="370332"/>
          </a:xfrm>
          <a:prstGeom prst="ellipse">
            <a:avLst/>
          </a:prstGeom>
          <a:solidFill>
            <a:srgbClr val="FFF0F0"/>
          </a:solidFill>
          <a:ln cap="flat" cmpd="sng" w="12700">
            <a:solidFill>
              <a:srgbClr val="FFF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8"/>
          <p:cNvSpPr/>
          <p:nvPr/>
        </p:nvSpPr>
        <p:spPr>
          <a:xfrm>
            <a:off x="850392" y="2894076"/>
            <a:ext cx="185166" cy="144018"/>
          </a:xfrm>
          <a:prstGeom prst="roundRect">
            <a:avLst>
              <a:gd fmla="val 16667" name="adj"/>
            </a:avLst>
          </a:prstGeom>
          <a:solidFill>
            <a:srgbClr val="FFF0F0">
              <a:alpha val="0"/>
            </a:srgbClr>
          </a:solidFill>
          <a:ln cap="flat" cmpd="sng" w="165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54" name="Google Shape;154;p18"/>
          <p:cNvCxnSpPr/>
          <p:nvPr/>
        </p:nvCxnSpPr>
        <p:spPr>
          <a:xfrm>
            <a:off x="898398" y="3065526"/>
            <a:ext cx="89154" cy="0"/>
          </a:xfrm>
          <a:prstGeom prst="straightConnector1">
            <a:avLst/>
          </a:prstGeom>
          <a:noFill/>
          <a:ln cap="flat" cmpd="sng" w="165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" name="Google Shape;155;p18"/>
          <p:cNvSpPr/>
          <p:nvPr/>
        </p:nvSpPr>
        <p:spPr>
          <a:xfrm>
            <a:off x="1248156" y="1858518"/>
            <a:ext cx="116586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Login time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6" name="Google Shape;156;p18"/>
          <p:cNvSpPr/>
          <p:nvPr/>
        </p:nvSpPr>
        <p:spPr>
          <a:xfrm>
            <a:off x="1248156" y="2352294"/>
            <a:ext cx="116586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Location &amp; ASN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" name="Google Shape;157;p18"/>
          <p:cNvSpPr/>
          <p:nvPr/>
        </p:nvSpPr>
        <p:spPr>
          <a:xfrm>
            <a:off x="1248156" y="2846070"/>
            <a:ext cx="133731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Device, OS &amp; browser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754380" y="3236976"/>
            <a:ext cx="17145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＋ login success and round-trip time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9" name="Google Shape;159;p18"/>
          <p:cNvSpPr/>
          <p:nvPr/>
        </p:nvSpPr>
        <p:spPr>
          <a:xfrm>
            <a:off x="2935224" y="2160270"/>
            <a:ext cx="562356" cy="699516"/>
          </a:xfrm>
          <a:prstGeom prst="chevron">
            <a:avLst>
              <a:gd fmla="val 50000" name="adj"/>
            </a:avLst>
          </a:prstGeom>
          <a:solidFill>
            <a:srgbClr val="D7E6EE"/>
          </a:solidFill>
          <a:ln cap="flat" cmpd="sng" w="12700">
            <a:solidFill>
              <a:srgbClr val="D7E6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8"/>
          <p:cNvSpPr/>
          <p:nvPr/>
        </p:nvSpPr>
        <p:spPr>
          <a:xfrm>
            <a:off x="3552444" y="1563624"/>
            <a:ext cx="2091690" cy="1933956"/>
          </a:xfrm>
          <a:prstGeom prst="roundRect">
            <a:avLst>
              <a:gd fmla="val 16667" name="adj"/>
            </a:avLst>
          </a:prstGeom>
          <a:solidFill>
            <a:srgbClr val="071B2A"/>
          </a:solidFill>
          <a:ln cap="flat" cmpd="sng" w="1015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4402836" y="1872234"/>
            <a:ext cx="370332" cy="370332"/>
          </a:xfrm>
          <a:prstGeom prst="ellipse">
            <a:avLst/>
          </a:prstGeom>
          <a:solidFill>
            <a:srgbClr val="14394C"/>
          </a:solidFill>
          <a:ln cap="flat" cmpd="sng" w="12700">
            <a:solidFill>
              <a:srgbClr val="1439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62" name="Google Shape;162;p18"/>
          <p:cNvCxnSpPr/>
          <p:nvPr/>
        </p:nvCxnSpPr>
        <p:spPr>
          <a:xfrm>
            <a:off x="4588002" y="1954530"/>
            <a:ext cx="0" cy="198882"/>
          </a:xfrm>
          <a:prstGeom prst="straightConnector1">
            <a:avLst/>
          </a:prstGeom>
          <a:noFill/>
          <a:ln cap="flat" cmpd="sng" w="1395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3" name="Google Shape;163;p18"/>
          <p:cNvCxnSpPr/>
          <p:nvPr/>
        </p:nvCxnSpPr>
        <p:spPr>
          <a:xfrm flipH="1" rot="10800000">
            <a:off x="4505706" y="1995678"/>
            <a:ext cx="82296" cy="48006"/>
          </a:xfrm>
          <a:prstGeom prst="straightConnector1">
            <a:avLst/>
          </a:prstGeom>
          <a:noFill/>
          <a:ln cap="flat" cmpd="sng" w="1395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4" name="Google Shape;164;p18"/>
          <p:cNvCxnSpPr/>
          <p:nvPr/>
        </p:nvCxnSpPr>
        <p:spPr>
          <a:xfrm flipH="1" rot="10800000">
            <a:off x="4588002" y="1995678"/>
            <a:ext cx="82296" cy="48006"/>
          </a:xfrm>
          <a:prstGeom prst="straightConnector1">
            <a:avLst/>
          </a:prstGeom>
          <a:noFill/>
          <a:ln cap="flat" cmpd="sng" w="1395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5" name="Google Shape;165;p18"/>
          <p:cNvSpPr/>
          <p:nvPr/>
        </p:nvSpPr>
        <p:spPr>
          <a:xfrm>
            <a:off x="4478274" y="1954530"/>
            <a:ext cx="68580" cy="68580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8"/>
          <p:cNvSpPr/>
          <p:nvPr/>
        </p:nvSpPr>
        <p:spPr>
          <a:xfrm>
            <a:off x="4636008" y="1954530"/>
            <a:ext cx="68580" cy="68580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4553712" y="2125980"/>
            <a:ext cx="68580" cy="68580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8"/>
          <p:cNvSpPr/>
          <p:nvPr/>
        </p:nvSpPr>
        <p:spPr>
          <a:xfrm>
            <a:off x="3847338" y="2414016"/>
            <a:ext cx="150876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endParaRPr b="0" i="0" sz="14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3854196" y="2798064"/>
            <a:ext cx="1495044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FD3DE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BFD3DE"/>
                </a:solidFill>
                <a:latin typeface="Inter"/>
                <a:ea typeface="Inter"/>
                <a:cs typeface="Inter"/>
                <a:sym typeface="Inter"/>
              </a:rPr>
              <a:t>Combines many decision trees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FD3DE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BFD3DE"/>
                </a:solidFill>
                <a:latin typeface="Inter"/>
                <a:ea typeface="Inter"/>
                <a:cs typeface="Inter"/>
                <a:sym typeface="Inter"/>
              </a:rPr>
              <a:t>to classify each login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5781294" y="2160270"/>
            <a:ext cx="562356" cy="699516"/>
          </a:xfrm>
          <a:prstGeom prst="chevron">
            <a:avLst>
              <a:gd fmla="val 50000" name="adj"/>
            </a:avLst>
          </a:prstGeom>
          <a:solidFill>
            <a:srgbClr val="D7E6EE"/>
          </a:solidFill>
          <a:ln cap="flat" cmpd="sng" w="12700">
            <a:solidFill>
              <a:srgbClr val="D7E6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8"/>
          <p:cNvSpPr/>
          <p:nvPr/>
        </p:nvSpPr>
        <p:spPr>
          <a:xfrm>
            <a:off x="6494526" y="1591056"/>
            <a:ext cx="1885800" cy="768000"/>
          </a:xfrm>
          <a:prstGeom prst="roundRect">
            <a:avLst>
              <a:gd fmla="val 16667" name="adj"/>
            </a:avLst>
          </a:prstGeom>
          <a:solidFill>
            <a:srgbClr val="E5FAF4"/>
          </a:solidFill>
          <a:ln cap="flat" cmpd="sng" w="10150">
            <a:solidFill>
              <a:srgbClr val="E5FAF4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8"/>
          <p:cNvSpPr/>
          <p:nvPr/>
        </p:nvSpPr>
        <p:spPr>
          <a:xfrm>
            <a:off x="6693408" y="1807498"/>
            <a:ext cx="308700" cy="308700"/>
          </a:xfrm>
          <a:prstGeom prst="ellipse">
            <a:avLst/>
          </a:prstGeom>
          <a:solidFill>
            <a:srgbClr val="2FCB84"/>
          </a:solidFill>
          <a:ln cap="flat" cmpd="sng" w="12700">
            <a:solidFill>
              <a:srgbClr val="2FCB8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8"/>
          <p:cNvSpPr/>
          <p:nvPr/>
        </p:nvSpPr>
        <p:spPr>
          <a:xfrm>
            <a:off x="6693408" y="1891455"/>
            <a:ext cx="3087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Inter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✓</a:t>
            </a:r>
            <a:endParaRPr b="0" i="0" sz="10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7098030" y="1870051"/>
            <a:ext cx="10629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Normal / Low Risk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6494526" y="2592324"/>
            <a:ext cx="1885950" cy="768096"/>
          </a:xfrm>
          <a:prstGeom prst="roundRect">
            <a:avLst>
              <a:gd fmla="val 16667" name="adj"/>
            </a:avLst>
          </a:prstGeom>
          <a:solidFill>
            <a:srgbClr val="FFF0F0"/>
          </a:solidFill>
          <a:ln cap="flat" cmpd="sng" w="10150">
            <a:solidFill>
              <a:srgbClr val="FFF0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8"/>
          <p:cNvSpPr/>
          <p:nvPr/>
        </p:nvSpPr>
        <p:spPr>
          <a:xfrm>
            <a:off x="6693408" y="2840873"/>
            <a:ext cx="308700" cy="308700"/>
          </a:xfrm>
          <a:prstGeom prst="ellipse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6693408" y="2928674"/>
            <a:ext cx="3087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Inter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!</a:t>
            </a:r>
            <a:endParaRPr b="0" i="0" sz="10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7098030" y="2896567"/>
            <a:ext cx="11109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Suspicious / Malicious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9" name="Google Shape;179;p18"/>
          <p:cNvSpPr/>
          <p:nvPr/>
        </p:nvSpPr>
        <p:spPr>
          <a:xfrm>
            <a:off x="1508760" y="3874770"/>
            <a:ext cx="613791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900"/>
              <a:buFont typeface="Inter"/>
              <a:buNone/>
            </a:pPr>
            <a:r>
              <a:rPr b="0" i="0" lang="en" sz="9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The system returns both a probability and a final label based on a tuned decision threshold.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18"/>
          <p:cNvSpPr txBox="1"/>
          <p:nvPr>
            <p:ph idx="4294967295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600" u="none" cap="none" strike="noStrike">
              <a:solidFill>
                <a:srgbClr val="7C8B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9"/>
          <p:cNvSpPr/>
          <p:nvPr/>
        </p:nvSpPr>
        <p:spPr>
          <a:xfrm>
            <a:off x="445770" y="425196"/>
            <a:ext cx="665226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Dataset: Risk-Based Authentication (RBA)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7" name="Google Shape;187;p19"/>
          <p:cNvSpPr/>
          <p:nvPr/>
        </p:nvSpPr>
        <p:spPr>
          <a:xfrm>
            <a:off x="459486" y="809244"/>
            <a:ext cx="747522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900"/>
              <a:buFont typeface="Inter"/>
              <a:buNone/>
            </a:pPr>
            <a:r>
              <a:rPr b="0" i="0" lang="en" sz="9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A large public dataset designed for research on login risk and authentication.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493776" y="1220724"/>
            <a:ext cx="1865376" cy="946404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9"/>
          <p:cNvSpPr/>
          <p:nvPr/>
        </p:nvSpPr>
        <p:spPr>
          <a:xfrm>
            <a:off x="493776" y="1220724"/>
            <a:ext cx="54864" cy="946404"/>
          </a:xfrm>
          <a:prstGeom prst="rect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9"/>
          <p:cNvSpPr/>
          <p:nvPr/>
        </p:nvSpPr>
        <p:spPr>
          <a:xfrm>
            <a:off x="665226" y="1344168"/>
            <a:ext cx="15910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LOGIN ATTEMPTS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665226" y="1549908"/>
            <a:ext cx="1591056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1700"/>
              <a:buFont typeface="Inter"/>
              <a:buNone/>
            </a:pPr>
            <a:r>
              <a:rPr b="1" i="0" lang="en" sz="17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33M+</a:t>
            </a:r>
            <a:endParaRPr b="0" i="0" sz="1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65226" y="1927098"/>
            <a:ext cx="1591056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Synthesized records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2510028" y="1220724"/>
            <a:ext cx="1865376" cy="946404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9"/>
          <p:cNvSpPr/>
          <p:nvPr/>
        </p:nvSpPr>
        <p:spPr>
          <a:xfrm>
            <a:off x="2510028" y="1220724"/>
            <a:ext cx="54864" cy="946404"/>
          </a:xfrm>
          <a:prstGeom prst="rect">
            <a:avLst/>
          </a:prstGeom>
          <a:solidFill>
            <a:srgbClr val="3A86FF"/>
          </a:solidFill>
          <a:ln cap="flat" cmpd="sng" w="12700">
            <a:solidFill>
              <a:srgbClr val="3A8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9"/>
          <p:cNvSpPr/>
          <p:nvPr/>
        </p:nvSpPr>
        <p:spPr>
          <a:xfrm>
            <a:off x="2681478" y="1344168"/>
            <a:ext cx="15910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USERS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2681478" y="1549908"/>
            <a:ext cx="1591056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86FF"/>
              </a:buClr>
              <a:buSzPts val="1700"/>
              <a:buFont typeface="Inter"/>
              <a:buNone/>
            </a:pPr>
            <a:r>
              <a:rPr b="1" i="0" lang="en" sz="1700" u="none" cap="none" strike="noStrike">
                <a:solidFill>
                  <a:srgbClr val="3A86FF"/>
                </a:solidFill>
                <a:latin typeface="Inter"/>
                <a:ea typeface="Inter"/>
                <a:cs typeface="Inter"/>
                <a:sym typeface="Inter"/>
              </a:rPr>
              <a:t>3.3M+</a:t>
            </a:r>
            <a:endParaRPr b="0" i="0" sz="1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2681478" y="1927098"/>
            <a:ext cx="1591056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Large-scale SSO service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4526280" y="1220724"/>
            <a:ext cx="1865376" cy="946404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9"/>
          <p:cNvSpPr/>
          <p:nvPr/>
        </p:nvSpPr>
        <p:spPr>
          <a:xfrm>
            <a:off x="4526280" y="1220724"/>
            <a:ext cx="54864" cy="946404"/>
          </a:xfrm>
          <a:prstGeom prst="rect">
            <a:avLst/>
          </a:prstGeom>
          <a:solidFill>
            <a:srgbClr val="4CC9F0"/>
          </a:solidFill>
          <a:ln cap="flat" cmpd="sng" w="12700">
            <a:solidFill>
              <a:srgbClr val="4CC9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9"/>
          <p:cNvSpPr/>
          <p:nvPr/>
        </p:nvSpPr>
        <p:spPr>
          <a:xfrm>
            <a:off x="4697730" y="1344168"/>
            <a:ext cx="15910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COLUMNS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1" name="Google Shape;201;p19"/>
          <p:cNvSpPr/>
          <p:nvPr/>
        </p:nvSpPr>
        <p:spPr>
          <a:xfrm>
            <a:off x="4697730" y="1549908"/>
            <a:ext cx="1591056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CC9F0"/>
              </a:buClr>
              <a:buSzPts val="1700"/>
              <a:buFont typeface="Inter"/>
              <a:buNone/>
            </a:pPr>
            <a:r>
              <a:rPr b="1" i="0" lang="en" sz="1700" u="none" cap="none" strike="noStrike">
                <a:solidFill>
                  <a:srgbClr val="4CC9F0"/>
                </a:solidFill>
                <a:latin typeface="Inter"/>
                <a:ea typeface="Inter"/>
                <a:cs typeface="Inter"/>
                <a:sym typeface="Inter"/>
              </a:rPr>
              <a:t>15</a:t>
            </a:r>
            <a:endParaRPr b="0" i="0" sz="1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2" name="Google Shape;202;p19"/>
          <p:cNvSpPr/>
          <p:nvPr/>
        </p:nvSpPr>
        <p:spPr>
          <a:xfrm>
            <a:off x="4697730" y="1927098"/>
            <a:ext cx="1591056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Context + security labels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6542532" y="1220724"/>
            <a:ext cx="1865376" cy="946404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9"/>
          <p:cNvSpPr/>
          <p:nvPr/>
        </p:nvSpPr>
        <p:spPr>
          <a:xfrm>
            <a:off x="6542532" y="1220724"/>
            <a:ext cx="54864" cy="946404"/>
          </a:xfrm>
          <a:prstGeom prst="rect">
            <a:avLst/>
          </a:prstGeom>
          <a:solidFill>
            <a:srgbClr val="FFB347"/>
          </a:solidFill>
          <a:ln cap="flat" cmpd="sng" w="12700">
            <a:solidFill>
              <a:srgbClr val="FFB3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9"/>
          <p:cNvSpPr/>
          <p:nvPr/>
        </p:nvSpPr>
        <p:spPr>
          <a:xfrm>
            <a:off x="6713982" y="1344168"/>
            <a:ext cx="15910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DOWNLOAD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19"/>
          <p:cNvSpPr/>
          <p:nvPr/>
        </p:nvSpPr>
        <p:spPr>
          <a:xfrm>
            <a:off x="6713982" y="1549908"/>
            <a:ext cx="1591056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347"/>
              </a:buClr>
              <a:buSzPts val="1700"/>
              <a:buFont typeface="Inter"/>
              <a:buNone/>
            </a:pPr>
            <a:r>
              <a:rPr b="1" i="0" lang="en" sz="1700" u="none" cap="none" strike="noStrike">
                <a:solidFill>
                  <a:srgbClr val="FFB347"/>
                </a:solidFill>
                <a:latin typeface="Inter"/>
                <a:ea typeface="Inter"/>
                <a:cs typeface="Inter"/>
                <a:sym typeface="Inter"/>
              </a:rPr>
              <a:t>1.1 GB</a:t>
            </a:r>
            <a:endParaRPr b="0" i="0" sz="1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7" name="Google Shape;207;p19"/>
          <p:cNvSpPr/>
          <p:nvPr/>
        </p:nvSpPr>
        <p:spPr>
          <a:xfrm>
            <a:off x="6713982" y="1927098"/>
            <a:ext cx="1591056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Compressed archive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8" name="Google Shape;208;p19"/>
          <p:cNvSpPr/>
          <p:nvPr/>
        </p:nvSpPr>
        <p:spPr>
          <a:xfrm>
            <a:off x="493776" y="2434590"/>
            <a:ext cx="8229600" cy="1604772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9"/>
          <p:cNvSpPr/>
          <p:nvPr/>
        </p:nvSpPr>
        <p:spPr>
          <a:xfrm>
            <a:off x="685800" y="2626614"/>
            <a:ext cx="109728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FEATURE GROUPS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685800" y="2894076"/>
            <a:ext cx="370332" cy="370332"/>
          </a:xfrm>
          <a:prstGeom prst="ellipse">
            <a:avLst/>
          </a:prstGeom>
          <a:solidFill>
            <a:srgbClr val="E5FAF4"/>
          </a:solidFill>
          <a:ln cap="flat" cmpd="sng" w="12700">
            <a:solidFill>
              <a:srgbClr val="E5FA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9"/>
          <p:cNvSpPr/>
          <p:nvPr/>
        </p:nvSpPr>
        <p:spPr>
          <a:xfrm>
            <a:off x="781812" y="2983230"/>
            <a:ext cx="178308" cy="178308"/>
          </a:xfrm>
          <a:prstGeom prst="ellipse">
            <a:avLst/>
          </a:prstGeom>
          <a:solidFill>
            <a:srgbClr val="E5FAF4">
              <a:alpha val="0"/>
            </a:srgbClr>
          </a:solidFill>
          <a:ln cap="flat" cmpd="sng" w="15225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2" name="Google Shape;212;p19"/>
          <p:cNvCxnSpPr/>
          <p:nvPr/>
        </p:nvCxnSpPr>
        <p:spPr>
          <a:xfrm>
            <a:off x="870966" y="2983230"/>
            <a:ext cx="0" cy="178308"/>
          </a:xfrm>
          <a:prstGeom prst="straightConnector1">
            <a:avLst/>
          </a:prstGeom>
          <a:noFill/>
          <a:ln cap="flat" cmpd="sng" w="11425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3" name="Google Shape;213;p19"/>
          <p:cNvCxnSpPr/>
          <p:nvPr/>
        </p:nvCxnSpPr>
        <p:spPr>
          <a:xfrm>
            <a:off x="781812" y="3072384"/>
            <a:ext cx="178308" cy="0"/>
          </a:xfrm>
          <a:prstGeom prst="straightConnector1">
            <a:avLst/>
          </a:prstGeom>
          <a:noFill/>
          <a:ln cap="flat" cmpd="sng" w="11425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19"/>
          <p:cNvSpPr/>
          <p:nvPr/>
        </p:nvSpPr>
        <p:spPr>
          <a:xfrm>
            <a:off x="685800" y="3360420"/>
            <a:ext cx="154305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Network &amp; location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5" name="Google Shape;215;p19"/>
          <p:cNvSpPr/>
          <p:nvPr/>
        </p:nvSpPr>
        <p:spPr>
          <a:xfrm>
            <a:off x="685800" y="3600450"/>
            <a:ext cx="1632204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IP address • Country • Region • City • ASN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19"/>
          <p:cNvSpPr/>
          <p:nvPr/>
        </p:nvSpPr>
        <p:spPr>
          <a:xfrm>
            <a:off x="2756916" y="2894076"/>
            <a:ext cx="370332" cy="370332"/>
          </a:xfrm>
          <a:prstGeom prst="ellipse">
            <a:avLst/>
          </a:prstGeom>
          <a:solidFill>
            <a:srgbClr val="EAF2FF"/>
          </a:solidFill>
          <a:ln cap="flat" cmpd="sng" w="12700">
            <a:solidFill>
              <a:srgbClr val="EAF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9"/>
          <p:cNvSpPr/>
          <p:nvPr/>
        </p:nvSpPr>
        <p:spPr>
          <a:xfrm>
            <a:off x="2852928" y="2983230"/>
            <a:ext cx="185166" cy="144018"/>
          </a:xfrm>
          <a:prstGeom prst="roundRect">
            <a:avLst>
              <a:gd fmla="val 16667" name="adj"/>
            </a:avLst>
          </a:prstGeom>
          <a:solidFill>
            <a:srgbClr val="EAF2FF">
              <a:alpha val="0"/>
            </a:srgbClr>
          </a:solidFill>
          <a:ln cap="flat" cmpd="sng" w="16500">
            <a:solidFill>
              <a:srgbClr val="3A8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8" name="Google Shape;218;p19"/>
          <p:cNvCxnSpPr/>
          <p:nvPr/>
        </p:nvCxnSpPr>
        <p:spPr>
          <a:xfrm>
            <a:off x="2900934" y="3154680"/>
            <a:ext cx="89154" cy="0"/>
          </a:xfrm>
          <a:prstGeom prst="straightConnector1">
            <a:avLst/>
          </a:prstGeom>
          <a:noFill/>
          <a:ln cap="flat" cmpd="sng" w="16500">
            <a:solidFill>
              <a:srgbClr val="3A86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9" name="Google Shape;219;p19"/>
          <p:cNvSpPr/>
          <p:nvPr/>
        </p:nvSpPr>
        <p:spPr>
          <a:xfrm>
            <a:off x="2756916" y="3360420"/>
            <a:ext cx="154305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Device context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19"/>
          <p:cNvSpPr/>
          <p:nvPr/>
        </p:nvSpPr>
        <p:spPr>
          <a:xfrm>
            <a:off x="2756916" y="3600450"/>
            <a:ext cx="1632204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User agent • OS • Browser • Device type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1" name="Google Shape;221;p19"/>
          <p:cNvSpPr/>
          <p:nvPr/>
        </p:nvSpPr>
        <p:spPr>
          <a:xfrm>
            <a:off x="4828032" y="2894076"/>
            <a:ext cx="370332" cy="370332"/>
          </a:xfrm>
          <a:prstGeom prst="ellipse">
            <a:avLst/>
          </a:prstGeom>
          <a:solidFill>
            <a:srgbClr val="FFF6E8"/>
          </a:solidFill>
          <a:ln cap="flat" cmpd="sng" w="12700">
            <a:solidFill>
              <a:srgbClr val="FFF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9"/>
          <p:cNvSpPr/>
          <p:nvPr/>
        </p:nvSpPr>
        <p:spPr>
          <a:xfrm>
            <a:off x="4930902" y="2983230"/>
            <a:ext cx="164592" cy="164592"/>
          </a:xfrm>
          <a:prstGeom prst="ellipse">
            <a:avLst/>
          </a:prstGeom>
          <a:solidFill>
            <a:srgbClr val="FFF6E8">
              <a:alpha val="0"/>
            </a:srgbClr>
          </a:solidFill>
          <a:ln cap="flat" cmpd="sng" w="16500">
            <a:solidFill>
              <a:srgbClr val="FFB3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3" name="Google Shape;223;p19"/>
          <p:cNvCxnSpPr/>
          <p:nvPr/>
        </p:nvCxnSpPr>
        <p:spPr>
          <a:xfrm rot="10800000">
            <a:off x="5013198" y="3017520"/>
            <a:ext cx="0" cy="48006"/>
          </a:xfrm>
          <a:prstGeom prst="straightConnector1">
            <a:avLst/>
          </a:prstGeom>
          <a:noFill/>
          <a:ln cap="flat" cmpd="sng" w="15225">
            <a:solidFill>
              <a:srgbClr val="FFB34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4" name="Google Shape;224;p19"/>
          <p:cNvCxnSpPr/>
          <p:nvPr/>
        </p:nvCxnSpPr>
        <p:spPr>
          <a:xfrm>
            <a:off x="5013198" y="3065526"/>
            <a:ext cx="48006" cy="27432"/>
          </a:xfrm>
          <a:prstGeom prst="straightConnector1">
            <a:avLst/>
          </a:prstGeom>
          <a:noFill/>
          <a:ln cap="flat" cmpd="sng" w="15225">
            <a:solidFill>
              <a:srgbClr val="FFB34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5" name="Google Shape;225;p19"/>
          <p:cNvSpPr/>
          <p:nvPr/>
        </p:nvSpPr>
        <p:spPr>
          <a:xfrm>
            <a:off x="4828032" y="3360420"/>
            <a:ext cx="154305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Behavioral context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19"/>
          <p:cNvSpPr/>
          <p:nvPr/>
        </p:nvSpPr>
        <p:spPr>
          <a:xfrm>
            <a:off x="4828032" y="3600450"/>
            <a:ext cx="1632204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Timestamp • RTT • Login success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19"/>
          <p:cNvSpPr/>
          <p:nvPr/>
        </p:nvSpPr>
        <p:spPr>
          <a:xfrm>
            <a:off x="6899148" y="2894076"/>
            <a:ext cx="370332" cy="370332"/>
          </a:xfrm>
          <a:prstGeom prst="ellipse">
            <a:avLst/>
          </a:prstGeom>
          <a:solidFill>
            <a:srgbClr val="FFF0F0"/>
          </a:solidFill>
          <a:ln cap="flat" cmpd="sng" w="12700">
            <a:solidFill>
              <a:srgbClr val="FFF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9"/>
          <p:cNvSpPr/>
          <p:nvPr/>
        </p:nvSpPr>
        <p:spPr>
          <a:xfrm>
            <a:off x="6960870" y="2990088"/>
            <a:ext cx="24688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6B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6B6B"/>
                </a:solidFill>
                <a:latin typeface="Arial"/>
                <a:ea typeface="Arial"/>
                <a:cs typeface="Arial"/>
                <a:sym typeface="Arial"/>
              </a:rPr>
              <a:t>&lt;/&gt;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9" name="Google Shape;229;p19"/>
          <p:cNvSpPr/>
          <p:nvPr/>
        </p:nvSpPr>
        <p:spPr>
          <a:xfrm>
            <a:off x="6899148" y="3360420"/>
            <a:ext cx="154305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Security labels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0" name="Google Shape;230;p19"/>
          <p:cNvSpPr/>
          <p:nvPr/>
        </p:nvSpPr>
        <p:spPr>
          <a:xfrm>
            <a:off x="6899148" y="3600450"/>
            <a:ext cx="1632204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Is Attack IP • Is Account Takeover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1" name="Google Shape;231;p19"/>
          <p:cNvSpPr/>
          <p:nvPr/>
        </p:nvSpPr>
        <p:spPr>
          <a:xfrm>
            <a:off x="493776" y="4656582"/>
            <a:ext cx="809244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595A3"/>
              </a:buClr>
              <a:buSzPts val="500"/>
              <a:buFont typeface="Inter"/>
              <a:buNone/>
            </a:pPr>
            <a:r>
              <a:rPr b="0" i="1" lang="en" sz="500" u="none" cap="none" strike="noStrike">
                <a:solidFill>
                  <a:srgbClr val="8595A3"/>
                </a:solidFill>
                <a:latin typeface="Inter"/>
                <a:ea typeface="Inter"/>
                <a:cs typeface="Inter"/>
                <a:sym typeface="Inter"/>
              </a:rPr>
              <a:t>Source: Zenodo — Login Data Set for Risk-Based Authentication, DOI 10.5281/zenodo.6782156. Data is synthesized from real-world behavior and is not intended for production use.</a:t>
            </a:r>
            <a:endParaRPr b="0" i="0" sz="5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2" name="Google Shape;232;p19"/>
          <p:cNvSpPr txBox="1"/>
          <p:nvPr>
            <p:ph idx="4294967295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600" u="none" cap="none" strike="noStrike">
              <a:solidFill>
                <a:srgbClr val="7C8B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0"/>
          <p:cNvSpPr/>
          <p:nvPr/>
        </p:nvSpPr>
        <p:spPr>
          <a:xfrm>
            <a:off x="445770" y="425196"/>
            <a:ext cx="665226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Choosing the right prediction target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9" name="Google Shape;239;p20"/>
          <p:cNvSpPr/>
          <p:nvPr/>
        </p:nvSpPr>
        <p:spPr>
          <a:xfrm>
            <a:off x="459486" y="809244"/>
            <a:ext cx="747522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900"/>
              <a:buFont typeface="Inter"/>
              <a:buNone/>
            </a:pPr>
            <a:r>
              <a:rPr b="0" i="0" lang="en" sz="9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The first target was too rare to support reliable training on a manageable sample.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569214" y="1248156"/>
            <a:ext cx="3168396" cy="2551176"/>
          </a:xfrm>
          <a:prstGeom prst="roundRect">
            <a:avLst>
              <a:gd fmla="val 3226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0"/>
          <p:cNvSpPr/>
          <p:nvPr/>
        </p:nvSpPr>
        <p:spPr>
          <a:xfrm>
            <a:off x="768096" y="1440180"/>
            <a:ext cx="1110996" cy="233172"/>
          </a:xfrm>
          <a:prstGeom prst="roundRect">
            <a:avLst>
              <a:gd fmla="val 16667" name="adj"/>
            </a:avLst>
          </a:prstGeom>
          <a:solidFill>
            <a:srgbClr val="FFF0F0"/>
          </a:solidFill>
          <a:ln cap="flat" cmpd="sng" w="12700">
            <a:solidFill>
              <a:srgbClr val="FFF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0"/>
          <p:cNvSpPr/>
          <p:nvPr/>
        </p:nvSpPr>
        <p:spPr>
          <a:xfrm>
            <a:off x="822960" y="1474470"/>
            <a:ext cx="1001268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6B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FF6B6B"/>
                </a:solidFill>
                <a:latin typeface="Inter"/>
                <a:ea typeface="Inter"/>
                <a:cs typeface="Inter"/>
                <a:sym typeface="Inter"/>
              </a:rPr>
              <a:t>ORIGINAL TARGET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768096" y="1831086"/>
            <a:ext cx="243459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1600"/>
              <a:buFont typeface="Inter"/>
              <a:buNone/>
            </a:pPr>
            <a:r>
              <a:rPr b="1" i="0" lang="en" sz="16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Is Account Takeover</a:t>
            </a:r>
            <a:endParaRPr b="0" i="0" sz="1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4" name="Google Shape;244;p20"/>
          <p:cNvSpPr/>
          <p:nvPr/>
        </p:nvSpPr>
        <p:spPr>
          <a:xfrm>
            <a:off x="768096" y="2311146"/>
            <a:ext cx="82296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6B"/>
              </a:buClr>
              <a:buSzPts val="3000"/>
              <a:buFont typeface="Inter"/>
              <a:buNone/>
            </a:pPr>
            <a:r>
              <a:rPr b="1" i="0" lang="en" sz="3000" u="none" cap="none" strike="noStrike">
                <a:solidFill>
                  <a:srgbClr val="FF6B6B"/>
                </a:solidFill>
                <a:latin typeface="Inter"/>
                <a:ea typeface="Inter"/>
                <a:cs typeface="Inter"/>
                <a:sym typeface="Inter"/>
              </a:rPr>
              <a:t>11</a:t>
            </a:r>
            <a:endParaRPr b="0" i="0" sz="30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5" name="Google Shape;245;p20"/>
          <p:cNvSpPr/>
          <p:nvPr/>
        </p:nvSpPr>
        <p:spPr>
          <a:xfrm>
            <a:off x="1481328" y="2414016"/>
            <a:ext cx="144018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positive examples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in 1,000,000 rows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6" name="Google Shape;246;p20"/>
          <p:cNvSpPr/>
          <p:nvPr/>
        </p:nvSpPr>
        <p:spPr>
          <a:xfrm>
            <a:off x="768096" y="3099816"/>
            <a:ext cx="250317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Result: the model learned to predict nearly everything as normal.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20"/>
          <p:cNvSpPr/>
          <p:nvPr/>
        </p:nvSpPr>
        <p:spPr>
          <a:xfrm>
            <a:off x="3943350" y="2105406"/>
            <a:ext cx="973836" cy="822960"/>
          </a:xfrm>
          <a:prstGeom prst="chevron">
            <a:avLst>
              <a:gd fmla="val 50000" name="adj"/>
            </a:avLst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20"/>
          <p:cNvSpPr/>
          <p:nvPr/>
        </p:nvSpPr>
        <p:spPr>
          <a:xfrm>
            <a:off x="3874770" y="3038094"/>
            <a:ext cx="111099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SWITCHED TO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9" name="Google Shape;249;p20"/>
          <p:cNvSpPr/>
          <p:nvPr/>
        </p:nvSpPr>
        <p:spPr>
          <a:xfrm>
            <a:off x="5129784" y="1248156"/>
            <a:ext cx="3415284" cy="2551176"/>
          </a:xfrm>
          <a:prstGeom prst="roundRect">
            <a:avLst>
              <a:gd fmla="val 16667" name="adj"/>
            </a:avLst>
          </a:prstGeom>
          <a:solidFill>
            <a:srgbClr val="071B2A"/>
          </a:solidFill>
          <a:ln cap="flat" cmpd="sng" w="1015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0"/>
          <p:cNvSpPr/>
          <p:nvPr/>
        </p:nvSpPr>
        <p:spPr>
          <a:xfrm>
            <a:off x="5342382" y="1440180"/>
            <a:ext cx="891540" cy="233172"/>
          </a:xfrm>
          <a:prstGeom prst="roundRect">
            <a:avLst>
              <a:gd fmla="val 16667" name="adj"/>
            </a:avLst>
          </a:prstGeom>
          <a:solidFill>
            <a:srgbClr val="14394C"/>
          </a:solidFill>
          <a:ln cap="flat" cmpd="sng" w="12700">
            <a:solidFill>
              <a:srgbClr val="1439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0"/>
          <p:cNvSpPr/>
          <p:nvPr/>
        </p:nvSpPr>
        <p:spPr>
          <a:xfrm>
            <a:off x="5397246" y="1474470"/>
            <a:ext cx="781812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MAIN TARGET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2" name="Google Shape;252;p20"/>
          <p:cNvSpPr/>
          <p:nvPr/>
        </p:nvSpPr>
        <p:spPr>
          <a:xfrm>
            <a:off x="5342382" y="1831086"/>
            <a:ext cx="233172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Inter"/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Is Attack IP</a:t>
            </a:r>
            <a:endParaRPr b="0" i="0" sz="1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3" name="Google Shape;253;p20"/>
          <p:cNvSpPr/>
          <p:nvPr/>
        </p:nvSpPr>
        <p:spPr>
          <a:xfrm>
            <a:off x="5342382" y="2304288"/>
            <a:ext cx="185166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2700"/>
              <a:buFont typeface="Inter"/>
              <a:buNone/>
            </a:pPr>
            <a:r>
              <a:rPr b="1" i="0" lang="en" sz="27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99,534</a:t>
            </a:r>
            <a:endParaRPr b="0" i="0" sz="2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4" name="Google Shape;254;p20"/>
          <p:cNvSpPr/>
          <p:nvPr/>
        </p:nvSpPr>
        <p:spPr>
          <a:xfrm>
            <a:off x="6981444" y="2414016"/>
            <a:ext cx="126873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D6DF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C2D6DF"/>
                </a:solidFill>
                <a:latin typeface="Inter"/>
                <a:ea typeface="Inter"/>
                <a:cs typeface="Inter"/>
                <a:sym typeface="Inter"/>
              </a:rPr>
              <a:t>positive examples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D6DF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C2D6DF"/>
                </a:solidFill>
                <a:latin typeface="Inter"/>
                <a:ea typeface="Inter"/>
                <a:cs typeface="Inter"/>
                <a:sym typeface="Inter"/>
              </a:rPr>
              <a:t>in 1,000,000 rows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5" name="Google Shape;255;p20"/>
          <p:cNvSpPr/>
          <p:nvPr/>
        </p:nvSpPr>
        <p:spPr>
          <a:xfrm>
            <a:off x="5342382" y="3099816"/>
            <a:ext cx="270891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FD3DE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BFD3DE"/>
                </a:solidFill>
                <a:latin typeface="Inter"/>
                <a:ea typeface="Inter"/>
                <a:cs typeface="Inter"/>
                <a:sym typeface="Inter"/>
              </a:rPr>
              <a:t>Enough positive examples to train, validate, and test the model meaningfully.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6" name="Google Shape;256;p20"/>
          <p:cNvSpPr/>
          <p:nvPr/>
        </p:nvSpPr>
        <p:spPr>
          <a:xfrm>
            <a:off x="699516" y="4059936"/>
            <a:ext cx="7763256" cy="356616"/>
          </a:xfrm>
          <a:prstGeom prst="roundRect">
            <a:avLst>
              <a:gd fmla="val 16667" name="adj"/>
            </a:avLst>
          </a:prstGeom>
          <a:solidFill>
            <a:srgbClr val="FFF6E8"/>
          </a:solidFill>
          <a:ln cap="flat" cmpd="sng" w="12700">
            <a:solidFill>
              <a:srgbClr val="FFF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20"/>
          <p:cNvSpPr/>
          <p:nvPr/>
        </p:nvSpPr>
        <p:spPr>
          <a:xfrm>
            <a:off x="877824" y="4169664"/>
            <a:ext cx="740664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5422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7A5422"/>
                </a:solidFill>
                <a:latin typeface="Inter"/>
                <a:ea typeface="Inter"/>
                <a:cs typeface="Inter"/>
                <a:sym typeface="Inter"/>
              </a:rPr>
              <a:t>Key lesson: a high accuracy score can be meaningless when the positive class is almost absent.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8" name="Google Shape;258;p20"/>
          <p:cNvSpPr txBox="1"/>
          <p:nvPr>
            <p:ph idx="4294967295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600" u="none" cap="none" strike="noStrike">
              <a:solidFill>
                <a:srgbClr val="7C8B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1"/>
          <p:cNvSpPr/>
          <p:nvPr/>
        </p:nvSpPr>
        <p:spPr>
          <a:xfrm>
            <a:off x="445770" y="425196"/>
            <a:ext cx="665226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Machine learning pipeline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5" name="Google Shape;265;p21"/>
          <p:cNvSpPr/>
          <p:nvPr/>
        </p:nvSpPr>
        <p:spPr>
          <a:xfrm>
            <a:off x="459486" y="809244"/>
            <a:ext cx="747522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900"/>
              <a:buFont typeface="Inter"/>
              <a:buNone/>
            </a:pPr>
            <a:r>
              <a:rPr b="0" i="0" lang="en" sz="9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The code handles the full process from a 9 GB CSV to a saved prediction model.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6" name="Google Shape;266;p21"/>
          <p:cNvSpPr/>
          <p:nvPr/>
        </p:nvSpPr>
        <p:spPr>
          <a:xfrm>
            <a:off x="493776" y="1385316"/>
            <a:ext cx="480060" cy="480060"/>
          </a:xfrm>
          <a:prstGeom prst="ellipse">
            <a:avLst/>
          </a:prstGeom>
          <a:solidFill>
            <a:srgbClr val="3A86FF"/>
          </a:solidFill>
          <a:ln cap="flat" cmpd="sng" w="12700">
            <a:solidFill>
              <a:srgbClr val="3A8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1"/>
          <p:cNvSpPr/>
          <p:nvPr/>
        </p:nvSpPr>
        <p:spPr>
          <a:xfrm>
            <a:off x="493776" y="1561441"/>
            <a:ext cx="4800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68" name="Google Shape;268;p21"/>
          <p:cNvCxnSpPr/>
          <p:nvPr/>
        </p:nvCxnSpPr>
        <p:spPr>
          <a:xfrm>
            <a:off x="1001268" y="1625346"/>
            <a:ext cx="809244" cy="0"/>
          </a:xfrm>
          <a:prstGeom prst="straightConnector1">
            <a:avLst/>
          </a:prstGeom>
          <a:noFill/>
          <a:ln cap="flat" cmpd="sng" w="19050">
            <a:solidFill>
              <a:srgbClr val="C7D7E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69" name="Google Shape;269;p21"/>
          <p:cNvSpPr/>
          <p:nvPr/>
        </p:nvSpPr>
        <p:spPr>
          <a:xfrm>
            <a:off x="370332" y="2084832"/>
            <a:ext cx="87782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Read in chunks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0" name="Google Shape;270;p21"/>
          <p:cNvSpPr/>
          <p:nvPr/>
        </p:nvSpPr>
        <p:spPr>
          <a:xfrm>
            <a:off x="336042" y="2519069"/>
            <a:ext cx="9465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Process the large CSV without loading everything into memory.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1" name="Google Shape;271;p21"/>
          <p:cNvSpPr/>
          <p:nvPr/>
        </p:nvSpPr>
        <p:spPr>
          <a:xfrm>
            <a:off x="1906524" y="1385316"/>
            <a:ext cx="480060" cy="480060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1"/>
          <p:cNvSpPr/>
          <p:nvPr/>
        </p:nvSpPr>
        <p:spPr>
          <a:xfrm>
            <a:off x="1906524" y="1561441"/>
            <a:ext cx="4800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73" name="Google Shape;273;p21"/>
          <p:cNvCxnSpPr/>
          <p:nvPr/>
        </p:nvCxnSpPr>
        <p:spPr>
          <a:xfrm>
            <a:off x="2414016" y="1625346"/>
            <a:ext cx="809244" cy="0"/>
          </a:xfrm>
          <a:prstGeom prst="straightConnector1">
            <a:avLst/>
          </a:prstGeom>
          <a:noFill/>
          <a:ln cap="flat" cmpd="sng" w="19050">
            <a:solidFill>
              <a:srgbClr val="C7D7E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4" name="Google Shape;274;p21"/>
          <p:cNvSpPr/>
          <p:nvPr/>
        </p:nvSpPr>
        <p:spPr>
          <a:xfrm>
            <a:off x="1783080" y="2084832"/>
            <a:ext cx="87782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Clean &amp; engineer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5" name="Google Shape;275;p21"/>
          <p:cNvSpPr/>
          <p:nvPr/>
        </p:nvSpPr>
        <p:spPr>
          <a:xfrm>
            <a:off x="1748790" y="2519069"/>
            <a:ext cx="9465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Convert booleans, parse timestamps, and create hour/day features.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6" name="Google Shape;276;p21"/>
          <p:cNvSpPr/>
          <p:nvPr/>
        </p:nvSpPr>
        <p:spPr>
          <a:xfrm>
            <a:off x="3319272" y="1385316"/>
            <a:ext cx="480060" cy="480060"/>
          </a:xfrm>
          <a:prstGeom prst="ellipse">
            <a:avLst/>
          </a:prstGeom>
          <a:solidFill>
            <a:srgbClr val="FFB347"/>
          </a:solidFill>
          <a:ln cap="flat" cmpd="sng" w="12700">
            <a:solidFill>
              <a:srgbClr val="FFB3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"/>
          <p:cNvSpPr/>
          <p:nvPr/>
        </p:nvSpPr>
        <p:spPr>
          <a:xfrm>
            <a:off x="3319272" y="1561441"/>
            <a:ext cx="4800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78" name="Google Shape;278;p21"/>
          <p:cNvCxnSpPr/>
          <p:nvPr/>
        </p:nvCxnSpPr>
        <p:spPr>
          <a:xfrm>
            <a:off x="3826764" y="1625346"/>
            <a:ext cx="809244" cy="0"/>
          </a:xfrm>
          <a:prstGeom prst="straightConnector1">
            <a:avLst/>
          </a:prstGeom>
          <a:noFill/>
          <a:ln cap="flat" cmpd="sng" w="19050">
            <a:solidFill>
              <a:srgbClr val="C7D7E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9" name="Google Shape;279;p21"/>
          <p:cNvSpPr/>
          <p:nvPr/>
        </p:nvSpPr>
        <p:spPr>
          <a:xfrm>
            <a:off x="3195828" y="2084832"/>
            <a:ext cx="87782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Balance classes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0" name="Google Shape;280;p21"/>
          <p:cNvSpPr/>
          <p:nvPr/>
        </p:nvSpPr>
        <p:spPr>
          <a:xfrm>
            <a:off x="3161538" y="2519069"/>
            <a:ext cx="9465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Collect attack examples and sample normal logins at a controlled ratio.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1" name="Google Shape;281;p21"/>
          <p:cNvSpPr/>
          <p:nvPr/>
        </p:nvSpPr>
        <p:spPr>
          <a:xfrm>
            <a:off x="4732020" y="1385316"/>
            <a:ext cx="480060" cy="480060"/>
          </a:xfrm>
          <a:prstGeom prst="ellipse">
            <a:avLst/>
          </a:prstGeom>
          <a:solidFill>
            <a:srgbClr val="4CC9F0"/>
          </a:solidFill>
          <a:ln cap="flat" cmpd="sng" w="12700">
            <a:solidFill>
              <a:srgbClr val="4CC9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1"/>
          <p:cNvSpPr/>
          <p:nvPr/>
        </p:nvSpPr>
        <p:spPr>
          <a:xfrm>
            <a:off x="4732020" y="1561441"/>
            <a:ext cx="4800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83" name="Google Shape;283;p21"/>
          <p:cNvCxnSpPr/>
          <p:nvPr/>
        </p:nvCxnSpPr>
        <p:spPr>
          <a:xfrm>
            <a:off x="5239512" y="1625346"/>
            <a:ext cx="809244" cy="0"/>
          </a:xfrm>
          <a:prstGeom prst="straightConnector1">
            <a:avLst/>
          </a:prstGeom>
          <a:noFill/>
          <a:ln cap="flat" cmpd="sng" w="19050">
            <a:solidFill>
              <a:srgbClr val="C7D7E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4" name="Google Shape;284;p21"/>
          <p:cNvSpPr/>
          <p:nvPr/>
        </p:nvSpPr>
        <p:spPr>
          <a:xfrm>
            <a:off x="4608576" y="2084832"/>
            <a:ext cx="87782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Split data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5" name="Google Shape;285;p21"/>
          <p:cNvSpPr/>
          <p:nvPr/>
        </p:nvSpPr>
        <p:spPr>
          <a:xfrm>
            <a:off x="4574286" y="2519069"/>
            <a:ext cx="9465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Create separate training, validation, and test sets.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6" name="Google Shape;286;p21"/>
          <p:cNvSpPr/>
          <p:nvPr/>
        </p:nvSpPr>
        <p:spPr>
          <a:xfrm>
            <a:off x="6144768" y="1385316"/>
            <a:ext cx="480060" cy="480060"/>
          </a:xfrm>
          <a:prstGeom prst="ellipse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1"/>
          <p:cNvSpPr/>
          <p:nvPr/>
        </p:nvSpPr>
        <p:spPr>
          <a:xfrm>
            <a:off x="6144768" y="1561441"/>
            <a:ext cx="4800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05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88" name="Google Shape;288;p21"/>
          <p:cNvCxnSpPr/>
          <p:nvPr/>
        </p:nvCxnSpPr>
        <p:spPr>
          <a:xfrm>
            <a:off x="6652260" y="1625346"/>
            <a:ext cx="809244" cy="0"/>
          </a:xfrm>
          <a:prstGeom prst="straightConnector1">
            <a:avLst/>
          </a:prstGeom>
          <a:noFill/>
          <a:ln cap="flat" cmpd="sng" w="19050">
            <a:solidFill>
              <a:srgbClr val="C7D7E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9" name="Google Shape;289;p21"/>
          <p:cNvSpPr/>
          <p:nvPr/>
        </p:nvSpPr>
        <p:spPr>
          <a:xfrm>
            <a:off x="6021324" y="2084832"/>
            <a:ext cx="87782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Train model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0" name="Google Shape;290;p21"/>
          <p:cNvSpPr/>
          <p:nvPr/>
        </p:nvSpPr>
        <p:spPr>
          <a:xfrm>
            <a:off x="5987034" y="2519069"/>
            <a:ext cx="9465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Fit a Random Forest inside a preprocessing pipeline.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1" name="Google Shape;291;p21"/>
          <p:cNvSpPr/>
          <p:nvPr/>
        </p:nvSpPr>
        <p:spPr>
          <a:xfrm>
            <a:off x="7557516" y="1385316"/>
            <a:ext cx="480060" cy="480060"/>
          </a:xfrm>
          <a:prstGeom prst="ellipse">
            <a:avLst/>
          </a:prstGeom>
          <a:solidFill>
            <a:srgbClr val="2FCB84"/>
          </a:solidFill>
          <a:ln cap="flat" cmpd="sng" w="12700">
            <a:solidFill>
              <a:srgbClr val="2FCB8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21"/>
          <p:cNvSpPr/>
          <p:nvPr/>
        </p:nvSpPr>
        <p:spPr>
          <a:xfrm>
            <a:off x="7557516" y="1561441"/>
            <a:ext cx="4800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06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3" name="Google Shape;293;p21"/>
          <p:cNvSpPr/>
          <p:nvPr/>
        </p:nvSpPr>
        <p:spPr>
          <a:xfrm>
            <a:off x="7434072" y="2084832"/>
            <a:ext cx="87782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Tune &amp; save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4" name="Google Shape;294;p21"/>
          <p:cNvSpPr/>
          <p:nvPr/>
        </p:nvSpPr>
        <p:spPr>
          <a:xfrm>
            <a:off x="7399782" y="2519069"/>
            <a:ext cx="9465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Choose the F1-optimal threshold and save the model with Joblib.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5" name="Google Shape;295;p21"/>
          <p:cNvSpPr/>
          <p:nvPr/>
        </p:nvSpPr>
        <p:spPr>
          <a:xfrm>
            <a:off x="740664" y="3634740"/>
            <a:ext cx="7646670" cy="630936"/>
          </a:xfrm>
          <a:prstGeom prst="roundRect">
            <a:avLst>
              <a:gd fmla="val 16667" name="adj"/>
            </a:avLst>
          </a:prstGeom>
          <a:solidFill>
            <a:srgbClr val="071B2A"/>
          </a:solidFill>
          <a:ln cap="flat" cmpd="sng" w="1015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1"/>
          <p:cNvSpPr/>
          <p:nvPr/>
        </p:nvSpPr>
        <p:spPr>
          <a:xfrm>
            <a:off x="973836" y="3869573"/>
            <a:ext cx="89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Output files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7" name="Google Shape;297;p21"/>
          <p:cNvSpPr/>
          <p:nvPr/>
        </p:nvSpPr>
        <p:spPr>
          <a:xfrm>
            <a:off x="1885950" y="3828425"/>
            <a:ext cx="2674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models/login_threat_model_balanced.joblib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8" name="Google Shape;298;p21"/>
          <p:cNvSpPr/>
          <p:nvPr/>
        </p:nvSpPr>
        <p:spPr>
          <a:xfrm>
            <a:off x="4800600" y="3828425"/>
            <a:ext cx="26403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reports/balanced_evaluation_report.txt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9" name="Google Shape;299;p21"/>
          <p:cNvSpPr txBox="1"/>
          <p:nvPr>
            <p:ph idx="4294967295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600" u="none" cap="none" strike="noStrike">
              <a:solidFill>
                <a:srgbClr val="7C8B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2"/>
          <p:cNvSpPr/>
          <p:nvPr/>
        </p:nvSpPr>
        <p:spPr>
          <a:xfrm>
            <a:off x="445770" y="425196"/>
            <a:ext cx="665226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Model design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6" name="Google Shape;306;p22"/>
          <p:cNvSpPr/>
          <p:nvPr/>
        </p:nvSpPr>
        <p:spPr>
          <a:xfrm>
            <a:off x="459486" y="809244"/>
            <a:ext cx="747522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900"/>
              <a:buFont typeface="Inter"/>
              <a:buNone/>
            </a:pPr>
            <a:r>
              <a:rPr b="0" i="0" lang="en" sz="9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A Random Forest was chosen because it handles nonlinear relationships and mixed feature types well.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7" name="Google Shape;307;p22"/>
          <p:cNvSpPr/>
          <p:nvPr/>
        </p:nvSpPr>
        <p:spPr>
          <a:xfrm>
            <a:off x="493776" y="1207008"/>
            <a:ext cx="4539996" cy="3195828"/>
          </a:xfrm>
          <a:prstGeom prst="roundRect">
            <a:avLst>
              <a:gd fmla="val 16667" name="adj"/>
            </a:avLst>
          </a:prstGeom>
          <a:solidFill>
            <a:srgbClr val="071B2A"/>
          </a:solidFill>
          <a:ln cap="flat" cmpd="sng" w="1015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22"/>
          <p:cNvSpPr/>
          <p:nvPr/>
        </p:nvSpPr>
        <p:spPr>
          <a:xfrm>
            <a:off x="739311" y="1520601"/>
            <a:ext cx="17832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22D3A6"/>
                </a:solidFill>
                <a:latin typeface="Arial"/>
                <a:ea typeface="Arial"/>
                <a:cs typeface="Arial"/>
                <a:sym typeface="Arial"/>
              </a:rPr>
              <a:t>train_model_balanced.py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9" name="Google Shape;309;p22"/>
          <p:cNvSpPr/>
          <p:nvPr/>
        </p:nvSpPr>
        <p:spPr>
          <a:xfrm>
            <a:off x="699516" y="1680210"/>
            <a:ext cx="4080510" cy="2345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575" lIns="575" spcFirstLastPara="1" rIns="575" wrap="square" tIns="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F3F8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E6F3F8"/>
                </a:solidFill>
                <a:latin typeface="Arial"/>
                <a:ea typeface="Arial"/>
                <a:cs typeface="Arial"/>
                <a:sym typeface="Arial"/>
              </a:rPr>
              <a:t>RandomForestClassifier(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F3F8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E6F3F8"/>
                </a:solidFill>
                <a:latin typeface="Arial"/>
                <a:ea typeface="Arial"/>
                <a:cs typeface="Arial"/>
                <a:sym typeface="Arial"/>
              </a:rPr>
              <a:t>    n_estimators=250,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F3F8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E6F3F8"/>
                </a:solidFill>
                <a:latin typeface="Arial"/>
                <a:ea typeface="Arial"/>
                <a:cs typeface="Arial"/>
                <a:sym typeface="Arial"/>
              </a:rPr>
              <a:t>    min_samples_leaf=2,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F3F8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E6F3F8"/>
                </a:solidFill>
                <a:latin typeface="Arial"/>
                <a:ea typeface="Arial"/>
                <a:cs typeface="Arial"/>
                <a:sym typeface="Arial"/>
              </a:rPr>
              <a:t>    class_weight="balanced_subsample",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F3F8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E6F3F8"/>
                </a:solidFill>
                <a:latin typeface="Arial"/>
                <a:ea typeface="Arial"/>
                <a:cs typeface="Arial"/>
                <a:sym typeface="Arial"/>
              </a:rPr>
              <a:t>    n_jobs=-1,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F3F8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E6F3F8"/>
                </a:solidFill>
                <a:latin typeface="Arial"/>
                <a:ea typeface="Arial"/>
                <a:cs typeface="Arial"/>
                <a:sym typeface="Arial"/>
              </a:rPr>
              <a:t>    random_state=42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F3F8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E6F3F8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F3F8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E6F3F8"/>
                </a:solidFill>
                <a:latin typeface="Arial"/>
                <a:ea typeface="Arial"/>
                <a:cs typeface="Arial"/>
                <a:sym typeface="Arial"/>
              </a:rPr>
              <a:t># threshold selected on validation data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F3F8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E6F3F8"/>
                </a:solidFill>
                <a:latin typeface="Arial"/>
                <a:ea typeface="Arial"/>
                <a:cs typeface="Arial"/>
                <a:sym typeface="Arial"/>
              </a:rPr>
              <a:t>prediction = probability &gt;= best_threshold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0" name="Google Shape;310;p22"/>
          <p:cNvSpPr/>
          <p:nvPr/>
        </p:nvSpPr>
        <p:spPr>
          <a:xfrm>
            <a:off x="5294376" y="1303020"/>
            <a:ext cx="3182112" cy="576072"/>
          </a:xfrm>
          <a:prstGeom prst="roundRect">
            <a:avLst>
              <a:gd fmla="val 16667" name="adj"/>
            </a:avLst>
          </a:prstGeom>
          <a:solidFill>
            <a:srgbClr val="E5FAF4"/>
          </a:solidFill>
          <a:ln cap="flat" cmpd="sng" w="10150">
            <a:solidFill>
              <a:srgbClr val="E5FAF4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2"/>
          <p:cNvSpPr/>
          <p:nvPr/>
        </p:nvSpPr>
        <p:spPr>
          <a:xfrm>
            <a:off x="5472684" y="1440180"/>
            <a:ext cx="288036" cy="288036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"/>
          <p:cNvSpPr/>
          <p:nvPr/>
        </p:nvSpPr>
        <p:spPr>
          <a:xfrm>
            <a:off x="5472684" y="1527981"/>
            <a:ext cx="288000" cy="1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3" name="Google Shape;313;p22"/>
          <p:cNvSpPr/>
          <p:nvPr/>
        </p:nvSpPr>
        <p:spPr>
          <a:xfrm>
            <a:off x="5884164" y="1405890"/>
            <a:ext cx="231800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250 decision trees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4" name="Google Shape;314;p22"/>
          <p:cNvSpPr/>
          <p:nvPr/>
        </p:nvSpPr>
        <p:spPr>
          <a:xfrm>
            <a:off x="5884164" y="1597914"/>
            <a:ext cx="2345436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Reduces dependence on any single tree.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5" name="Google Shape;315;p22"/>
          <p:cNvSpPr/>
          <p:nvPr/>
        </p:nvSpPr>
        <p:spPr>
          <a:xfrm>
            <a:off x="5294376" y="2091690"/>
            <a:ext cx="3182112" cy="576072"/>
          </a:xfrm>
          <a:prstGeom prst="roundRect">
            <a:avLst>
              <a:gd fmla="val 16667" name="adj"/>
            </a:avLst>
          </a:prstGeom>
          <a:solidFill>
            <a:srgbClr val="EAF2FF"/>
          </a:solidFill>
          <a:ln cap="flat" cmpd="sng" w="10150">
            <a:solidFill>
              <a:srgbClr val="EAF2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22"/>
          <p:cNvSpPr/>
          <p:nvPr/>
        </p:nvSpPr>
        <p:spPr>
          <a:xfrm>
            <a:off x="5472684" y="2228850"/>
            <a:ext cx="288036" cy="288036"/>
          </a:xfrm>
          <a:prstGeom prst="ellipse">
            <a:avLst/>
          </a:prstGeom>
          <a:solidFill>
            <a:srgbClr val="3A86FF"/>
          </a:solidFill>
          <a:ln cap="flat" cmpd="sng" w="12700">
            <a:solidFill>
              <a:srgbClr val="3A8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22"/>
          <p:cNvSpPr/>
          <p:nvPr/>
        </p:nvSpPr>
        <p:spPr>
          <a:xfrm>
            <a:off x="5472684" y="2316651"/>
            <a:ext cx="288000" cy="1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8" name="Google Shape;318;p22"/>
          <p:cNvSpPr/>
          <p:nvPr/>
        </p:nvSpPr>
        <p:spPr>
          <a:xfrm>
            <a:off x="5884164" y="2194560"/>
            <a:ext cx="231800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Balanced class weights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9" name="Google Shape;319;p22"/>
          <p:cNvSpPr/>
          <p:nvPr/>
        </p:nvSpPr>
        <p:spPr>
          <a:xfrm>
            <a:off x="5884164" y="2386584"/>
            <a:ext cx="2345436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Gives the attack class more influence during training.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0" name="Google Shape;320;p22"/>
          <p:cNvSpPr/>
          <p:nvPr/>
        </p:nvSpPr>
        <p:spPr>
          <a:xfrm>
            <a:off x="5294376" y="2880360"/>
            <a:ext cx="3182112" cy="576072"/>
          </a:xfrm>
          <a:prstGeom prst="roundRect">
            <a:avLst>
              <a:gd fmla="val 16667" name="adj"/>
            </a:avLst>
          </a:prstGeom>
          <a:solidFill>
            <a:srgbClr val="FFF6E8"/>
          </a:solidFill>
          <a:ln cap="flat" cmpd="sng" w="10150">
            <a:solidFill>
              <a:srgbClr val="FFF6E8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22"/>
          <p:cNvSpPr/>
          <p:nvPr/>
        </p:nvSpPr>
        <p:spPr>
          <a:xfrm>
            <a:off x="5472684" y="3017520"/>
            <a:ext cx="288036" cy="288036"/>
          </a:xfrm>
          <a:prstGeom prst="ellipse">
            <a:avLst/>
          </a:prstGeom>
          <a:solidFill>
            <a:srgbClr val="FFB347"/>
          </a:solidFill>
          <a:ln cap="flat" cmpd="sng" w="12700">
            <a:solidFill>
              <a:srgbClr val="FFB3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22"/>
          <p:cNvSpPr/>
          <p:nvPr/>
        </p:nvSpPr>
        <p:spPr>
          <a:xfrm>
            <a:off x="5472684" y="3105321"/>
            <a:ext cx="288000" cy="1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3" name="Google Shape;323;p22"/>
          <p:cNvSpPr/>
          <p:nvPr/>
        </p:nvSpPr>
        <p:spPr>
          <a:xfrm>
            <a:off x="5884164" y="2983230"/>
            <a:ext cx="231800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60 / 20 / 20 split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4" name="Google Shape;324;p22"/>
          <p:cNvSpPr/>
          <p:nvPr/>
        </p:nvSpPr>
        <p:spPr>
          <a:xfrm>
            <a:off x="5884164" y="3175254"/>
            <a:ext cx="2345436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Separate train, validation, and test data.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5" name="Google Shape;325;p22"/>
          <p:cNvSpPr/>
          <p:nvPr/>
        </p:nvSpPr>
        <p:spPr>
          <a:xfrm>
            <a:off x="5294376" y="3669030"/>
            <a:ext cx="3182112" cy="576072"/>
          </a:xfrm>
          <a:prstGeom prst="roundRect">
            <a:avLst>
              <a:gd fmla="val 16667" name="adj"/>
            </a:avLst>
          </a:prstGeom>
          <a:solidFill>
            <a:srgbClr val="FFF0F0"/>
          </a:solidFill>
          <a:ln cap="flat" cmpd="sng" w="10150">
            <a:solidFill>
              <a:srgbClr val="FFF0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22"/>
          <p:cNvSpPr/>
          <p:nvPr/>
        </p:nvSpPr>
        <p:spPr>
          <a:xfrm>
            <a:off x="5472684" y="3806190"/>
            <a:ext cx="288036" cy="288036"/>
          </a:xfrm>
          <a:prstGeom prst="ellipse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22"/>
          <p:cNvSpPr/>
          <p:nvPr/>
        </p:nvSpPr>
        <p:spPr>
          <a:xfrm>
            <a:off x="5472684" y="3893991"/>
            <a:ext cx="288000" cy="1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8" name="Google Shape;328;p22"/>
          <p:cNvSpPr/>
          <p:nvPr/>
        </p:nvSpPr>
        <p:spPr>
          <a:xfrm>
            <a:off x="5884164" y="3771900"/>
            <a:ext cx="231800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Threshold tuning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9" name="Google Shape;329;p22"/>
          <p:cNvSpPr/>
          <p:nvPr/>
        </p:nvSpPr>
        <p:spPr>
          <a:xfrm>
            <a:off x="5884164" y="3963924"/>
            <a:ext cx="2345436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Uses validation F1 instead of assuming 0.50.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0" name="Google Shape;330;p22"/>
          <p:cNvSpPr/>
          <p:nvPr/>
        </p:nvSpPr>
        <p:spPr>
          <a:xfrm>
            <a:off x="493776" y="4656582"/>
            <a:ext cx="809244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595A3"/>
              </a:buClr>
              <a:buSzPts val="500"/>
              <a:buFont typeface="Inter"/>
              <a:buNone/>
            </a:pPr>
            <a:r>
              <a:rPr b="0" i="1" lang="en" sz="500" u="none" cap="none" strike="noStrike">
                <a:solidFill>
                  <a:srgbClr val="8595A3"/>
                </a:solidFill>
                <a:latin typeface="Inter"/>
                <a:ea typeface="Inter"/>
                <a:cs typeface="Inter"/>
                <a:sym typeface="Inter"/>
              </a:rPr>
              <a:t>Reference: scikit-learn RandomForestClassifier documentation. Project implementation used the parameters shown above.</a:t>
            </a:r>
            <a:endParaRPr b="0" i="0" sz="5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1" name="Google Shape;331;p22"/>
          <p:cNvSpPr txBox="1"/>
          <p:nvPr>
            <p:ph idx="4294967295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600" u="none" cap="none" strike="noStrike">
              <a:solidFill>
                <a:srgbClr val="7C8B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3"/>
          <p:cNvSpPr/>
          <p:nvPr/>
        </p:nvSpPr>
        <p:spPr>
          <a:xfrm>
            <a:off x="445770" y="425196"/>
            <a:ext cx="665226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Model performance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8" name="Google Shape;338;p23"/>
          <p:cNvSpPr/>
          <p:nvPr/>
        </p:nvSpPr>
        <p:spPr>
          <a:xfrm>
            <a:off x="459486" y="809244"/>
            <a:ext cx="747522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900"/>
              <a:buFont typeface="Inter"/>
              <a:buNone/>
            </a:pPr>
            <a:r>
              <a:rPr b="0" i="0" lang="en" sz="9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Results from the balanced test set after scanning the first 1,000,000 rows.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9" name="Google Shape;339;p23"/>
          <p:cNvSpPr/>
          <p:nvPr/>
        </p:nvSpPr>
        <p:spPr>
          <a:xfrm>
            <a:off x="493776" y="1179576"/>
            <a:ext cx="2811780" cy="3188970"/>
          </a:xfrm>
          <a:prstGeom prst="roundRect">
            <a:avLst>
              <a:gd fmla="val 16667" name="adj"/>
            </a:avLst>
          </a:prstGeom>
          <a:solidFill>
            <a:srgbClr val="071B2A"/>
          </a:solidFill>
          <a:ln cap="flat" cmpd="sng" w="1015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23"/>
          <p:cNvSpPr/>
          <p:nvPr/>
        </p:nvSpPr>
        <p:spPr>
          <a:xfrm>
            <a:off x="733806" y="1405890"/>
            <a:ext cx="229743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PRIMARY SECURITY METRIC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1" name="Google Shape;341;p23"/>
          <p:cNvSpPr/>
          <p:nvPr/>
        </p:nvSpPr>
        <p:spPr>
          <a:xfrm>
            <a:off x="939546" y="1769364"/>
            <a:ext cx="1920240" cy="1920240"/>
          </a:xfrm>
          <a:prstGeom prst="ellipse">
            <a:avLst/>
          </a:prstGeom>
          <a:solidFill>
            <a:srgbClr val="113A4C"/>
          </a:solidFill>
          <a:ln cap="flat" cmpd="sng" w="13950">
            <a:solidFill>
              <a:srgbClr val="1A5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3"/>
          <p:cNvSpPr/>
          <p:nvPr/>
        </p:nvSpPr>
        <p:spPr>
          <a:xfrm>
            <a:off x="1179576" y="2009394"/>
            <a:ext cx="1440180" cy="1440180"/>
          </a:xfrm>
          <a:prstGeom prst="ellipse">
            <a:avLst/>
          </a:prstGeom>
          <a:solidFill>
            <a:srgbClr val="071B2A"/>
          </a:solidFill>
          <a:ln cap="flat" cmpd="sng" w="889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23"/>
          <p:cNvSpPr/>
          <p:nvPr/>
        </p:nvSpPr>
        <p:spPr>
          <a:xfrm>
            <a:off x="1248156" y="2489454"/>
            <a:ext cx="13030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Inter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87.33%</a:t>
            </a:r>
            <a:endParaRPr b="0" i="0" sz="20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23"/>
          <p:cNvSpPr/>
          <p:nvPr/>
        </p:nvSpPr>
        <p:spPr>
          <a:xfrm>
            <a:off x="1357884" y="2825496"/>
            <a:ext cx="106299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RECALL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23"/>
          <p:cNvSpPr/>
          <p:nvPr/>
        </p:nvSpPr>
        <p:spPr>
          <a:xfrm>
            <a:off x="754380" y="3840480"/>
            <a:ext cx="2276856" cy="356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8DCE5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C8DCE5"/>
                </a:solidFill>
                <a:latin typeface="Inter"/>
                <a:ea typeface="Inter"/>
                <a:cs typeface="Inter"/>
                <a:sym typeface="Inter"/>
              </a:rPr>
              <a:t>The model detected nearly 9 out of every 10 attack-IP logins in the test set.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6" name="Google Shape;346;p23"/>
          <p:cNvSpPr/>
          <p:nvPr/>
        </p:nvSpPr>
        <p:spPr>
          <a:xfrm>
            <a:off x="3552444" y="1179576"/>
            <a:ext cx="1536192" cy="932688"/>
          </a:xfrm>
          <a:prstGeom prst="roundRect">
            <a:avLst>
              <a:gd fmla="val 8824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3"/>
          <p:cNvSpPr/>
          <p:nvPr/>
        </p:nvSpPr>
        <p:spPr>
          <a:xfrm>
            <a:off x="3552444" y="1179576"/>
            <a:ext cx="54864" cy="932688"/>
          </a:xfrm>
          <a:prstGeom prst="rect">
            <a:avLst/>
          </a:prstGeom>
          <a:solidFill>
            <a:srgbClr val="3A86FF"/>
          </a:solidFill>
          <a:ln cap="flat" cmpd="sng" w="12700">
            <a:solidFill>
              <a:srgbClr val="3A8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23"/>
          <p:cNvSpPr/>
          <p:nvPr/>
        </p:nvSpPr>
        <p:spPr>
          <a:xfrm>
            <a:off x="3723894" y="1303020"/>
            <a:ext cx="126187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ACCURACY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9" name="Google Shape;349;p23"/>
          <p:cNvSpPr/>
          <p:nvPr/>
        </p:nvSpPr>
        <p:spPr>
          <a:xfrm>
            <a:off x="3723894" y="1508760"/>
            <a:ext cx="1261872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86FF"/>
              </a:buClr>
              <a:buSzPts val="1700"/>
              <a:buFont typeface="Inter"/>
              <a:buNone/>
            </a:pPr>
            <a:r>
              <a:rPr b="1" i="0" lang="en" sz="1700" u="none" cap="none" strike="noStrike">
                <a:solidFill>
                  <a:srgbClr val="3A86FF"/>
                </a:solidFill>
                <a:latin typeface="Inter"/>
                <a:ea typeface="Inter"/>
                <a:cs typeface="Inter"/>
                <a:sym typeface="Inter"/>
              </a:rPr>
              <a:t>85.58%</a:t>
            </a:r>
            <a:endParaRPr b="0" i="0" sz="1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50" name="Google Shape;350;p23"/>
          <p:cNvSpPr/>
          <p:nvPr/>
        </p:nvSpPr>
        <p:spPr>
          <a:xfrm>
            <a:off x="5253228" y="1179576"/>
            <a:ext cx="1536192" cy="932688"/>
          </a:xfrm>
          <a:prstGeom prst="roundRect">
            <a:avLst>
              <a:gd fmla="val 8824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23"/>
          <p:cNvSpPr/>
          <p:nvPr/>
        </p:nvSpPr>
        <p:spPr>
          <a:xfrm>
            <a:off x="5253228" y="1179576"/>
            <a:ext cx="54864" cy="932688"/>
          </a:xfrm>
          <a:prstGeom prst="rect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3"/>
          <p:cNvSpPr/>
          <p:nvPr/>
        </p:nvSpPr>
        <p:spPr>
          <a:xfrm>
            <a:off x="5424678" y="1303020"/>
            <a:ext cx="126187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PRECISION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53" name="Google Shape;353;p23"/>
          <p:cNvSpPr/>
          <p:nvPr/>
        </p:nvSpPr>
        <p:spPr>
          <a:xfrm>
            <a:off x="5424678" y="1508760"/>
            <a:ext cx="1261872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6B"/>
              </a:buClr>
              <a:buSzPts val="1700"/>
              <a:buFont typeface="Inter"/>
              <a:buNone/>
            </a:pPr>
            <a:r>
              <a:rPr b="1" i="0" lang="en" sz="1700" u="none" cap="none" strike="noStrike">
                <a:solidFill>
                  <a:srgbClr val="FF6B6B"/>
                </a:solidFill>
                <a:latin typeface="Inter"/>
                <a:ea typeface="Inter"/>
                <a:cs typeface="Inter"/>
                <a:sym typeface="Inter"/>
              </a:rPr>
              <a:t>54.18%</a:t>
            </a:r>
            <a:endParaRPr b="0" i="0" sz="1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54" name="Google Shape;354;p23"/>
          <p:cNvSpPr/>
          <p:nvPr/>
        </p:nvSpPr>
        <p:spPr>
          <a:xfrm>
            <a:off x="6954012" y="1179576"/>
            <a:ext cx="1536192" cy="932688"/>
          </a:xfrm>
          <a:prstGeom prst="roundRect">
            <a:avLst>
              <a:gd fmla="val 8824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23"/>
          <p:cNvSpPr/>
          <p:nvPr/>
        </p:nvSpPr>
        <p:spPr>
          <a:xfrm>
            <a:off x="6954012" y="1179576"/>
            <a:ext cx="54864" cy="932688"/>
          </a:xfrm>
          <a:prstGeom prst="rect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23"/>
          <p:cNvSpPr/>
          <p:nvPr/>
        </p:nvSpPr>
        <p:spPr>
          <a:xfrm>
            <a:off x="7125462" y="1303020"/>
            <a:ext cx="126187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F1-SCORE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57" name="Google Shape;357;p23"/>
          <p:cNvSpPr/>
          <p:nvPr/>
        </p:nvSpPr>
        <p:spPr>
          <a:xfrm>
            <a:off x="7125462" y="1508760"/>
            <a:ext cx="1261872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1700"/>
              <a:buFont typeface="Inter"/>
              <a:buNone/>
            </a:pPr>
            <a:r>
              <a:rPr b="1" i="0" lang="en" sz="17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66.87%</a:t>
            </a:r>
            <a:endParaRPr b="0" i="0" sz="1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58" name="Google Shape;358;p23"/>
          <p:cNvSpPr/>
          <p:nvPr/>
        </p:nvSpPr>
        <p:spPr>
          <a:xfrm>
            <a:off x="3552444" y="2304288"/>
            <a:ext cx="1536192" cy="932688"/>
          </a:xfrm>
          <a:prstGeom prst="roundRect">
            <a:avLst>
              <a:gd fmla="val 8824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23"/>
          <p:cNvSpPr/>
          <p:nvPr/>
        </p:nvSpPr>
        <p:spPr>
          <a:xfrm>
            <a:off x="3552444" y="2304288"/>
            <a:ext cx="54864" cy="932688"/>
          </a:xfrm>
          <a:prstGeom prst="rect">
            <a:avLst/>
          </a:prstGeom>
          <a:solidFill>
            <a:srgbClr val="4CC9F0"/>
          </a:solidFill>
          <a:ln cap="flat" cmpd="sng" w="12700">
            <a:solidFill>
              <a:srgbClr val="4CC9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23"/>
          <p:cNvSpPr/>
          <p:nvPr/>
        </p:nvSpPr>
        <p:spPr>
          <a:xfrm>
            <a:off x="3723894" y="2427732"/>
            <a:ext cx="126187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ROC-AUC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1" name="Google Shape;361;p23"/>
          <p:cNvSpPr/>
          <p:nvPr/>
        </p:nvSpPr>
        <p:spPr>
          <a:xfrm>
            <a:off x="3723894" y="2633472"/>
            <a:ext cx="1261872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CC9F0"/>
              </a:buClr>
              <a:buSzPts val="1700"/>
              <a:buFont typeface="Inter"/>
              <a:buNone/>
            </a:pPr>
            <a:r>
              <a:rPr b="1" i="0" lang="en" sz="1700" u="none" cap="none" strike="noStrike">
                <a:solidFill>
                  <a:srgbClr val="4CC9F0"/>
                </a:solidFill>
                <a:latin typeface="Inter"/>
                <a:ea typeface="Inter"/>
                <a:cs typeface="Inter"/>
                <a:sym typeface="Inter"/>
              </a:rPr>
              <a:t>92.21%</a:t>
            </a:r>
            <a:endParaRPr b="0" i="0" sz="1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2" name="Google Shape;362;p23"/>
          <p:cNvSpPr/>
          <p:nvPr/>
        </p:nvSpPr>
        <p:spPr>
          <a:xfrm>
            <a:off x="5253228" y="2304288"/>
            <a:ext cx="1536192" cy="932688"/>
          </a:xfrm>
          <a:prstGeom prst="roundRect">
            <a:avLst>
              <a:gd fmla="val 8824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3"/>
          <p:cNvSpPr/>
          <p:nvPr/>
        </p:nvSpPr>
        <p:spPr>
          <a:xfrm>
            <a:off x="5253228" y="2304288"/>
            <a:ext cx="54864" cy="932688"/>
          </a:xfrm>
          <a:prstGeom prst="rect">
            <a:avLst/>
          </a:prstGeom>
          <a:solidFill>
            <a:srgbClr val="FFB347"/>
          </a:solidFill>
          <a:ln cap="flat" cmpd="sng" w="12700">
            <a:solidFill>
              <a:srgbClr val="FFB3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23"/>
          <p:cNvSpPr/>
          <p:nvPr/>
        </p:nvSpPr>
        <p:spPr>
          <a:xfrm>
            <a:off x="5424678" y="2427732"/>
            <a:ext cx="126187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PR-AUC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5" name="Google Shape;365;p23"/>
          <p:cNvSpPr/>
          <p:nvPr/>
        </p:nvSpPr>
        <p:spPr>
          <a:xfrm>
            <a:off x="5424678" y="2633472"/>
            <a:ext cx="1261872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347"/>
              </a:buClr>
              <a:buSzPts val="1700"/>
              <a:buFont typeface="Inter"/>
              <a:buNone/>
            </a:pPr>
            <a:r>
              <a:rPr b="1" i="0" lang="en" sz="1700" u="none" cap="none" strike="noStrike">
                <a:solidFill>
                  <a:srgbClr val="FFB347"/>
                </a:solidFill>
                <a:latin typeface="Inter"/>
                <a:ea typeface="Inter"/>
                <a:cs typeface="Inter"/>
                <a:sym typeface="Inter"/>
              </a:rPr>
              <a:t>68.75%</a:t>
            </a:r>
            <a:endParaRPr b="0" i="0" sz="1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6" name="Google Shape;366;p23"/>
          <p:cNvSpPr/>
          <p:nvPr/>
        </p:nvSpPr>
        <p:spPr>
          <a:xfrm>
            <a:off x="6954012" y="2304288"/>
            <a:ext cx="1536192" cy="932688"/>
          </a:xfrm>
          <a:prstGeom prst="roundRect">
            <a:avLst>
              <a:gd fmla="val 8824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3"/>
          <p:cNvSpPr/>
          <p:nvPr/>
        </p:nvSpPr>
        <p:spPr>
          <a:xfrm>
            <a:off x="6954012" y="2304288"/>
            <a:ext cx="54864" cy="932688"/>
          </a:xfrm>
          <a:prstGeom prst="rect">
            <a:avLst/>
          </a:prstGeom>
          <a:solidFill>
            <a:srgbClr val="2FCB84"/>
          </a:solidFill>
          <a:ln cap="flat" cmpd="sng" w="12700">
            <a:solidFill>
              <a:srgbClr val="2FCB8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23"/>
          <p:cNvSpPr/>
          <p:nvPr/>
        </p:nvSpPr>
        <p:spPr>
          <a:xfrm>
            <a:off x="7125462" y="2427732"/>
            <a:ext cx="126187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THRESHOLD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23"/>
          <p:cNvSpPr/>
          <p:nvPr/>
        </p:nvSpPr>
        <p:spPr>
          <a:xfrm>
            <a:off x="7125462" y="2633472"/>
            <a:ext cx="1261872" cy="31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CB84"/>
              </a:buClr>
              <a:buSzPts val="1700"/>
              <a:buFont typeface="Inter"/>
              <a:buNone/>
            </a:pPr>
            <a:r>
              <a:rPr b="1" i="0" lang="en" sz="1700" u="none" cap="none" strike="noStrike">
                <a:solidFill>
                  <a:srgbClr val="2FCB84"/>
                </a:solidFill>
                <a:latin typeface="Inter"/>
                <a:ea typeface="Inter"/>
                <a:cs typeface="Inter"/>
                <a:sym typeface="Inter"/>
              </a:rPr>
              <a:t>0.5188</a:t>
            </a:r>
            <a:endParaRPr b="0" i="0" sz="1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0" name="Google Shape;370;p23"/>
          <p:cNvSpPr/>
          <p:nvPr/>
        </p:nvSpPr>
        <p:spPr>
          <a:xfrm>
            <a:off x="3552444" y="3483864"/>
            <a:ext cx="4937760" cy="884682"/>
          </a:xfrm>
          <a:prstGeom prst="roundRect">
            <a:avLst>
              <a:gd fmla="val 9302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23"/>
          <p:cNvSpPr/>
          <p:nvPr/>
        </p:nvSpPr>
        <p:spPr>
          <a:xfrm>
            <a:off x="3758184" y="3790599"/>
            <a:ext cx="89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Interpretation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2" name="Google Shape;372;p23"/>
          <p:cNvSpPr/>
          <p:nvPr/>
        </p:nvSpPr>
        <p:spPr>
          <a:xfrm>
            <a:off x="4663440" y="3749451"/>
            <a:ext cx="35523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Strong recall and ROC-AUC show good separation, while moderate precision means the model still creates false alarms.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3" name="Google Shape;373;p23"/>
          <p:cNvSpPr/>
          <p:nvPr/>
        </p:nvSpPr>
        <p:spPr>
          <a:xfrm>
            <a:off x="493776" y="4656582"/>
            <a:ext cx="809244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595A3"/>
              </a:buClr>
              <a:buSzPts val="500"/>
              <a:buFont typeface="Inter"/>
              <a:buNone/>
            </a:pPr>
            <a:r>
              <a:rPr b="0" i="1" lang="en" sz="500" u="none" cap="none" strike="noStrike">
                <a:solidFill>
                  <a:srgbClr val="8595A3"/>
                </a:solidFill>
                <a:latin typeface="Inter"/>
                <a:ea typeface="Inter"/>
                <a:cs typeface="Inter"/>
                <a:sym typeface="Inter"/>
              </a:rPr>
              <a:t>Project results: Random Forest, target = Is Attack IP, max rows = 1,000,000, negatives per positive = 5. Metrics follow scikit-learn definitions.</a:t>
            </a:r>
            <a:endParaRPr b="0" i="0" sz="5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4" name="Google Shape;374;p23"/>
          <p:cNvSpPr txBox="1"/>
          <p:nvPr>
            <p:ph idx="4294967295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600" u="none" cap="none" strike="noStrike">
              <a:solidFill>
                <a:srgbClr val="7C8B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4"/>
          <p:cNvSpPr/>
          <p:nvPr/>
        </p:nvSpPr>
        <p:spPr>
          <a:xfrm>
            <a:off x="445770" y="425196"/>
            <a:ext cx="665226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Confusion matrix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24"/>
          <p:cNvSpPr/>
          <p:nvPr/>
        </p:nvSpPr>
        <p:spPr>
          <a:xfrm>
            <a:off x="459486" y="809244"/>
            <a:ext cx="747522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900"/>
              <a:buFont typeface="Inter"/>
              <a:buNone/>
            </a:pPr>
            <a:r>
              <a:rPr b="0" i="0" lang="en" sz="9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A closer look at what the model got right—and where it made mistakes.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2" name="Google Shape;382;p24"/>
          <p:cNvSpPr/>
          <p:nvPr/>
        </p:nvSpPr>
        <p:spPr>
          <a:xfrm>
            <a:off x="1543050" y="1179576"/>
            <a:ext cx="216027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PREDICTED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3" name="Google Shape;383;p24"/>
          <p:cNvSpPr/>
          <p:nvPr/>
        </p:nvSpPr>
        <p:spPr>
          <a:xfrm rot="-5400000">
            <a:off x="521208" y="2359152"/>
            <a:ext cx="42519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ACTUAL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4" name="Google Shape;384;p24"/>
          <p:cNvSpPr/>
          <p:nvPr/>
        </p:nvSpPr>
        <p:spPr>
          <a:xfrm>
            <a:off x="1543050" y="1440180"/>
            <a:ext cx="10835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Normal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5" name="Google Shape;385;p24"/>
          <p:cNvSpPr/>
          <p:nvPr/>
        </p:nvSpPr>
        <p:spPr>
          <a:xfrm>
            <a:off x="2798064" y="1440180"/>
            <a:ext cx="10835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Attack IP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6" name="Google Shape;386;p24"/>
          <p:cNvSpPr/>
          <p:nvPr/>
        </p:nvSpPr>
        <p:spPr>
          <a:xfrm>
            <a:off x="788670" y="2043684"/>
            <a:ext cx="5623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Normal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24"/>
          <p:cNvSpPr/>
          <p:nvPr/>
        </p:nvSpPr>
        <p:spPr>
          <a:xfrm>
            <a:off x="754380" y="3106674"/>
            <a:ext cx="60350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Attack IP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8" name="Google Shape;388;p24"/>
          <p:cNvSpPr/>
          <p:nvPr/>
        </p:nvSpPr>
        <p:spPr>
          <a:xfrm>
            <a:off x="1495044" y="1748790"/>
            <a:ext cx="1179576" cy="905256"/>
          </a:xfrm>
          <a:prstGeom prst="roundRect">
            <a:avLst>
              <a:gd fmla="val 16667" name="adj"/>
            </a:avLst>
          </a:prstGeom>
          <a:solidFill>
            <a:srgbClr val="E5FAF4"/>
          </a:solidFill>
          <a:ln cap="flat" cmpd="sng" w="10150">
            <a:solidFill>
              <a:srgbClr val="E5FAF4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24"/>
          <p:cNvSpPr/>
          <p:nvPr/>
        </p:nvSpPr>
        <p:spPr>
          <a:xfrm>
            <a:off x="1549908" y="1954530"/>
            <a:ext cx="1069848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CB84"/>
              </a:buClr>
              <a:buSzPts val="1600"/>
              <a:buFont typeface="Inter"/>
              <a:buNone/>
            </a:pPr>
            <a:r>
              <a:rPr b="1" i="0" lang="en" sz="1600" u="none" cap="none" strike="noStrike">
                <a:solidFill>
                  <a:srgbClr val="2FCB84"/>
                </a:solidFill>
                <a:latin typeface="Inter"/>
                <a:ea typeface="Inter"/>
                <a:cs typeface="Inter"/>
                <a:sym typeface="Inter"/>
              </a:rPr>
              <a:t>84,833</a:t>
            </a:r>
            <a:endParaRPr b="0" i="0" sz="1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0" name="Google Shape;390;p24"/>
          <p:cNvSpPr/>
          <p:nvPr/>
        </p:nvSpPr>
        <p:spPr>
          <a:xfrm>
            <a:off x="1549908" y="2324862"/>
            <a:ext cx="1069848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True negatives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1" name="Google Shape;391;p24"/>
          <p:cNvSpPr/>
          <p:nvPr/>
        </p:nvSpPr>
        <p:spPr>
          <a:xfrm>
            <a:off x="2750058" y="1748790"/>
            <a:ext cx="1179576" cy="905256"/>
          </a:xfrm>
          <a:prstGeom prst="roundRect">
            <a:avLst>
              <a:gd fmla="val 16667" name="adj"/>
            </a:avLst>
          </a:prstGeom>
          <a:solidFill>
            <a:srgbClr val="FFF0F0"/>
          </a:solidFill>
          <a:ln cap="flat" cmpd="sng" w="10150">
            <a:solidFill>
              <a:srgbClr val="FFF0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4"/>
          <p:cNvSpPr/>
          <p:nvPr/>
        </p:nvSpPr>
        <p:spPr>
          <a:xfrm>
            <a:off x="2804922" y="1954530"/>
            <a:ext cx="1069848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6B"/>
              </a:buClr>
              <a:buSzPts val="1600"/>
              <a:buFont typeface="Inter"/>
              <a:buNone/>
            </a:pPr>
            <a:r>
              <a:rPr b="1" i="0" lang="en" sz="1600" u="none" cap="none" strike="noStrike">
                <a:solidFill>
                  <a:srgbClr val="FF6B6B"/>
                </a:solidFill>
                <a:latin typeface="Inter"/>
                <a:ea typeface="Inter"/>
                <a:cs typeface="Inter"/>
                <a:sym typeface="Inter"/>
              </a:rPr>
              <a:t>14,701</a:t>
            </a:r>
            <a:endParaRPr b="0" i="0" sz="1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3" name="Google Shape;393;p24"/>
          <p:cNvSpPr/>
          <p:nvPr/>
        </p:nvSpPr>
        <p:spPr>
          <a:xfrm>
            <a:off x="2804922" y="2324862"/>
            <a:ext cx="1069848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False positives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4" name="Google Shape;394;p24"/>
          <p:cNvSpPr/>
          <p:nvPr/>
        </p:nvSpPr>
        <p:spPr>
          <a:xfrm>
            <a:off x="1495044" y="2777490"/>
            <a:ext cx="1179576" cy="905256"/>
          </a:xfrm>
          <a:prstGeom prst="roundRect">
            <a:avLst>
              <a:gd fmla="val 16667" name="adj"/>
            </a:avLst>
          </a:prstGeom>
          <a:solidFill>
            <a:srgbClr val="FFF6E8"/>
          </a:solidFill>
          <a:ln cap="flat" cmpd="sng" w="10150">
            <a:solidFill>
              <a:srgbClr val="FFF6E8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24"/>
          <p:cNvSpPr/>
          <p:nvPr/>
        </p:nvSpPr>
        <p:spPr>
          <a:xfrm>
            <a:off x="1549908" y="2983230"/>
            <a:ext cx="1069848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347"/>
              </a:buClr>
              <a:buSzPts val="1600"/>
              <a:buFont typeface="Inter"/>
              <a:buNone/>
            </a:pPr>
            <a:r>
              <a:rPr b="1" i="0" lang="en" sz="1600" u="none" cap="none" strike="noStrike">
                <a:solidFill>
                  <a:srgbClr val="FFB347"/>
                </a:solidFill>
                <a:latin typeface="Inter"/>
                <a:ea typeface="Inter"/>
                <a:cs typeface="Inter"/>
                <a:sym typeface="Inter"/>
              </a:rPr>
              <a:t>2,522</a:t>
            </a:r>
            <a:endParaRPr b="0" i="0" sz="1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6" name="Google Shape;396;p24"/>
          <p:cNvSpPr/>
          <p:nvPr/>
        </p:nvSpPr>
        <p:spPr>
          <a:xfrm>
            <a:off x="1549908" y="3353562"/>
            <a:ext cx="1069848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False negatives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7" name="Google Shape;397;p24"/>
          <p:cNvSpPr/>
          <p:nvPr/>
        </p:nvSpPr>
        <p:spPr>
          <a:xfrm>
            <a:off x="2750058" y="2777490"/>
            <a:ext cx="1179576" cy="905256"/>
          </a:xfrm>
          <a:prstGeom prst="roundRect">
            <a:avLst>
              <a:gd fmla="val 16667" name="adj"/>
            </a:avLst>
          </a:prstGeom>
          <a:solidFill>
            <a:srgbClr val="EAF2FF"/>
          </a:solidFill>
          <a:ln cap="flat" cmpd="sng" w="10150">
            <a:solidFill>
              <a:srgbClr val="EAF2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24"/>
          <p:cNvSpPr/>
          <p:nvPr/>
        </p:nvSpPr>
        <p:spPr>
          <a:xfrm>
            <a:off x="2804922" y="2983230"/>
            <a:ext cx="1069848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86FF"/>
              </a:buClr>
              <a:buSzPts val="1600"/>
              <a:buFont typeface="Inter"/>
              <a:buNone/>
            </a:pPr>
            <a:r>
              <a:rPr b="1" i="0" lang="en" sz="1600" u="none" cap="none" strike="noStrike">
                <a:solidFill>
                  <a:srgbClr val="3A86FF"/>
                </a:solidFill>
                <a:latin typeface="Inter"/>
                <a:ea typeface="Inter"/>
                <a:cs typeface="Inter"/>
                <a:sym typeface="Inter"/>
              </a:rPr>
              <a:t>17,385</a:t>
            </a:r>
            <a:endParaRPr b="0" i="0" sz="1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9" name="Google Shape;399;p24"/>
          <p:cNvSpPr/>
          <p:nvPr/>
        </p:nvSpPr>
        <p:spPr>
          <a:xfrm>
            <a:off x="2804922" y="3353562"/>
            <a:ext cx="1069848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True positives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0" name="Google Shape;400;p24"/>
          <p:cNvSpPr/>
          <p:nvPr/>
        </p:nvSpPr>
        <p:spPr>
          <a:xfrm>
            <a:off x="4389125" y="1453900"/>
            <a:ext cx="4101000" cy="2741400"/>
          </a:xfrm>
          <a:prstGeom prst="roundRect">
            <a:avLst>
              <a:gd fmla="val 3175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24"/>
          <p:cNvSpPr/>
          <p:nvPr/>
        </p:nvSpPr>
        <p:spPr>
          <a:xfrm>
            <a:off x="4649724" y="1680210"/>
            <a:ext cx="15773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1400"/>
              <a:buFont typeface="Inter"/>
              <a:buNone/>
            </a:pPr>
            <a:r>
              <a:rPr b="1" i="0" lang="en" sz="14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What this means</a:t>
            </a:r>
            <a:endParaRPr b="0" i="0" sz="14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2" name="Google Shape;402;p24"/>
          <p:cNvSpPr/>
          <p:nvPr/>
        </p:nvSpPr>
        <p:spPr>
          <a:xfrm>
            <a:off x="4663440" y="2146554"/>
            <a:ext cx="123444" cy="123444"/>
          </a:xfrm>
          <a:prstGeom prst="ellipse">
            <a:avLst/>
          </a:prstGeom>
          <a:solidFill>
            <a:srgbClr val="2FCB84"/>
          </a:solidFill>
          <a:ln cap="flat" cmpd="sng" w="12700">
            <a:solidFill>
              <a:srgbClr val="2FCB8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4"/>
          <p:cNvSpPr/>
          <p:nvPr/>
        </p:nvSpPr>
        <p:spPr>
          <a:xfrm>
            <a:off x="4889754" y="2125980"/>
            <a:ext cx="65151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17,385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4" name="Google Shape;404;p24"/>
          <p:cNvSpPr/>
          <p:nvPr/>
        </p:nvSpPr>
        <p:spPr>
          <a:xfrm>
            <a:off x="5520690" y="2139696"/>
            <a:ext cx="25374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attack-IP logins were correctly detected.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5" name="Google Shape;405;p24"/>
          <p:cNvSpPr/>
          <p:nvPr/>
        </p:nvSpPr>
        <p:spPr>
          <a:xfrm>
            <a:off x="4663440" y="2599182"/>
            <a:ext cx="123444" cy="123444"/>
          </a:xfrm>
          <a:prstGeom prst="ellipse">
            <a:avLst/>
          </a:prstGeom>
          <a:solidFill>
            <a:srgbClr val="FFB347"/>
          </a:solidFill>
          <a:ln cap="flat" cmpd="sng" w="12700">
            <a:solidFill>
              <a:srgbClr val="FFB3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4"/>
          <p:cNvSpPr/>
          <p:nvPr/>
        </p:nvSpPr>
        <p:spPr>
          <a:xfrm>
            <a:off x="4889754" y="2578608"/>
            <a:ext cx="65151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2,522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p24"/>
          <p:cNvSpPr/>
          <p:nvPr/>
        </p:nvSpPr>
        <p:spPr>
          <a:xfrm>
            <a:off x="5520690" y="2592324"/>
            <a:ext cx="25374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attack-IP logins were missed.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8" name="Google Shape;408;p24"/>
          <p:cNvSpPr/>
          <p:nvPr/>
        </p:nvSpPr>
        <p:spPr>
          <a:xfrm>
            <a:off x="4663440" y="3051810"/>
            <a:ext cx="123444" cy="123444"/>
          </a:xfrm>
          <a:prstGeom prst="ellipse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24"/>
          <p:cNvSpPr/>
          <p:nvPr/>
        </p:nvSpPr>
        <p:spPr>
          <a:xfrm>
            <a:off x="4889754" y="3031236"/>
            <a:ext cx="65151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14,701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0" name="Google Shape;410;p24"/>
          <p:cNvSpPr/>
          <p:nvPr/>
        </p:nvSpPr>
        <p:spPr>
          <a:xfrm>
            <a:off x="5520690" y="3044952"/>
            <a:ext cx="25374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normal logins were incorrectly flagged.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1" name="Google Shape;411;p24"/>
          <p:cNvSpPr/>
          <p:nvPr/>
        </p:nvSpPr>
        <p:spPr>
          <a:xfrm>
            <a:off x="4663440" y="3504438"/>
            <a:ext cx="123444" cy="123444"/>
          </a:xfrm>
          <a:prstGeom prst="ellipse">
            <a:avLst/>
          </a:prstGeom>
          <a:solidFill>
            <a:srgbClr val="3A86FF"/>
          </a:solidFill>
          <a:ln cap="flat" cmpd="sng" w="12700">
            <a:solidFill>
              <a:srgbClr val="3A8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24"/>
          <p:cNvSpPr/>
          <p:nvPr/>
        </p:nvSpPr>
        <p:spPr>
          <a:xfrm>
            <a:off x="4889754" y="3483864"/>
            <a:ext cx="65151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84,833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3" name="Google Shape;413;p24"/>
          <p:cNvSpPr/>
          <p:nvPr/>
        </p:nvSpPr>
        <p:spPr>
          <a:xfrm>
            <a:off x="5520690" y="3497580"/>
            <a:ext cx="25374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800"/>
              <a:buFont typeface="Inter"/>
              <a:buNone/>
            </a:pPr>
            <a:r>
              <a:rPr b="0" i="0" lang="en" sz="8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normal logins were correctly ignored.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4" name="Google Shape;414;p24"/>
          <p:cNvSpPr/>
          <p:nvPr/>
        </p:nvSpPr>
        <p:spPr>
          <a:xfrm>
            <a:off x="4649724" y="3751942"/>
            <a:ext cx="3566100" cy="308700"/>
          </a:xfrm>
          <a:prstGeom prst="roundRect">
            <a:avLst>
              <a:gd fmla="val 16667" name="adj"/>
            </a:avLst>
          </a:prstGeom>
          <a:solidFill>
            <a:srgbClr val="FFF6E8"/>
          </a:solidFill>
          <a:ln cap="flat" cmpd="sng" w="12700">
            <a:solidFill>
              <a:srgbClr val="FFF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4"/>
          <p:cNvSpPr/>
          <p:nvPr/>
        </p:nvSpPr>
        <p:spPr>
          <a:xfrm>
            <a:off x="4786884" y="3841096"/>
            <a:ext cx="3305700" cy="1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5422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7A5422"/>
                </a:solidFill>
                <a:latin typeface="Inter"/>
                <a:ea typeface="Inter"/>
                <a:cs typeface="Inter"/>
                <a:sym typeface="Inter"/>
              </a:rPr>
              <a:t>The model favors catching attacks, even at the cost of more false alarms.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6" name="Google Shape;416;p24"/>
          <p:cNvSpPr txBox="1"/>
          <p:nvPr>
            <p:ph idx="4294967295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600" u="none" cap="none" strike="noStrike">
              <a:solidFill>
                <a:srgbClr val="7C8B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25"/>
          <p:cNvSpPr/>
          <p:nvPr/>
        </p:nvSpPr>
        <p:spPr>
          <a:xfrm>
            <a:off x="445770" y="425196"/>
            <a:ext cx="665226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How one login is scored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3" name="Google Shape;423;p25"/>
          <p:cNvSpPr/>
          <p:nvPr/>
        </p:nvSpPr>
        <p:spPr>
          <a:xfrm>
            <a:off x="459486" y="809244"/>
            <a:ext cx="747522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900"/>
              <a:buFont typeface="Inter"/>
              <a:buNone/>
            </a:pPr>
            <a:r>
              <a:rPr b="0" i="0" lang="en" sz="9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The saved model can classify a new login using the prediction script.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4" name="Google Shape;424;p25"/>
          <p:cNvSpPr/>
          <p:nvPr/>
        </p:nvSpPr>
        <p:spPr>
          <a:xfrm>
            <a:off x="534924" y="1234440"/>
            <a:ext cx="2948940" cy="3127248"/>
          </a:xfrm>
          <a:prstGeom prst="roundRect">
            <a:avLst>
              <a:gd fmla="val 2791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25"/>
          <p:cNvSpPr/>
          <p:nvPr/>
        </p:nvSpPr>
        <p:spPr>
          <a:xfrm>
            <a:off x="754380" y="1440180"/>
            <a:ext cx="178308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1300"/>
              <a:buFont typeface="Inter"/>
              <a:buNone/>
            </a:pPr>
            <a:r>
              <a:rPr b="1" i="0" lang="en" sz="13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Example login event</a:t>
            </a:r>
            <a:endParaRPr b="0" i="0" sz="13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6" name="Google Shape;426;p25"/>
          <p:cNvSpPr/>
          <p:nvPr/>
        </p:nvSpPr>
        <p:spPr>
          <a:xfrm>
            <a:off x="754380" y="1796796"/>
            <a:ext cx="97383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Country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7" name="Google Shape;427;p25"/>
          <p:cNvSpPr/>
          <p:nvPr/>
        </p:nvSpPr>
        <p:spPr>
          <a:xfrm>
            <a:off x="1755648" y="1796796"/>
            <a:ext cx="144018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US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28" name="Google Shape;428;p25"/>
          <p:cNvCxnSpPr/>
          <p:nvPr/>
        </p:nvCxnSpPr>
        <p:spPr>
          <a:xfrm>
            <a:off x="754380" y="2002536"/>
            <a:ext cx="2345436" cy="0"/>
          </a:xfrm>
          <a:prstGeom prst="straightConnector1">
            <a:avLst/>
          </a:prstGeom>
          <a:noFill/>
          <a:ln cap="flat" cmpd="sng" w="9525">
            <a:solidFill>
              <a:srgbClr val="E4EB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9" name="Google Shape;429;p25"/>
          <p:cNvSpPr/>
          <p:nvPr/>
        </p:nvSpPr>
        <p:spPr>
          <a:xfrm>
            <a:off x="754380" y="2105406"/>
            <a:ext cx="97383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Region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0" name="Google Shape;430;p25"/>
          <p:cNvSpPr/>
          <p:nvPr/>
        </p:nvSpPr>
        <p:spPr>
          <a:xfrm>
            <a:off x="1755648" y="2105406"/>
            <a:ext cx="144018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New York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31" name="Google Shape;431;p25"/>
          <p:cNvCxnSpPr/>
          <p:nvPr/>
        </p:nvCxnSpPr>
        <p:spPr>
          <a:xfrm>
            <a:off x="754380" y="2311146"/>
            <a:ext cx="2345436" cy="0"/>
          </a:xfrm>
          <a:prstGeom prst="straightConnector1">
            <a:avLst/>
          </a:prstGeom>
          <a:noFill/>
          <a:ln cap="flat" cmpd="sng" w="9525">
            <a:solidFill>
              <a:srgbClr val="E4EB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2" name="Google Shape;432;p25"/>
          <p:cNvSpPr/>
          <p:nvPr/>
        </p:nvSpPr>
        <p:spPr>
          <a:xfrm>
            <a:off x="754380" y="2414016"/>
            <a:ext cx="97383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Device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3" name="Google Shape;433;p25"/>
          <p:cNvSpPr/>
          <p:nvPr/>
        </p:nvSpPr>
        <p:spPr>
          <a:xfrm>
            <a:off x="1755648" y="2414016"/>
            <a:ext cx="144018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Desktop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34" name="Google Shape;434;p25"/>
          <p:cNvCxnSpPr/>
          <p:nvPr/>
        </p:nvCxnSpPr>
        <p:spPr>
          <a:xfrm>
            <a:off x="754380" y="2619756"/>
            <a:ext cx="2345436" cy="0"/>
          </a:xfrm>
          <a:prstGeom prst="straightConnector1">
            <a:avLst/>
          </a:prstGeom>
          <a:noFill/>
          <a:ln cap="flat" cmpd="sng" w="9525">
            <a:solidFill>
              <a:srgbClr val="E4EB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5" name="Google Shape;435;p25"/>
          <p:cNvSpPr/>
          <p:nvPr/>
        </p:nvSpPr>
        <p:spPr>
          <a:xfrm>
            <a:off x="754380" y="2722626"/>
            <a:ext cx="97383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OS / Browser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6" name="Google Shape;436;p25"/>
          <p:cNvSpPr/>
          <p:nvPr/>
        </p:nvSpPr>
        <p:spPr>
          <a:xfrm>
            <a:off x="1755648" y="2722626"/>
            <a:ext cx="144018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Windows 10 / Chrome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37" name="Google Shape;437;p25"/>
          <p:cNvCxnSpPr/>
          <p:nvPr/>
        </p:nvCxnSpPr>
        <p:spPr>
          <a:xfrm>
            <a:off x="754380" y="2928366"/>
            <a:ext cx="2345436" cy="0"/>
          </a:xfrm>
          <a:prstGeom prst="straightConnector1">
            <a:avLst/>
          </a:prstGeom>
          <a:noFill/>
          <a:ln cap="flat" cmpd="sng" w="9525">
            <a:solidFill>
              <a:srgbClr val="E4EB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8" name="Google Shape;438;p25"/>
          <p:cNvSpPr/>
          <p:nvPr/>
        </p:nvSpPr>
        <p:spPr>
          <a:xfrm>
            <a:off x="754380" y="3031236"/>
            <a:ext cx="97383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Login time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9" name="Google Shape;439;p25"/>
          <p:cNvSpPr/>
          <p:nvPr/>
        </p:nvSpPr>
        <p:spPr>
          <a:xfrm>
            <a:off x="1755648" y="3031236"/>
            <a:ext cx="144018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2:15 AM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40" name="Google Shape;440;p25"/>
          <p:cNvCxnSpPr/>
          <p:nvPr/>
        </p:nvCxnSpPr>
        <p:spPr>
          <a:xfrm>
            <a:off x="754380" y="3236976"/>
            <a:ext cx="2345436" cy="0"/>
          </a:xfrm>
          <a:prstGeom prst="straightConnector1">
            <a:avLst/>
          </a:prstGeom>
          <a:noFill/>
          <a:ln cap="flat" cmpd="sng" w="9525">
            <a:solidFill>
              <a:srgbClr val="E4EB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25"/>
          <p:cNvSpPr/>
          <p:nvPr/>
        </p:nvSpPr>
        <p:spPr>
          <a:xfrm>
            <a:off x="754380" y="3339846"/>
            <a:ext cx="97383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RTT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2" name="Google Shape;442;p25"/>
          <p:cNvSpPr/>
          <p:nvPr/>
        </p:nvSpPr>
        <p:spPr>
          <a:xfrm>
            <a:off x="1755648" y="3339846"/>
            <a:ext cx="144018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650 ms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43" name="Google Shape;443;p25"/>
          <p:cNvCxnSpPr/>
          <p:nvPr/>
        </p:nvCxnSpPr>
        <p:spPr>
          <a:xfrm>
            <a:off x="754380" y="3545586"/>
            <a:ext cx="2345436" cy="0"/>
          </a:xfrm>
          <a:prstGeom prst="straightConnector1">
            <a:avLst/>
          </a:prstGeom>
          <a:noFill/>
          <a:ln cap="flat" cmpd="sng" w="9525">
            <a:solidFill>
              <a:srgbClr val="E4EB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4" name="Google Shape;444;p25"/>
          <p:cNvSpPr/>
          <p:nvPr/>
        </p:nvSpPr>
        <p:spPr>
          <a:xfrm>
            <a:off x="754380" y="3648456"/>
            <a:ext cx="97383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Login success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5" name="Google Shape;445;p25"/>
          <p:cNvSpPr/>
          <p:nvPr/>
        </p:nvSpPr>
        <p:spPr>
          <a:xfrm>
            <a:off x="1755648" y="3648456"/>
            <a:ext cx="144018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True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6" name="Google Shape;446;p25"/>
          <p:cNvSpPr/>
          <p:nvPr/>
        </p:nvSpPr>
        <p:spPr>
          <a:xfrm>
            <a:off x="3669030" y="2221992"/>
            <a:ext cx="562356" cy="809244"/>
          </a:xfrm>
          <a:prstGeom prst="chevron">
            <a:avLst>
              <a:gd fmla="val 50000" name="adj"/>
            </a:avLst>
          </a:prstGeom>
          <a:solidFill>
            <a:srgbClr val="D7E6EE"/>
          </a:solidFill>
          <a:ln cap="flat" cmpd="sng" w="12700">
            <a:solidFill>
              <a:srgbClr val="D7E6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5"/>
          <p:cNvSpPr/>
          <p:nvPr/>
        </p:nvSpPr>
        <p:spPr>
          <a:xfrm>
            <a:off x="4354830" y="1659636"/>
            <a:ext cx="1645920" cy="2002536"/>
          </a:xfrm>
          <a:prstGeom prst="roundRect">
            <a:avLst>
              <a:gd fmla="val 16667" name="adj"/>
            </a:avLst>
          </a:prstGeom>
          <a:solidFill>
            <a:srgbClr val="071B2A"/>
          </a:solidFill>
          <a:ln cap="flat" cmpd="sng" w="1015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25"/>
          <p:cNvSpPr/>
          <p:nvPr/>
        </p:nvSpPr>
        <p:spPr>
          <a:xfrm>
            <a:off x="4999482" y="1940814"/>
            <a:ext cx="370332" cy="370332"/>
          </a:xfrm>
          <a:prstGeom prst="ellipse">
            <a:avLst/>
          </a:prstGeom>
          <a:solidFill>
            <a:srgbClr val="14394C"/>
          </a:solidFill>
          <a:ln cap="flat" cmpd="sng" w="12700">
            <a:solidFill>
              <a:srgbClr val="1439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49" name="Google Shape;449;p25"/>
          <p:cNvCxnSpPr/>
          <p:nvPr/>
        </p:nvCxnSpPr>
        <p:spPr>
          <a:xfrm>
            <a:off x="5184648" y="2023110"/>
            <a:ext cx="0" cy="198882"/>
          </a:xfrm>
          <a:prstGeom prst="straightConnector1">
            <a:avLst/>
          </a:prstGeom>
          <a:noFill/>
          <a:ln cap="flat" cmpd="sng" w="1395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0" name="Google Shape;450;p25"/>
          <p:cNvCxnSpPr/>
          <p:nvPr/>
        </p:nvCxnSpPr>
        <p:spPr>
          <a:xfrm flipH="1" rot="10800000">
            <a:off x="5102352" y="2064258"/>
            <a:ext cx="82296" cy="48006"/>
          </a:xfrm>
          <a:prstGeom prst="straightConnector1">
            <a:avLst/>
          </a:prstGeom>
          <a:noFill/>
          <a:ln cap="flat" cmpd="sng" w="1395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1" name="Google Shape;451;p25"/>
          <p:cNvCxnSpPr/>
          <p:nvPr/>
        </p:nvCxnSpPr>
        <p:spPr>
          <a:xfrm flipH="1" rot="10800000">
            <a:off x="5184648" y="2064258"/>
            <a:ext cx="82296" cy="48006"/>
          </a:xfrm>
          <a:prstGeom prst="straightConnector1">
            <a:avLst/>
          </a:prstGeom>
          <a:noFill/>
          <a:ln cap="flat" cmpd="sng" w="1395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2" name="Google Shape;452;p25"/>
          <p:cNvSpPr/>
          <p:nvPr/>
        </p:nvSpPr>
        <p:spPr>
          <a:xfrm>
            <a:off x="5074920" y="2023110"/>
            <a:ext cx="68580" cy="68580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5"/>
          <p:cNvSpPr/>
          <p:nvPr/>
        </p:nvSpPr>
        <p:spPr>
          <a:xfrm>
            <a:off x="5232654" y="2023110"/>
            <a:ext cx="68580" cy="68580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25"/>
          <p:cNvSpPr/>
          <p:nvPr/>
        </p:nvSpPr>
        <p:spPr>
          <a:xfrm>
            <a:off x="5150358" y="2194560"/>
            <a:ext cx="68580" cy="68580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25"/>
          <p:cNvSpPr/>
          <p:nvPr/>
        </p:nvSpPr>
        <p:spPr>
          <a:xfrm>
            <a:off x="4608576" y="2482596"/>
            <a:ext cx="116586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Inter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Saved model</a:t>
            </a:r>
            <a:endParaRPr b="0"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56" name="Google Shape;456;p25"/>
          <p:cNvSpPr/>
          <p:nvPr/>
        </p:nvSpPr>
        <p:spPr>
          <a:xfrm>
            <a:off x="4539996" y="2811780"/>
            <a:ext cx="126873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DD4DF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BDD4DF"/>
                </a:solidFill>
                <a:latin typeface="Arial"/>
                <a:ea typeface="Arial"/>
                <a:cs typeface="Arial"/>
                <a:sym typeface="Arial"/>
              </a:rPr>
              <a:t>login_threat_model_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DD4DF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BDD4DF"/>
                </a:solidFill>
                <a:latin typeface="Arial"/>
                <a:ea typeface="Arial"/>
                <a:cs typeface="Arial"/>
                <a:sym typeface="Arial"/>
              </a:rPr>
              <a:t>balanced.joblib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57" name="Google Shape;457;p25"/>
          <p:cNvSpPr/>
          <p:nvPr/>
        </p:nvSpPr>
        <p:spPr>
          <a:xfrm>
            <a:off x="6124194" y="2221992"/>
            <a:ext cx="562356" cy="809244"/>
          </a:xfrm>
          <a:prstGeom prst="chevron">
            <a:avLst>
              <a:gd fmla="val 50000" name="adj"/>
            </a:avLst>
          </a:prstGeom>
          <a:solidFill>
            <a:srgbClr val="D7E6EE"/>
          </a:solidFill>
          <a:ln cap="flat" cmpd="sng" w="12700">
            <a:solidFill>
              <a:srgbClr val="D7E6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25"/>
          <p:cNvSpPr/>
          <p:nvPr/>
        </p:nvSpPr>
        <p:spPr>
          <a:xfrm>
            <a:off x="6823710" y="1357884"/>
            <a:ext cx="1769364" cy="973836"/>
          </a:xfrm>
          <a:prstGeom prst="roundRect">
            <a:avLst>
              <a:gd fmla="val 16667" name="adj"/>
            </a:avLst>
          </a:prstGeom>
          <a:solidFill>
            <a:srgbClr val="E5FAF4"/>
          </a:solidFill>
          <a:ln cap="flat" cmpd="sng" w="10150">
            <a:solidFill>
              <a:srgbClr val="E5FAF4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25"/>
          <p:cNvSpPr/>
          <p:nvPr/>
        </p:nvSpPr>
        <p:spPr>
          <a:xfrm>
            <a:off x="7015734" y="1563624"/>
            <a:ext cx="13716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Risk probability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0" name="Google Shape;460;p25"/>
          <p:cNvSpPr/>
          <p:nvPr/>
        </p:nvSpPr>
        <p:spPr>
          <a:xfrm>
            <a:off x="6995160" y="1844802"/>
            <a:ext cx="1426464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1400"/>
              <a:buFont typeface="Inter"/>
              <a:buNone/>
            </a:pPr>
            <a:r>
              <a:rPr b="1" i="0" lang="en" sz="14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0.00 – 1.00</a:t>
            </a:r>
            <a:endParaRPr b="0" i="0" sz="14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1" name="Google Shape;461;p25"/>
          <p:cNvSpPr/>
          <p:nvPr/>
        </p:nvSpPr>
        <p:spPr>
          <a:xfrm>
            <a:off x="6823710" y="2571750"/>
            <a:ext cx="1769364" cy="973836"/>
          </a:xfrm>
          <a:prstGeom prst="roundRect">
            <a:avLst>
              <a:gd fmla="val 16667" name="adj"/>
            </a:avLst>
          </a:prstGeom>
          <a:solidFill>
            <a:srgbClr val="FFF0F0"/>
          </a:solidFill>
          <a:ln cap="flat" cmpd="sng" w="10150">
            <a:solidFill>
              <a:srgbClr val="FFF0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25"/>
          <p:cNvSpPr/>
          <p:nvPr/>
        </p:nvSpPr>
        <p:spPr>
          <a:xfrm>
            <a:off x="7015734" y="2770632"/>
            <a:ext cx="13716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Final label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3" name="Google Shape;463;p25"/>
          <p:cNvSpPr/>
          <p:nvPr/>
        </p:nvSpPr>
        <p:spPr>
          <a:xfrm>
            <a:off x="6926580" y="3044952"/>
            <a:ext cx="1563624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6B"/>
              </a:buClr>
              <a:buSzPts val="1100"/>
              <a:buFont typeface="Inter"/>
              <a:buNone/>
            </a:pPr>
            <a:r>
              <a:rPr b="1" i="0" lang="en" sz="1100" u="none" cap="none" strike="noStrike">
                <a:solidFill>
                  <a:srgbClr val="FF6B6B"/>
                </a:solidFill>
                <a:latin typeface="Inter"/>
                <a:ea typeface="Inter"/>
                <a:cs typeface="Inter"/>
                <a:sym typeface="Inter"/>
              </a:rPr>
              <a:t>Normal or Suspicious</a:t>
            </a:r>
            <a:endParaRPr b="0" i="0" sz="1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4" name="Google Shape;464;p25"/>
          <p:cNvSpPr/>
          <p:nvPr/>
        </p:nvSpPr>
        <p:spPr>
          <a:xfrm>
            <a:off x="4135374" y="3998214"/>
            <a:ext cx="101498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Run the demo with: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5" name="Google Shape;465;p25"/>
          <p:cNvSpPr/>
          <p:nvPr/>
        </p:nvSpPr>
        <p:spPr>
          <a:xfrm>
            <a:off x="5150358" y="3909060"/>
            <a:ext cx="2948940" cy="356616"/>
          </a:xfrm>
          <a:prstGeom prst="roundRect">
            <a:avLst>
              <a:gd fmla="val 16667" name="adj"/>
            </a:avLst>
          </a:prstGeom>
          <a:solidFill>
            <a:srgbClr val="071B2A"/>
          </a:solidFill>
          <a:ln cap="flat" cmpd="sng" w="1270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25"/>
          <p:cNvSpPr/>
          <p:nvPr/>
        </p:nvSpPr>
        <p:spPr>
          <a:xfrm>
            <a:off x="5294376" y="4025646"/>
            <a:ext cx="266090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python src/predict_one_balanced.py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7" name="Google Shape;467;p25"/>
          <p:cNvSpPr txBox="1"/>
          <p:nvPr>
            <p:ph idx="4294967295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600" u="none" cap="none" strike="noStrike">
              <a:solidFill>
                <a:srgbClr val="7C8B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6"/>
          <p:cNvSpPr/>
          <p:nvPr/>
        </p:nvSpPr>
        <p:spPr>
          <a:xfrm>
            <a:off x="445770" y="425196"/>
            <a:ext cx="665226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Limitations and next steps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4" name="Google Shape;474;p26"/>
          <p:cNvSpPr/>
          <p:nvPr/>
        </p:nvSpPr>
        <p:spPr>
          <a:xfrm>
            <a:off x="459486" y="809244"/>
            <a:ext cx="747522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900"/>
              <a:buFont typeface="Inter"/>
              <a:buNone/>
            </a:pPr>
            <a:r>
              <a:rPr b="0" i="0" lang="en" sz="9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The model is a strong prototype, but it is not yet a production security system.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5" name="Google Shape;475;p26"/>
          <p:cNvSpPr/>
          <p:nvPr/>
        </p:nvSpPr>
        <p:spPr>
          <a:xfrm>
            <a:off x="514350" y="1220724"/>
            <a:ext cx="4011930" cy="3236976"/>
          </a:xfrm>
          <a:prstGeom prst="roundRect">
            <a:avLst>
              <a:gd fmla="val 2542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26"/>
          <p:cNvSpPr/>
          <p:nvPr/>
        </p:nvSpPr>
        <p:spPr>
          <a:xfrm>
            <a:off x="740664" y="1412748"/>
            <a:ext cx="1179576" cy="233172"/>
          </a:xfrm>
          <a:prstGeom prst="roundRect">
            <a:avLst>
              <a:gd fmla="val 16667" name="adj"/>
            </a:avLst>
          </a:prstGeom>
          <a:solidFill>
            <a:srgbClr val="FFF0F0"/>
          </a:solidFill>
          <a:ln cap="flat" cmpd="sng" w="12700">
            <a:solidFill>
              <a:srgbClr val="FFF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26"/>
          <p:cNvSpPr/>
          <p:nvPr/>
        </p:nvSpPr>
        <p:spPr>
          <a:xfrm>
            <a:off x="795528" y="1447038"/>
            <a:ext cx="1069848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6B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FF6B6B"/>
                </a:solidFill>
                <a:latin typeface="Inter"/>
                <a:ea typeface="Inter"/>
                <a:cs typeface="Inter"/>
                <a:sym typeface="Inter"/>
              </a:rPr>
              <a:t>CURRENT LIMITATIONS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8" name="Google Shape;478;p26"/>
          <p:cNvSpPr/>
          <p:nvPr/>
        </p:nvSpPr>
        <p:spPr>
          <a:xfrm>
            <a:off x="740664" y="1899666"/>
            <a:ext cx="137160" cy="137160"/>
          </a:xfrm>
          <a:prstGeom prst="ellipse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26"/>
          <p:cNvSpPr/>
          <p:nvPr/>
        </p:nvSpPr>
        <p:spPr>
          <a:xfrm>
            <a:off x="980694" y="1879092"/>
            <a:ext cx="1234440" cy="15773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Synthesized data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0" name="Google Shape;480;p26"/>
          <p:cNvSpPr/>
          <p:nvPr/>
        </p:nvSpPr>
        <p:spPr>
          <a:xfrm>
            <a:off x="2194560" y="1879092"/>
            <a:ext cx="2002536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Patterns reflect real behavior, but feature values are artificial.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1" name="Google Shape;481;p26"/>
          <p:cNvSpPr/>
          <p:nvPr/>
        </p:nvSpPr>
        <p:spPr>
          <a:xfrm>
            <a:off x="740664" y="2462022"/>
            <a:ext cx="137160" cy="137160"/>
          </a:xfrm>
          <a:prstGeom prst="ellipse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26"/>
          <p:cNvSpPr/>
          <p:nvPr/>
        </p:nvSpPr>
        <p:spPr>
          <a:xfrm>
            <a:off x="980694" y="2441448"/>
            <a:ext cx="1234440" cy="15773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Balanced evaluation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3" name="Google Shape;483;p26"/>
          <p:cNvSpPr/>
          <p:nvPr/>
        </p:nvSpPr>
        <p:spPr>
          <a:xfrm>
            <a:off x="2194560" y="2441448"/>
            <a:ext cx="2002536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The test distribution is more attack-heavy than real traffic.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4" name="Google Shape;484;p26"/>
          <p:cNvSpPr/>
          <p:nvPr/>
        </p:nvSpPr>
        <p:spPr>
          <a:xfrm>
            <a:off x="740664" y="3024378"/>
            <a:ext cx="137160" cy="137160"/>
          </a:xfrm>
          <a:prstGeom prst="ellipse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26"/>
          <p:cNvSpPr/>
          <p:nvPr/>
        </p:nvSpPr>
        <p:spPr>
          <a:xfrm>
            <a:off x="980694" y="3003804"/>
            <a:ext cx="1234440" cy="15773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False positives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6" name="Google Shape;486;p26"/>
          <p:cNvSpPr/>
          <p:nvPr/>
        </p:nvSpPr>
        <p:spPr>
          <a:xfrm>
            <a:off x="2194560" y="3003804"/>
            <a:ext cx="2002536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About 45.8% of flagged logins were not attack-IP examples.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7" name="Google Shape;487;p26"/>
          <p:cNvSpPr/>
          <p:nvPr/>
        </p:nvSpPr>
        <p:spPr>
          <a:xfrm>
            <a:off x="740664" y="3586734"/>
            <a:ext cx="137160" cy="137160"/>
          </a:xfrm>
          <a:prstGeom prst="ellipse">
            <a:avLst/>
          </a:prstGeom>
          <a:solidFill>
            <a:srgbClr val="FF6B6B"/>
          </a:solidFill>
          <a:ln cap="flat" cmpd="sng" w="12700">
            <a:solidFill>
              <a:srgbClr val="FF6B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26"/>
          <p:cNvSpPr/>
          <p:nvPr/>
        </p:nvSpPr>
        <p:spPr>
          <a:xfrm>
            <a:off x="980694" y="3566160"/>
            <a:ext cx="1234440" cy="15773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Target meaning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9" name="Google Shape;489;p26"/>
          <p:cNvSpPr/>
          <p:nvPr/>
        </p:nvSpPr>
        <p:spPr>
          <a:xfrm>
            <a:off x="2194560" y="3566160"/>
            <a:ext cx="2002536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“Attack IP” is a proxy for suspicious activity, not confirmed takeover.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0" name="Google Shape;490;p26"/>
          <p:cNvSpPr/>
          <p:nvPr/>
        </p:nvSpPr>
        <p:spPr>
          <a:xfrm>
            <a:off x="4704588" y="1220724"/>
            <a:ext cx="3922776" cy="3236976"/>
          </a:xfrm>
          <a:prstGeom prst="roundRect">
            <a:avLst>
              <a:gd fmla="val 16667" name="adj"/>
            </a:avLst>
          </a:prstGeom>
          <a:solidFill>
            <a:srgbClr val="071B2A"/>
          </a:solidFill>
          <a:ln cap="flat" cmpd="sng" w="1015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26"/>
          <p:cNvSpPr/>
          <p:nvPr/>
        </p:nvSpPr>
        <p:spPr>
          <a:xfrm>
            <a:off x="4924044" y="1412748"/>
            <a:ext cx="809244" cy="233172"/>
          </a:xfrm>
          <a:prstGeom prst="roundRect">
            <a:avLst>
              <a:gd fmla="val 16667" name="adj"/>
            </a:avLst>
          </a:prstGeom>
          <a:solidFill>
            <a:srgbClr val="14394C"/>
          </a:solidFill>
          <a:ln cap="flat" cmpd="sng" w="12700">
            <a:solidFill>
              <a:srgbClr val="1439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26"/>
          <p:cNvSpPr/>
          <p:nvPr/>
        </p:nvSpPr>
        <p:spPr>
          <a:xfrm>
            <a:off x="4978908" y="1447038"/>
            <a:ext cx="699516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600"/>
              <a:buFont typeface="Inter"/>
              <a:buNone/>
            </a:pPr>
            <a:r>
              <a:rPr b="1" i="0" lang="en" sz="6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NEXT STEPS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3" name="Google Shape;493;p26"/>
          <p:cNvSpPr/>
          <p:nvPr/>
        </p:nvSpPr>
        <p:spPr>
          <a:xfrm>
            <a:off x="4924044" y="1872234"/>
            <a:ext cx="123444" cy="123444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26"/>
          <p:cNvSpPr/>
          <p:nvPr/>
        </p:nvSpPr>
        <p:spPr>
          <a:xfrm>
            <a:off x="5157216" y="1851660"/>
            <a:ext cx="161163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Test on natural class distribution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5" name="Google Shape;495;p26"/>
          <p:cNvSpPr/>
          <p:nvPr/>
        </p:nvSpPr>
        <p:spPr>
          <a:xfrm>
            <a:off x="6693408" y="1851660"/>
            <a:ext cx="161163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DD3DE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BDD3DE"/>
                </a:solidFill>
                <a:latin typeface="Inter"/>
                <a:ea typeface="Inter"/>
                <a:cs typeface="Inter"/>
                <a:sym typeface="Inter"/>
              </a:rPr>
              <a:t>Measure real false-alarm rates on untouched data.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6" name="Google Shape;496;p26"/>
          <p:cNvSpPr/>
          <p:nvPr/>
        </p:nvSpPr>
        <p:spPr>
          <a:xfrm>
            <a:off x="4924044" y="2324862"/>
            <a:ext cx="123444" cy="123444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26"/>
          <p:cNvSpPr/>
          <p:nvPr/>
        </p:nvSpPr>
        <p:spPr>
          <a:xfrm>
            <a:off x="5157216" y="2304288"/>
            <a:ext cx="161163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Use time-based splitting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8" name="Google Shape;498;p26"/>
          <p:cNvSpPr/>
          <p:nvPr/>
        </p:nvSpPr>
        <p:spPr>
          <a:xfrm>
            <a:off x="6693408" y="2304288"/>
            <a:ext cx="161163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DD3DE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BDD3DE"/>
                </a:solidFill>
                <a:latin typeface="Inter"/>
                <a:ea typeface="Inter"/>
                <a:cs typeface="Inter"/>
                <a:sym typeface="Inter"/>
              </a:rPr>
              <a:t>Train on earlier logins and test on later ones.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9" name="Google Shape;499;p26"/>
          <p:cNvSpPr/>
          <p:nvPr/>
        </p:nvSpPr>
        <p:spPr>
          <a:xfrm>
            <a:off x="4924044" y="2777490"/>
            <a:ext cx="123444" cy="123444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26"/>
          <p:cNvSpPr/>
          <p:nvPr/>
        </p:nvSpPr>
        <p:spPr>
          <a:xfrm>
            <a:off x="5157216" y="2756916"/>
            <a:ext cx="161163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Compare more models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1" name="Google Shape;501;p26"/>
          <p:cNvSpPr/>
          <p:nvPr/>
        </p:nvSpPr>
        <p:spPr>
          <a:xfrm>
            <a:off x="6693408" y="2756916"/>
            <a:ext cx="161163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DD3DE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BDD3DE"/>
                </a:solidFill>
                <a:latin typeface="Inter"/>
                <a:ea typeface="Inter"/>
                <a:cs typeface="Inter"/>
                <a:sym typeface="Inter"/>
              </a:rPr>
              <a:t>Try gradient boosting, XGBoost, and anomaly detection.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2" name="Google Shape;502;p26"/>
          <p:cNvSpPr/>
          <p:nvPr/>
        </p:nvSpPr>
        <p:spPr>
          <a:xfrm>
            <a:off x="4924044" y="3230118"/>
            <a:ext cx="123444" cy="123444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26"/>
          <p:cNvSpPr/>
          <p:nvPr/>
        </p:nvSpPr>
        <p:spPr>
          <a:xfrm>
            <a:off x="5157216" y="3209544"/>
            <a:ext cx="161163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Add explainability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4" name="Google Shape;504;p26"/>
          <p:cNvSpPr/>
          <p:nvPr/>
        </p:nvSpPr>
        <p:spPr>
          <a:xfrm>
            <a:off x="6693408" y="3209544"/>
            <a:ext cx="161163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DD3DE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BDD3DE"/>
                </a:solidFill>
                <a:latin typeface="Inter"/>
                <a:ea typeface="Inter"/>
                <a:cs typeface="Inter"/>
                <a:sym typeface="Inter"/>
              </a:rPr>
              <a:t>Show feature importance or SHAP explanations.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5" name="Google Shape;505;p26"/>
          <p:cNvSpPr/>
          <p:nvPr/>
        </p:nvSpPr>
        <p:spPr>
          <a:xfrm>
            <a:off x="4924044" y="3682746"/>
            <a:ext cx="123444" cy="123444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26"/>
          <p:cNvSpPr/>
          <p:nvPr/>
        </p:nvSpPr>
        <p:spPr>
          <a:xfrm>
            <a:off x="5157216" y="3662172"/>
            <a:ext cx="161163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Build a simple dashboard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26"/>
          <p:cNvSpPr/>
          <p:nvPr/>
        </p:nvSpPr>
        <p:spPr>
          <a:xfrm>
            <a:off x="6693408" y="3662172"/>
            <a:ext cx="161163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DD3DE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BDD3DE"/>
                </a:solidFill>
                <a:latin typeface="Inter"/>
                <a:ea typeface="Inter"/>
                <a:cs typeface="Inter"/>
                <a:sym typeface="Inter"/>
              </a:rPr>
              <a:t>Allow users to enter login details and view risk scores.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26"/>
          <p:cNvSpPr/>
          <p:nvPr/>
        </p:nvSpPr>
        <p:spPr>
          <a:xfrm>
            <a:off x="493776" y="4656582"/>
            <a:ext cx="809244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595A3"/>
              </a:buClr>
              <a:buSzPts val="500"/>
              <a:buFont typeface="Inter"/>
              <a:buNone/>
            </a:pPr>
            <a:r>
              <a:rPr b="0" i="1" lang="en" sz="500" u="none" cap="none" strike="noStrike">
                <a:solidFill>
                  <a:srgbClr val="8595A3"/>
                </a:solidFill>
                <a:latin typeface="Inter"/>
                <a:ea typeface="Inter"/>
                <a:cs typeface="Inter"/>
                <a:sym typeface="Inter"/>
              </a:rPr>
              <a:t>Dataset warning and synthesis details: Zenodo DOI 10.5281/zenodo.6782156.</a:t>
            </a:r>
            <a:endParaRPr b="0" i="0" sz="5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9" name="Google Shape;509;p26"/>
          <p:cNvSpPr txBox="1"/>
          <p:nvPr>
            <p:ph idx="4294967295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600" u="none" cap="none" strike="noStrike">
              <a:solidFill>
                <a:srgbClr val="7C8B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27"/>
          <p:cNvSpPr/>
          <p:nvPr/>
        </p:nvSpPr>
        <p:spPr>
          <a:xfrm>
            <a:off x="445770" y="425196"/>
            <a:ext cx="6652260" cy="3977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2100"/>
              <a:buFont typeface="Inter"/>
              <a:buNone/>
            </a:pPr>
            <a:r>
              <a:rPr b="1" i="0" lang="en" sz="21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Conclusion</a:t>
            </a:r>
            <a:endParaRPr b="0" i="0" sz="21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6" name="Google Shape;516;p27"/>
          <p:cNvSpPr/>
          <p:nvPr/>
        </p:nvSpPr>
        <p:spPr>
          <a:xfrm>
            <a:off x="459486" y="809244"/>
            <a:ext cx="747522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F90"/>
              </a:buClr>
              <a:buSzPts val="900"/>
              <a:buFont typeface="Inter"/>
              <a:buNone/>
            </a:pPr>
            <a:r>
              <a:rPr b="0" i="0" lang="en" sz="900" u="none" cap="none" strike="noStrike">
                <a:solidFill>
                  <a:srgbClr val="6B7F90"/>
                </a:solidFill>
                <a:latin typeface="Inter"/>
                <a:ea typeface="Inter"/>
                <a:cs typeface="Inter"/>
                <a:sym typeface="Inter"/>
              </a:rPr>
              <a:t>A complete end-to-end machine learning prototype for suspicious login detection.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7" name="Google Shape;517;p27"/>
          <p:cNvSpPr/>
          <p:nvPr/>
        </p:nvSpPr>
        <p:spPr>
          <a:xfrm>
            <a:off x="534924" y="1179576"/>
            <a:ext cx="4855464" cy="3278124"/>
          </a:xfrm>
          <a:prstGeom prst="roundRect">
            <a:avLst>
              <a:gd fmla="val 16667" name="adj"/>
            </a:avLst>
          </a:prstGeom>
          <a:solidFill>
            <a:srgbClr val="071B2A"/>
          </a:solidFill>
          <a:ln cap="flat" cmpd="sng" w="10150">
            <a:solidFill>
              <a:srgbClr val="071B2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8" name="Google Shape;518;p27"/>
          <p:cNvSpPr/>
          <p:nvPr/>
        </p:nvSpPr>
        <p:spPr>
          <a:xfrm>
            <a:off x="809244" y="1419606"/>
            <a:ext cx="109728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KEY TAKEAWAY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9" name="Google Shape;519;p27"/>
          <p:cNvSpPr/>
          <p:nvPr/>
        </p:nvSpPr>
        <p:spPr>
          <a:xfrm>
            <a:off x="809244" y="1700784"/>
            <a:ext cx="4183380" cy="781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Inter"/>
              <a:buNone/>
            </a:pPr>
            <a:r>
              <a:rPr b="1" i="0" lang="en" sz="17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model successfully detects most attack-IP logins by combining contextual login signals.</a:t>
            </a:r>
            <a:endParaRPr b="0" i="0" sz="1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0" name="Google Shape;520;p27"/>
          <p:cNvSpPr/>
          <p:nvPr/>
        </p:nvSpPr>
        <p:spPr>
          <a:xfrm>
            <a:off x="822960" y="2770632"/>
            <a:ext cx="137160" cy="137160"/>
          </a:xfrm>
          <a:prstGeom prst="ellipse">
            <a:avLst/>
          </a:prstGeom>
          <a:solidFill>
            <a:srgbClr val="22D3A6"/>
          </a:solidFill>
          <a:ln cap="flat" cmpd="sng" w="12700">
            <a:solidFill>
              <a:srgbClr val="22D3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27"/>
          <p:cNvSpPr/>
          <p:nvPr/>
        </p:nvSpPr>
        <p:spPr>
          <a:xfrm>
            <a:off x="1062990" y="2756916"/>
            <a:ext cx="133731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87.33% recall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2" name="Google Shape;522;p27"/>
          <p:cNvSpPr/>
          <p:nvPr/>
        </p:nvSpPr>
        <p:spPr>
          <a:xfrm>
            <a:off x="2366010" y="2756916"/>
            <a:ext cx="253746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CD3DF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BCD3DF"/>
                </a:solidFill>
                <a:latin typeface="Inter"/>
                <a:ea typeface="Inter"/>
                <a:cs typeface="Inter"/>
                <a:sym typeface="Inter"/>
              </a:rPr>
              <a:t>Most suspicious examples were detected.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3" name="Google Shape;523;p27"/>
          <p:cNvSpPr/>
          <p:nvPr/>
        </p:nvSpPr>
        <p:spPr>
          <a:xfrm>
            <a:off x="822960" y="3195828"/>
            <a:ext cx="137160" cy="137160"/>
          </a:xfrm>
          <a:prstGeom prst="ellipse">
            <a:avLst/>
          </a:prstGeom>
          <a:solidFill>
            <a:srgbClr val="4CC9F0"/>
          </a:solidFill>
          <a:ln cap="flat" cmpd="sng" w="12700">
            <a:solidFill>
              <a:srgbClr val="4CC9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27"/>
          <p:cNvSpPr/>
          <p:nvPr/>
        </p:nvSpPr>
        <p:spPr>
          <a:xfrm>
            <a:off x="1062990" y="3182112"/>
            <a:ext cx="133731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Full Python pipeline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5" name="Google Shape;525;p27"/>
          <p:cNvSpPr/>
          <p:nvPr/>
        </p:nvSpPr>
        <p:spPr>
          <a:xfrm>
            <a:off x="2366010" y="3182112"/>
            <a:ext cx="253746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CD3DF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BCD3DF"/>
                </a:solidFill>
                <a:latin typeface="Inter"/>
                <a:ea typeface="Inter"/>
                <a:cs typeface="Inter"/>
                <a:sym typeface="Inter"/>
              </a:rPr>
              <a:t>Download, preprocess, balance, train, evaluate, and predict.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6" name="Google Shape;526;p2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FFB347"/>
          </a:solidFill>
          <a:ln cap="flat" cmpd="sng" w="12700">
            <a:solidFill>
              <a:srgbClr val="FFB3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27"/>
          <p:cNvSpPr/>
          <p:nvPr/>
        </p:nvSpPr>
        <p:spPr>
          <a:xfrm>
            <a:off x="1062990" y="3607308"/>
            <a:ext cx="133731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Honest limitations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8" name="Google Shape;528;p27"/>
          <p:cNvSpPr/>
          <p:nvPr/>
        </p:nvSpPr>
        <p:spPr>
          <a:xfrm>
            <a:off x="2366010" y="3607308"/>
            <a:ext cx="253746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CD3DF"/>
              </a:buClr>
              <a:buSzPts val="700"/>
              <a:buFont typeface="Inter"/>
              <a:buNone/>
            </a:pPr>
            <a:r>
              <a:rPr b="0" i="0" lang="en" sz="700" u="none" cap="none" strike="noStrike">
                <a:solidFill>
                  <a:srgbClr val="BCD3DF"/>
                </a:solidFill>
                <a:latin typeface="Inter"/>
                <a:ea typeface="Inter"/>
                <a:cs typeface="Inter"/>
                <a:sym typeface="Inter"/>
              </a:rPr>
              <a:t>Results are useful, but not production-ready.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9" name="Google Shape;529;p27"/>
          <p:cNvSpPr/>
          <p:nvPr/>
        </p:nvSpPr>
        <p:spPr>
          <a:xfrm>
            <a:off x="5623560" y="1179576"/>
            <a:ext cx="2983230" cy="3278124"/>
          </a:xfrm>
          <a:prstGeom prst="roundRect">
            <a:avLst>
              <a:gd fmla="val 2759" name="adj"/>
            </a:avLst>
          </a:prstGeom>
          <a:solidFill>
            <a:srgbClr val="FFFFFF"/>
          </a:solidFill>
          <a:ln cap="flat" cmpd="sng" w="10150">
            <a:solidFill>
              <a:srgbClr val="DCE6E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50800">
              <a:srgbClr val="AAB8C4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27"/>
          <p:cNvSpPr/>
          <p:nvPr/>
        </p:nvSpPr>
        <p:spPr>
          <a:xfrm>
            <a:off x="5863590" y="1412748"/>
            <a:ext cx="123444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1400"/>
              <a:buFont typeface="Inter"/>
              <a:buNone/>
            </a:pPr>
            <a:r>
              <a:rPr b="1" i="0" lang="en" sz="14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Sources</a:t>
            </a:r>
            <a:endParaRPr b="0" i="0" sz="14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1" name="Google Shape;531;p27"/>
          <p:cNvSpPr/>
          <p:nvPr/>
        </p:nvSpPr>
        <p:spPr>
          <a:xfrm>
            <a:off x="5863590" y="1906524"/>
            <a:ext cx="1920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2" name="Google Shape;532;p27"/>
          <p:cNvSpPr/>
          <p:nvPr/>
        </p:nvSpPr>
        <p:spPr>
          <a:xfrm>
            <a:off x="6144768" y="1906524"/>
            <a:ext cx="97383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RBA Dataset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3" name="Google Shape;533;p27"/>
          <p:cNvSpPr/>
          <p:nvPr/>
        </p:nvSpPr>
        <p:spPr>
          <a:xfrm>
            <a:off x="6995160" y="1820906"/>
            <a:ext cx="1330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Zenodo DOI 10.5281/zenodo.6782156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4" name="Google Shape;534;p27"/>
          <p:cNvSpPr/>
          <p:nvPr/>
        </p:nvSpPr>
        <p:spPr>
          <a:xfrm>
            <a:off x="5863590" y="2434590"/>
            <a:ext cx="1920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5" name="Google Shape;535;p27"/>
          <p:cNvSpPr/>
          <p:nvPr/>
        </p:nvSpPr>
        <p:spPr>
          <a:xfrm>
            <a:off x="6144768" y="2434590"/>
            <a:ext cx="97383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Dataset paper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6" name="Google Shape;536;p27"/>
          <p:cNvSpPr/>
          <p:nvPr/>
        </p:nvSpPr>
        <p:spPr>
          <a:xfrm>
            <a:off x="6995160" y="2348972"/>
            <a:ext cx="1330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Wiefling et al., ACM TOPS (2022), DOI 10.1145/3546069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7" name="Google Shape;537;p27"/>
          <p:cNvSpPr/>
          <p:nvPr/>
        </p:nvSpPr>
        <p:spPr>
          <a:xfrm>
            <a:off x="5863590" y="2962656"/>
            <a:ext cx="1920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8" name="Google Shape;538;p27"/>
          <p:cNvSpPr/>
          <p:nvPr/>
        </p:nvSpPr>
        <p:spPr>
          <a:xfrm>
            <a:off x="6144768" y="2962656"/>
            <a:ext cx="97383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9" name="Google Shape;539;p27"/>
          <p:cNvSpPr/>
          <p:nvPr/>
        </p:nvSpPr>
        <p:spPr>
          <a:xfrm>
            <a:off x="6995160" y="2877038"/>
            <a:ext cx="1330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scikit-learn RandomForestClassifier documentation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0" name="Google Shape;540;p27"/>
          <p:cNvSpPr/>
          <p:nvPr/>
        </p:nvSpPr>
        <p:spPr>
          <a:xfrm>
            <a:off x="5863590" y="3490722"/>
            <a:ext cx="1920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700"/>
              <a:buFont typeface="Inter"/>
              <a:buNone/>
            </a:pPr>
            <a:r>
              <a:rPr b="1" i="0" lang="en" sz="7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0" i="0" sz="7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1" name="Google Shape;541;p27"/>
          <p:cNvSpPr/>
          <p:nvPr/>
        </p:nvSpPr>
        <p:spPr>
          <a:xfrm>
            <a:off x="6144768" y="3490722"/>
            <a:ext cx="973836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637"/>
              </a:buClr>
              <a:buSzPts val="800"/>
              <a:buFont typeface="Inter"/>
              <a:buNone/>
            </a:pPr>
            <a:r>
              <a:rPr b="1" i="0" lang="en" sz="800" u="none" cap="none" strike="noStrike">
                <a:solidFill>
                  <a:srgbClr val="122637"/>
                </a:solidFill>
                <a:latin typeface="Inter"/>
                <a:ea typeface="Inter"/>
                <a:cs typeface="Inter"/>
                <a:sym typeface="Inter"/>
              </a:rPr>
              <a:t>Metrics</a:t>
            </a:r>
            <a:endParaRPr b="0" i="0" sz="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2" name="Google Shape;542;p27"/>
          <p:cNvSpPr/>
          <p:nvPr/>
        </p:nvSpPr>
        <p:spPr>
          <a:xfrm>
            <a:off x="6995160" y="3405104"/>
            <a:ext cx="1330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475A"/>
              </a:buClr>
              <a:buSzPts val="600"/>
              <a:buFont typeface="Inter"/>
              <a:buNone/>
            </a:pPr>
            <a:r>
              <a:rPr b="0" i="0" lang="en" sz="600" u="none" cap="none" strike="noStrike">
                <a:solidFill>
                  <a:srgbClr val="31475A"/>
                </a:solidFill>
                <a:latin typeface="Inter"/>
                <a:ea typeface="Inter"/>
                <a:cs typeface="Inter"/>
                <a:sym typeface="Inter"/>
              </a:rPr>
              <a:t>scikit-learn precision, recall, F1, and PR-curve documentation</a:t>
            </a:r>
            <a:endParaRPr b="0" i="0" sz="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3" name="Google Shape;543;p27"/>
          <p:cNvSpPr/>
          <p:nvPr/>
        </p:nvSpPr>
        <p:spPr>
          <a:xfrm>
            <a:off x="5863590" y="4046220"/>
            <a:ext cx="2468880" cy="274320"/>
          </a:xfrm>
          <a:prstGeom prst="roundRect">
            <a:avLst>
              <a:gd fmla="val 16667" name="adj"/>
            </a:avLst>
          </a:prstGeom>
          <a:solidFill>
            <a:srgbClr val="E5FAF4"/>
          </a:solidFill>
          <a:ln cap="flat" cmpd="sng" w="12700">
            <a:solidFill>
              <a:srgbClr val="E5FA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27"/>
          <p:cNvSpPr/>
          <p:nvPr/>
        </p:nvSpPr>
        <p:spPr>
          <a:xfrm>
            <a:off x="6062472" y="4121658"/>
            <a:ext cx="2071116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2D3A6"/>
              </a:buClr>
              <a:buSzPts val="900"/>
              <a:buFont typeface="Inter"/>
              <a:buNone/>
            </a:pPr>
            <a:r>
              <a:rPr b="1" i="0" lang="en" sz="900" u="none" cap="none" strike="noStrike">
                <a:solidFill>
                  <a:srgbClr val="22D3A6"/>
                </a:solidFill>
                <a:latin typeface="Inter"/>
                <a:ea typeface="Inter"/>
                <a:cs typeface="Inter"/>
                <a:sym typeface="Inter"/>
              </a:rPr>
              <a:t>Questions?</a:t>
            </a:r>
            <a:endParaRPr b="0" i="0" sz="9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5" name="Google Shape;545;p27"/>
          <p:cNvSpPr txBox="1"/>
          <p:nvPr>
            <p:ph idx="4294967295" type="sldNum"/>
          </p:nvPr>
        </p:nvSpPr>
        <p:spPr>
          <a:xfrm>
            <a:off x="8695944" y="4882896"/>
            <a:ext cx="171450" cy="123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7C8B99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600" u="none" cap="none" strike="noStrike">
              <a:solidFill>
                <a:srgbClr val="7C8B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