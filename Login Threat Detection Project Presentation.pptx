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8138159" y="640079"/>
            <a:ext cx="3566162" cy="3566162"/>
          </a:xfrm>
          <a:prstGeom prst="ellipse">
            <a:avLst/>
          </a:prstGeom>
          <a:solidFill>
            <a:srgbClr val="13293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" name="Shape 1"/>
          <p:cNvSpPr/>
          <p:nvPr/>
        </p:nvSpPr>
        <p:spPr>
          <a:xfrm>
            <a:off x="8549640" y="1051560"/>
            <a:ext cx="2743201" cy="2743201"/>
          </a:xfrm>
          <a:prstGeom prst="ellipse">
            <a:avLst/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Text 2"/>
          <p:cNvSpPr txBox="1"/>
          <p:nvPr/>
        </p:nvSpPr>
        <p:spPr>
          <a:xfrm>
            <a:off x="8595359" y="1628140"/>
            <a:ext cx="2651761" cy="159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0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🔒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94359" y="1432559"/>
            <a:ext cx="67665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594359" y="2230119"/>
            <a:ext cx="685800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Detecting Suspicious Logins</a:t>
            </a:r>
          </a:p>
          <a:p>
            <a:pPr>
              <a:defRPr sz="2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with Machine Learning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94359" y="3271520"/>
            <a:ext cx="685800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Python-based cybersecurity classification project using the Risk-Based Authentication dataset</a:t>
            </a:r>
          </a:p>
        </p:txBody>
      </p:sp>
      <p:sp>
        <p:nvSpPr>
          <p:cNvPr id="26" name="Shape 6"/>
          <p:cNvSpPr/>
          <p:nvPr/>
        </p:nvSpPr>
        <p:spPr>
          <a:xfrm>
            <a:off x="548640" y="3886200"/>
            <a:ext cx="777241" cy="347473"/>
          </a:xfrm>
          <a:prstGeom prst="roundRect">
            <a:avLst>
              <a:gd name="adj" fmla="val 21053"/>
            </a:avLst>
          </a:prstGeom>
          <a:solidFill>
            <a:srgbClr val="16324A"/>
          </a:solidFill>
          <a:ln w="12700">
            <a:solidFill>
              <a:srgbClr val="24425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Text 7"/>
          <p:cNvSpPr txBox="1"/>
          <p:nvPr/>
        </p:nvSpPr>
        <p:spPr>
          <a:xfrm>
            <a:off x="594359" y="3938015"/>
            <a:ext cx="68580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PYTHON</a:t>
            </a:r>
          </a:p>
        </p:txBody>
      </p:sp>
      <p:sp>
        <p:nvSpPr>
          <p:cNvPr id="28" name="Shape 8"/>
          <p:cNvSpPr/>
          <p:nvPr/>
        </p:nvSpPr>
        <p:spPr>
          <a:xfrm>
            <a:off x="1463039" y="3886200"/>
            <a:ext cx="1385317" cy="347473"/>
          </a:xfrm>
          <a:prstGeom prst="roundRect">
            <a:avLst>
              <a:gd name="adj" fmla="val 21053"/>
            </a:avLst>
          </a:prstGeom>
          <a:solidFill>
            <a:srgbClr val="16324A"/>
          </a:solidFill>
          <a:ln w="12700">
            <a:solidFill>
              <a:srgbClr val="24425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Text 9"/>
          <p:cNvSpPr txBox="1"/>
          <p:nvPr/>
        </p:nvSpPr>
        <p:spPr>
          <a:xfrm>
            <a:off x="1508759" y="3938015"/>
            <a:ext cx="129387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RANDOM FOREST</a:t>
            </a:r>
          </a:p>
        </p:txBody>
      </p:sp>
      <p:sp>
        <p:nvSpPr>
          <p:cNvPr id="30" name="Shape 10"/>
          <p:cNvSpPr/>
          <p:nvPr/>
        </p:nvSpPr>
        <p:spPr>
          <a:xfrm>
            <a:off x="2985516" y="3886200"/>
            <a:ext cx="1385317" cy="347473"/>
          </a:xfrm>
          <a:prstGeom prst="roundRect">
            <a:avLst>
              <a:gd name="adj" fmla="val 21053"/>
            </a:avLst>
          </a:prstGeom>
          <a:solidFill>
            <a:srgbClr val="16324A"/>
          </a:solidFill>
          <a:ln w="12700">
            <a:solidFill>
              <a:srgbClr val="24425C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" name="Text 11"/>
          <p:cNvSpPr txBox="1"/>
          <p:nvPr/>
        </p:nvSpPr>
        <p:spPr>
          <a:xfrm>
            <a:off x="3031236" y="3938015"/>
            <a:ext cx="129387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CYBERSECURITY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594359" y="4862829"/>
            <a:ext cx="7223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By: Pranav Das, Sahas Vijayakumar, Julia Jeng, Aarush Kikkuru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594359" y="6066790"/>
            <a:ext cx="5394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493A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 Presentation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36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Introduction: Why This Project Matters</a:t>
            </a:r>
          </a:p>
        </p:txBody>
      </p:sp>
      <p:sp>
        <p:nvSpPr>
          <p:cNvPr id="38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login can look normal on the surface while still carrying multiple risk signals.</a:t>
            </a:r>
          </a:p>
        </p:txBody>
      </p:sp>
      <p:sp>
        <p:nvSpPr>
          <p:cNvPr id="39" name="Shape 4"/>
          <p:cNvSpPr/>
          <p:nvPr/>
        </p:nvSpPr>
        <p:spPr>
          <a:xfrm>
            <a:off x="457200" y="1874520"/>
            <a:ext cx="3611880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  <a:effectLst>
            <a:outerShdw blurRad="76200" dist="25400" dir="5400000" rotWithShape="0">
              <a:srgbClr val="9AA5B1">
                <a:alpha val="2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0" name="Shape 5"/>
          <p:cNvSpPr/>
          <p:nvPr/>
        </p:nvSpPr>
        <p:spPr>
          <a:xfrm>
            <a:off x="731519" y="2148839"/>
            <a:ext cx="502922" cy="502921"/>
          </a:xfrm>
          <a:prstGeom prst="ellipse">
            <a:avLst/>
          </a:prstGeom>
          <a:solidFill>
            <a:srgbClr val="E9F0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Text 6"/>
          <p:cNvSpPr txBox="1"/>
          <p:nvPr/>
        </p:nvSpPr>
        <p:spPr>
          <a:xfrm>
            <a:off x="777239" y="2252979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4C8D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01</a:t>
            </a:r>
          </a:p>
        </p:txBody>
      </p:sp>
      <p:sp>
        <p:nvSpPr>
          <p:cNvPr id="42" name="Text 7"/>
          <p:cNvSpPr txBox="1"/>
          <p:nvPr/>
        </p:nvSpPr>
        <p:spPr>
          <a:xfrm>
            <a:off x="777240" y="2965449"/>
            <a:ext cx="2971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Passwords are not enough</a:t>
            </a:r>
          </a:p>
        </p:txBody>
      </p:sp>
      <p:sp>
        <p:nvSpPr>
          <p:cNvPr id="43" name="Text 8"/>
          <p:cNvSpPr txBox="1"/>
          <p:nvPr/>
        </p:nvSpPr>
        <p:spPr>
          <a:xfrm>
            <a:off x="777240" y="3615689"/>
            <a:ext cx="29718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correct password does not prove that the person logging in is the legitimate account owner.</a:t>
            </a:r>
          </a:p>
        </p:txBody>
      </p:sp>
      <p:sp>
        <p:nvSpPr>
          <p:cNvPr id="44" name="Shape 9"/>
          <p:cNvSpPr/>
          <p:nvPr/>
        </p:nvSpPr>
        <p:spPr>
          <a:xfrm>
            <a:off x="4251959" y="1874520"/>
            <a:ext cx="3611881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  <a:effectLst>
            <a:outerShdw blurRad="76200" dist="25400" dir="5400000" rotWithShape="0">
              <a:srgbClr val="9AA5B1">
                <a:alpha val="2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5" name="Shape 10"/>
          <p:cNvSpPr/>
          <p:nvPr/>
        </p:nvSpPr>
        <p:spPr>
          <a:xfrm>
            <a:off x="4526279" y="2148839"/>
            <a:ext cx="502921" cy="502921"/>
          </a:xfrm>
          <a:prstGeom prst="ellipse">
            <a:avLst/>
          </a:prstGeom>
          <a:solidFill>
            <a:srgbClr val="E4F8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" name="Text 11"/>
          <p:cNvSpPr txBox="1"/>
          <p:nvPr/>
        </p:nvSpPr>
        <p:spPr>
          <a:xfrm>
            <a:off x="4572000" y="2252979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02</a:t>
            </a:r>
          </a:p>
        </p:txBody>
      </p:sp>
      <p:sp>
        <p:nvSpPr>
          <p:cNvPr id="47" name="Text 12"/>
          <p:cNvSpPr txBox="1"/>
          <p:nvPr/>
        </p:nvSpPr>
        <p:spPr>
          <a:xfrm>
            <a:off x="4572000" y="2965449"/>
            <a:ext cx="297180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Context reveals risk</a:t>
            </a:r>
          </a:p>
        </p:txBody>
      </p:sp>
      <p:sp>
        <p:nvSpPr>
          <p:cNvPr id="48" name="Text 13"/>
          <p:cNvSpPr txBox="1"/>
          <p:nvPr/>
        </p:nvSpPr>
        <p:spPr>
          <a:xfrm>
            <a:off x="4572000" y="3615689"/>
            <a:ext cx="2971800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Time, location, device, network, latency, and login success patterns can make suspicious activity easier to detect.</a:t>
            </a:r>
          </a:p>
        </p:txBody>
      </p:sp>
      <p:sp>
        <p:nvSpPr>
          <p:cNvPr id="49" name="Shape 14"/>
          <p:cNvSpPr/>
          <p:nvPr/>
        </p:nvSpPr>
        <p:spPr>
          <a:xfrm>
            <a:off x="8046719" y="1874520"/>
            <a:ext cx="3611881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  <a:effectLst>
            <a:outerShdw blurRad="76200" dist="25400" dir="5400000" rotWithShape="0">
              <a:srgbClr val="9AA5B1">
                <a:alpha val="25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50" name="Shape 15"/>
          <p:cNvSpPr/>
          <p:nvPr/>
        </p:nvSpPr>
        <p:spPr>
          <a:xfrm>
            <a:off x="8321040" y="2148839"/>
            <a:ext cx="502921" cy="502921"/>
          </a:xfrm>
          <a:prstGeom prst="ellipse">
            <a:avLst/>
          </a:prstGeom>
          <a:solidFill>
            <a:srgbClr val="FDEA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Text 16"/>
          <p:cNvSpPr txBox="1"/>
          <p:nvPr/>
        </p:nvSpPr>
        <p:spPr>
          <a:xfrm>
            <a:off x="8366759" y="2252979"/>
            <a:ext cx="4114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 b="1">
                <a:solidFill>
                  <a:srgbClr val="F45B6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03</a:t>
            </a:r>
          </a:p>
        </p:txBody>
      </p:sp>
      <p:sp>
        <p:nvSpPr>
          <p:cNvPr id="52" name="Text 17"/>
          <p:cNvSpPr txBox="1"/>
          <p:nvPr/>
        </p:nvSpPr>
        <p:spPr>
          <a:xfrm>
            <a:off x="8366759" y="2965449"/>
            <a:ext cx="297180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ML combines signals</a:t>
            </a:r>
          </a:p>
        </p:txBody>
      </p:sp>
      <p:sp>
        <p:nvSpPr>
          <p:cNvPr id="53" name="Text 18"/>
          <p:cNvSpPr txBox="1"/>
          <p:nvPr/>
        </p:nvSpPr>
        <p:spPr>
          <a:xfrm>
            <a:off x="8366759" y="3615689"/>
            <a:ext cx="2971801" cy="586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classification model can evaluate many weak signals together and assign a risk decision to each login.</a:t>
            </a:r>
          </a:p>
        </p:txBody>
      </p:sp>
      <p:sp>
        <p:nvSpPr>
          <p:cNvPr id="54" name="Shape 19"/>
          <p:cNvSpPr/>
          <p:nvPr/>
        </p:nvSpPr>
        <p:spPr>
          <a:xfrm>
            <a:off x="822960" y="4800600"/>
            <a:ext cx="10515601" cy="777241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ext 20"/>
          <p:cNvSpPr txBox="1"/>
          <p:nvPr/>
        </p:nvSpPr>
        <p:spPr>
          <a:xfrm>
            <a:off x="1143000" y="5060950"/>
            <a:ext cx="17373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Project question</a:t>
            </a:r>
          </a:p>
        </p:txBody>
      </p:sp>
      <p:sp>
        <p:nvSpPr>
          <p:cNvPr id="56" name="Text 21"/>
          <p:cNvSpPr txBox="1"/>
          <p:nvPr/>
        </p:nvSpPr>
        <p:spPr>
          <a:xfrm>
            <a:off x="3063240" y="5029200"/>
            <a:ext cx="804672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Can a machine learning model use login context to identify suspicious activity?</a:t>
            </a:r>
          </a:p>
        </p:txBody>
      </p:sp>
      <p:sp>
        <p:nvSpPr>
          <p:cNvPr id="57" name="Shape 22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" name="Text 23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59" name="Text 24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60" name="Text 25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63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Design of the System</a:t>
            </a:r>
          </a:p>
        </p:txBody>
      </p:sp>
      <p:sp>
        <p:nvSpPr>
          <p:cNvPr id="65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Convert raw login activity into a clear, explainable security decision.</a:t>
            </a:r>
          </a:p>
        </p:txBody>
      </p:sp>
      <p:sp>
        <p:nvSpPr>
          <p:cNvPr id="66" name="Text 4"/>
          <p:cNvSpPr txBox="1"/>
          <p:nvPr/>
        </p:nvSpPr>
        <p:spPr>
          <a:xfrm>
            <a:off x="594359" y="1929130"/>
            <a:ext cx="265176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INPUT</a:t>
            </a:r>
          </a:p>
        </p:txBody>
      </p:sp>
      <p:sp>
        <p:nvSpPr>
          <p:cNvPr id="67" name="Shape 5"/>
          <p:cNvSpPr/>
          <p:nvPr/>
        </p:nvSpPr>
        <p:spPr>
          <a:xfrm>
            <a:off x="548640" y="2240279"/>
            <a:ext cx="3200401" cy="2423161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Shape 6"/>
          <p:cNvSpPr/>
          <p:nvPr/>
        </p:nvSpPr>
        <p:spPr>
          <a:xfrm>
            <a:off x="777240" y="2423160"/>
            <a:ext cx="411481" cy="4114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C8DF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Text 7"/>
          <p:cNvSpPr txBox="1"/>
          <p:nvPr/>
        </p:nvSpPr>
        <p:spPr>
          <a:xfrm>
            <a:off x="822960" y="2418079"/>
            <a:ext cx="3200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🕐</a:t>
            </a:r>
          </a:p>
        </p:txBody>
      </p:sp>
      <p:sp>
        <p:nvSpPr>
          <p:cNvPr id="70" name="Text 8"/>
          <p:cNvSpPr txBox="1"/>
          <p:nvPr/>
        </p:nvSpPr>
        <p:spPr>
          <a:xfrm>
            <a:off x="1371600" y="2481580"/>
            <a:ext cx="2240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time</a:t>
            </a:r>
          </a:p>
        </p:txBody>
      </p:sp>
      <p:sp>
        <p:nvSpPr>
          <p:cNvPr id="71" name="Shape 9"/>
          <p:cNvSpPr/>
          <p:nvPr/>
        </p:nvSpPr>
        <p:spPr>
          <a:xfrm>
            <a:off x="777240" y="3017520"/>
            <a:ext cx="411481" cy="4114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CC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Text 10"/>
          <p:cNvSpPr txBox="1"/>
          <p:nvPr/>
        </p:nvSpPr>
        <p:spPr>
          <a:xfrm>
            <a:off x="822960" y="3012440"/>
            <a:ext cx="3200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🌐</a:t>
            </a:r>
          </a:p>
        </p:txBody>
      </p:sp>
      <p:sp>
        <p:nvSpPr>
          <p:cNvPr id="73" name="Text 11"/>
          <p:cNvSpPr txBox="1"/>
          <p:nvPr/>
        </p:nvSpPr>
        <p:spPr>
          <a:xfrm>
            <a:off x="1371600" y="3075940"/>
            <a:ext cx="2240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Location &amp; ASN</a:t>
            </a:r>
          </a:p>
        </p:txBody>
      </p:sp>
      <p:sp>
        <p:nvSpPr>
          <p:cNvPr id="74" name="Shape 12"/>
          <p:cNvSpPr/>
          <p:nvPr/>
        </p:nvSpPr>
        <p:spPr>
          <a:xfrm>
            <a:off x="777240" y="3611879"/>
            <a:ext cx="411481" cy="4114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5B6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" name="Text 13"/>
          <p:cNvSpPr txBox="1"/>
          <p:nvPr/>
        </p:nvSpPr>
        <p:spPr>
          <a:xfrm>
            <a:off x="822960" y="3606800"/>
            <a:ext cx="3200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💻</a:t>
            </a:r>
          </a:p>
        </p:txBody>
      </p:sp>
      <p:sp>
        <p:nvSpPr>
          <p:cNvPr id="76" name="Text 14"/>
          <p:cNvSpPr txBox="1"/>
          <p:nvPr/>
        </p:nvSpPr>
        <p:spPr>
          <a:xfrm>
            <a:off x="1371600" y="3670300"/>
            <a:ext cx="2240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Device, OS &amp; browser</a:t>
            </a:r>
          </a:p>
        </p:txBody>
      </p:sp>
      <p:sp>
        <p:nvSpPr>
          <p:cNvPr id="77" name="Text 15"/>
          <p:cNvSpPr txBox="1"/>
          <p:nvPr/>
        </p:nvSpPr>
        <p:spPr>
          <a:xfrm>
            <a:off x="822960" y="4296409"/>
            <a:ext cx="27432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i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+ login success and round-trip time</a:t>
            </a:r>
          </a:p>
        </p:txBody>
      </p:sp>
      <p:sp>
        <p:nvSpPr>
          <p:cNvPr id="78" name="Text 16"/>
          <p:cNvSpPr txBox="1"/>
          <p:nvPr/>
        </p:nvSpPr>
        <p:spPr>
          <a:xfrm>
            <a:off x="3931920" y="3172459"/>
            <a:ext cx="548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C4CC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➜</a:t>
            </a:r>
          </a:p>
        </p:txBody>
      </p:sp>
      <p:sp>
        <p:nvSpPr>
          <p:cNvPr id="79" name="Text 17"/>
          <p:cNvSpPr txBox="1"/>
          <p:nvPr/>
        </p:nvSpPr>
        <p:spPr>
          <a:xfrm>
            <a:off x="4663440" y="1929130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MODEL</a:t>
            </a:r>
          </a:p>
        </p:txBody>
      </p:sp>
      <p:sp>
        <p:nvSpPr>
          <p:cNvPr id="80" name="Shape 18"/>
          <p:cNvSpPr/>
          <p:nvPr/>
        </p:nvSpPr>
        <p:spPr>
          <a:xfrm>
            <a:off x="4617720" y="2240279"/>
            <a:ext cx="3063241" cy="2423161"/>
          </a:xfrm>
          <a:prstGeom prst="roundRect">
            <a:avLst>
              <a:gd name="adj" fmla="val 4528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Shape 19"/>
          <p:cNvSpPr/>
          <p:nvPr/>
        </p:nvSpPr>
        <p:spPr>
          <a:xfrm>
            <a:off x="5806440" y="2514600"/>
            <a:ext cx="685801" cy="685800"/>
          </a:xfrm>
          <a:prstGeom prst="ellipse">
            <a:avLst/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20"/>
          <p:cNvSpPr txBox="1"/>
          <p:nvPr/>
        </p:nvSpPr>
        <p:spPr>
          <a:xfrm>
            <a:off x="5852160" y="2576829"/>
            <a:ext cx="5943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🌲</a:t>
            </a:r>
          </a:p>
        </p:txBody>
      </p:sp>
      <p:sp>
        <p:nvSpPr>
          <p:cNvPr id="83" name="Text 21"/>
          <p:cNvSpPr txBox="1"/>
          <p:nvPr/>
        </p:nvSpPr>
        <p:spPr>
          <a:xfrm>
            <a:off x="4846320" y="3354069"/>
            <a:ext cx="26060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Random Forest</a:t>
            </a:r>
          </a:p>
        </p:txBody>
      </p:sp>
      <p:sp>
        <p:nvSpPr>
          <p:cNvPr id="84" name="Text 22"/>
          <p:cNvSpPr txBox="1"/>
          <p:nvPr/>
        </p:nvSpPr>
        <p:spPr>
          <a:xfrm>
            <a:off x="4937760" y="3870960"/>
            <a:ext cx="24231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Combines many decision trees to classify each login</a:t>
            </a:r>
          </a:p>
        </p:txBody>
      </p:sp>
      <p:sp>
        <p:nvSpPr>
          <p:cNvPr id="85" name="Text 23"/>
          <p:cNvSpPr txBox="1"/>
          <p:nvPr/>
        </p:nvSpPr>
        <p:spPr>
          <a:xfrm>
            <a:off x="7863839" y="3172459"/>
            <a:ext cx="54864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C4CCD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➜</a:t>
            </a:r>
          </a:p>
        </p:txBody>
      </p:sp>
      <p:sp>
        <p:nvSpPr>
          <p:cNvPr id="86" name="Text 24"/>
          <p:cNvSpPr txBox="1"/>
          <p:nvPr/>
        </p:nvSpPr>
        <p:spPr>
          <a:xfrm>
            <a:off x="8595359" y="1929130"/>
            <a:ext cx="2651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OUTPUT</a:t>
            </a:r>
          </a:p>
        </p:txBody>
      </p:sp>
      <p:sp>
        <p:nvSpPr>
          <p:cNvPr id="87" name="Shape 25"/>
          <p:cNvSpPr/>
          <p:nvPr/>
        </p:nvSpPr>
        <p:spPr>
          <a:xfrm>
            <a:off x="8549640" y="2240279"/>
            <a:ext cx="3108961" cy="1051561"/>
          </a:xfrm>
          <a:prstGeom prst="roundRect">
            <a:avLst>
              <a:gd name="adj" fmla="val 6957"/>
            </a:avLst>
          </a:prstGeom>
          <a:solidFill>
            <a:srgbClr val="E4F8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Shape 26"/>
          <p:cNvSpPr/>
          <p:nvPr/>
        </p:nvSpPr>
        <p:spPr>
          <a:xfrm>
            <a:off x="8778240" y="2487167"/>
            <a:ext cx="457201" cy="457201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Text 27"/>
          <p:cNvSpPr txBox="1"/>
          <p:nvPr/>
        </p:nvSpPr>
        <p:spPr>
          <a:xfrm>
            <a:off x="8823959" y="2555747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✓</a:t>
            </a:r>
          </a:p>
        </p:txBody>
      </p:sp>
      <p:sp>
        <p:nvSpPr>
          <p:cNvPr id="90" name="Text 28"/>
          <p:cNvSpPr txBox="1"/>
          <p:nvPr/>
        </p:nvSpPr>
        <p:spPr>
          <a:xfrm>
            <a:off x="9418319" y="2568447"/>
            <a:ext cx="21031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Normal / Low Risk</a:t>
            </a:r>
          </a:p>
        </p:txBody>
      </p:sp>
      <p:sp>
        <p:nvSpPr>
          <p:cNvPr id="91" name="Shape 29"/>
          <p:cNvSpPr/>
          <p:nvPr/>
        </p:nvSpPr>
        <p:spPr>
          <a:xfrm>
            <a:off x="8549640" y="3429000"/>
            <a:ext cx="3108961" cy="1051561"/>
          </a:xfrm>
          <a:prstGeom prst="roundRect">
            <a:avLst>
              <a:gd name="adj" fmla="val 6957"/>
            </a:avLst>
          </a:prstGeom>
          <a:solidFill>
            <a:srgbClr val="FDEA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" name="Shape 30"/>
          <p:cNvSpPr/>
          <p:nvPr/>
        </p:nvSpPr>
        <p:spPr>
          <a:xfrm>
            <a:off x="8778240" y="3675888"/>
            <a:ext cx="457201" cy="457201"/>
          </a:xfrm>
          <a:prstGeom prst="ellipse">
            <a:avLst/>
          </a:prstGeom>
          <a:solidFill>
            <a:srgbClr val="F45B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31"/>
          <p:cNvSpPr txBox="1"/>
          <p:nvPr/>
        </p:nvSpPr>
        <p:spPr>
          <a:xfrm>
            <a:off x="8823959" y="3754191"/>
            <a:ext cx="3657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t>!</a:t>
            </a:r>
          </a:p>
        </p:txBody>
      </p:sp>
      <p:sp>
        <p:nvSpPr>
          <p:cNvPr id="94" name="Text 32"/>
          <p:cNvSpPr txBox="1"/>
          <p:nvPr/>
        </p:nvSpPr>
        <p:spPr>
          <a:xfrm>
            <a:off x="9418319" y="3757168"/>
            <a:ext cx="210312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Suspicious / Malicious</a:t>
            </a:r>
          </a:p>
        </p:txBody>
      </p:sp>
      <p:sp>
        <p:nvSpPr>
          <p:cNvPr id="95" name="Text 33"/>
          <p:cNvSpPr txBox="1"/>
          <p:nvPr/>
        </p:nvSpPr>
        <p:spPr>
          <a:xfrm>
            <a:off x="594359" y="5123179"/>
            <a:ext cx="1088136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system returns both a probability and a final label based on a tuned decision threshold.</a:t>
            </a:r>
          </a:p>
        </p:txBody>
      </p:sp>
      <p:sp>
        <p:nvSpPr>
          <p:cNvPr id="96" name="Shape 34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35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98" name="Text 36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99" name="Text 37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102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Implementation</a:t>
            </a:r>
          </a:p>
        </p:txBody>
      </p:sp>
      <p:sp>
        <p:nvSpPr>
          <p:cNvPr id="104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Dataset, pipeline, and model — built end-to-end in Python.</a:t>
            </a:r>
          </a:p>
        </p:txBody>
      </p:sp>
      <p:sp>
        <p:nvSpPr>
          <p:cNvPr id="105" name="Shape 4"/>
          <p:cNvSpPr/>
          <p:nvPr/>
        </p:nvSpPr>
        <p:spPr>
          <a:xfrm>
            <a:off x="457200" y="1828800"/>
            <a:ext cx="2651761" cy="868681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" name="Shape 5"/>
          <p:cNvSpPr/>
          <p:nvPr/>
        </p:nvSpPr>
        <p:spPr>
          <a:xfrm>
            <a:off x="457200" y="1828800"/>
            <a:ext cx="54864" cy="868681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Text 6"/>
          <p:cNvSpPr txBox="1"/>
          <p:nvPr/>
        </p:nvSpPr>
        <p:spPr>
          <a:xfrm>
            <a:off x="685800" y="1941829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ATTEMPTS</a:t>
            </a:r>
          </a:p>
        </p:txBody>
      </p:sp>
      <p:sp>
        <p:nvSpPr>
          <p:cNvPr id="108" name="Text 7"/>
          <p:cNvSpPr txBox="1"/>
          <p:nvPr/>
        </p:nvSpPr>
        <p:spPr>
          <a:xfrm>
            <a:off x="685800" y="2195829"/>
            <a:ext cx="2194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1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33M+</a:t>
            </a:r>
          </a:p>
        </p:txBody>
      </p:sp>
      <p:sp>
        <p:nvSpPr>
          <p:cNvPr id="109" name="Shape 8"/>
          <p:cNvSpPr/>
          <p:nvPr/>
        </p:nvSpPr>
        <p:spPr>
          <a:xfrm>
            <a:off x="3227832" y="1828800"/>
            <a:ext cx="2651761" cy="868681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" name="Shape 9"/>
          <p:cNvSpPr/>
          <p:nvPr/>
        </p:nvSpPr>
        <p:spPr>
          <a:xfrm>
            <a:off x="3227832" y="1828800"/>
            <a:ext cx="54865" cy="868681"/>
          </a:xfrm>
          <a:prstGeom prst="rect">
            <a:avLst/>
          </a:prstGeom>
          <a:solidFill>
            <a:srgbClr val="4C8D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Text 10"/>
          <p:cNvSpPr txBox="1"/>
          <p:nvPr/>
        </p:nvSpPr>
        <p:spPr>
          <a:xfrm>
            <a:off x="3456432" y="1941829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USERS</a:t>
            </a:r>
          </a:p>
        </p:txBody>
      </p:sp>
      <p:sp>
        <p:nvSpPr>
          <p:cNvPr id="112" name="Text 11"/>
          <p:cNvSpPr txBox="1"/>
          <p:nvPr/>
        </p:nvSpPr>
        <p:spPr>
          <a:xfrm>
            <a:off x="3456432" y="2195829"/>
            <a:ext cx="2194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1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3.3M+</a:t>
            </a:r>
          </a:p>
        </p:txBody>
      </p:sp>
      <p:sp>
        <p:nvSpPr>
          <p:cNvPr id="113" name="Shape 12"/>
          <p:cNvSpPr/>
          <p:nvPr/>
        </p:nvSpPr>
        <p:spPr>
          <a:xfrm>
            <a:off x="5998464" y="1828800"/>
            <a:ext cx="2651761" cy="868681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" name="Shape 13"/>
          <p:cNvSpPr/>
          <p:nvPr/>
        </p:nvSpPr>
        <p:spPr>
          <a:xfrm>
            <a:off x="5998464" y="1828800"/>
            <a:ext cx="54865" cy="868681"/>
          </a:xfrm>
          <a:prstGeom prst="rect">
            <a:avLst/>
          </a:prstGeom>
          <a:solidFill>
            <a:srgbClr val="37C7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14"/>
          <p:cNvSpPr txBox="1"/>
          <p:nvPr/>
        </p:nvSpPr>
        <p:spPr>
          <a:xfrm>
            <a:off x="6227064" y="1941829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COLUMNS</a:t>
            </a:r>
          </a:p>
        </p:txBody>
      </p:sp>
      <p:sp>
        <p:nvSpPr>
          <p:cNvPr id="116" name="Text 15"/>
          <p:cNvSpPr txBox="1"/>
          <p:nvPr/>
        </p:nvSpPr>
        <p:spPr>
          <a:xfrm>
            <a:off x="6227064" y="2195829"/>
            <a:ext cx="2194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1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15</a:t>
            </a:r>
          </a:p>
        </p:txBody>
      </p:sp>
      <p:sp>
        <p:nvSpPr>
          <p:cNvPr id="117" name="Shape 16"/>
          <p:cNvSpPr/>
          <p:nvPr/>
        </p:nvSpPr>
        <p:spPr>
          <a:xfrm>
            <a:off x="8769095" y="1828800"/>
            <a:ext cx="2651761" cy="868681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Shape 17"/>
          <p:cNvSpPr/>
          <p:nvPr/>
        </p:nvSpPr>
        <p:spPr>
          <a:xfrm>
            <a:off x="8769095" y="1828800"/>
            <a:ext cx="54865" cy="868681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" name="Text 18"/>
          <p:cNvSpPr txBox="1"/>
          <p:nvPr/>
        </p:nvSpPr>
        <p:spPr>
          <a:xfrm>
            <a:off x="8997695" y="1941829"/>
            <a:ext cx="21945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DOWNLOAD</a:t>
            </a:r>
          </a:p>
        </p:txBody>
      </p:sp>
      <p:sp>
        <p:nvSpPr>
          <p:cNvPr id="120" name="Text 19"/>
          <p:cNvSpPr txBox="1"/>
          <p:nvPr/>
        </p:nvSpPr>
        <p:spPr>
          <a:xfrm>
            <a:off x="8997695" y="2195829"/>
            <a:ext cx="21945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1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1.1 GB</a:t>
            </a:r>
          </a:p>
        </p:txBody>
      </p:sp>
      <p:sp>
        <p:nvSpPr>
          <p:cNvPr id="121" name="Text 20"/>
          <p:cNvSpPr txBox="1"/>
          <p:nvPr/>
        </p:nvSpPr>
        <p:spPr>
          <a:xfrm>
            <a:off x="502919" y="2776728"/>
            <a:ext cx="108813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i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Dataset: RBA (Risk-Based Authentication) — Zenodo, synthesized from real-world login behavior.</a:t>
            </a:r>
          </a:p>
        </p:txBody>
      </p:sp>
      <p:sp>
        <p:nvSpPr>
          <p:cNvPr id="122" name="Text 21"/>
          <p:cNvSpPr txBox="1"/>
          <p:nvPr/>
        </p:nvSpPr>
        <p:spPr>
          <a:xfrm>
            <a:off x="502919" y="3163569"/>
            <a:ext cx="35661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PIPELINE</a:t>
            </a:r>
          </a:p>
        </p:txBody>
      </p:sp>
      <p:sp>
        <p:nvSpPr>
          <p:cNvPr id="123" name="Shape 22"/>
          <p:cNvSpPr/>
          <p:nvPr/>
        </p:nvSpPr>
        <p:spPr>
          <a:xfrm>
            <a:off x="1147572" y="3474720"/>
            <a:ext cx="402337" cy="402337"/>
          </a:xfrm>
          <a:prstGeom prst="ellipse">
            <a:avLst/>
          </a:prstGeom>
          <a:solidFill>
            <a:srgbClr val="4C8D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4" name="Text 23"/>
          <p:cNvSpPr txBox="1"/>
          <p:nvPr/>
        </p:nvSpPr>
        <p:spPr>
          <a:xfrm>
            <a:off x="1193291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125" name="Text 24"/>
          <p:cNvSpPr txBox="1"/>
          <p:nvPr/>
        </p:nvSpPr>
        <p:spPr>
          <a:xfrm>
            <a:off x="502920" y="3962400"/>
            <a:ext cx="169164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Read in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chunks</a:t>
            </a:r>
          </a:p>
        </p:txBody>
      </p:sp>
      <p:sp>
        <p:nvSpPr>
          <p:cNvPr id="126" name="Text 25"/>
          <p:cNvSpPr txBox="1"/>
          <p:nvPr/>
        </p:nvSpPr>
        <p:spPr>
          <a:xfrm>
            <a:off x="2148840" y="35172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4CCD8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27" name="Shape 26"/>
          <p:cNvSpPr/>
          <p:nvPr/>
        </p:nvSpPr>
        <p:spPr>
          <a:xfrm>
            <a:off x="2930651" y="3474720"/>
            <a:ext cx="402337" cy="402337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Text 27"/>
          <p:cNvSpPr txBox="1"/>
          <p:nvPr/>
        </p:nvSpPr>
        <p:spPr>
          <a:xfrm>
            <a:off x="2976372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129" name="Text 28"/>
          <p:cNvSpPr txBox="1"/>
          <p:nvPr/>
        </p:nvSpPr>
        <p:spPr>
          <a:xfrm>
            <a:off x="2286000" y="3962400"/>
            <a:ext cx="169163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Clean &amp;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engineer</a:t>
            </a:r>
          </a:p>
        </p:txBody>
      </p:sp>
      <p:sp>
        <p:nvSpPr>
          <p:cNvPr id="130" name="Text 29"/>
          <p:cNvSpPr txBox="1"/>
          <p:nvPr/>
        </p:nvSpPr>
        <p:spPr>
          <a:xfrm>
            <a:off x="3931920" y="35172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4CCD8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31" name="Shape 30"/>
          <p:cNvSpPr/>
          <p:nvPr/>
        </p:nvSpPr>
        <p:spPr>
          <a:xfrm>
            <a:off x="4713732" y="3474720"/>
            <a:ext cx="402337" cy="402337"/>
          </a:xfrm>
          <a:prstGeom prst="ellipse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" name="Text 31"/>
          <p:cNvSpPr txBox="1"/>
          <p:nvPr/>
        </p:nvSpPr>
        <p:spPr>
          <a:xfrm>
            <a:off x="4759452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133" name="Text 32"/>
          <p:cNvSpPr txBox="1"/>
          <p:nvPr/>
        </p:nvSpPr>
        <p:spPr>
          <a:xfrm>
            <a:off x="4069079" y="3962400"/>
            <a:ext cx="169164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Balance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classes</a:t>
            </a:r>
          </a:p>
        </p:txBody>
      </p:sp>
      <p:sp>
        <p:nvSpPr>
          <p:cNvPr id="134" name="Text 33"/>
          <p:cNvSpPr txBox="1"/>
          <p:nvPr/>
        </p:nvSpPr>
        <p:spPr>
          <a:xfrm>
            <a:off x="5715000" y="35172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4CCD8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35" name="Shape 34"/>
          <p:cNvSpPr/>
          <p:nvPr/>
        </p:nvSpPr>
        <p:spPr>
          <a:xfrm>
            <a:off x="6496811" y="3474720"/>
            <a:ext cx="402337" cy="402337"/>
          </a:xfrm>
          <a:prstGeom prst="ellipse">
            <a:avLst/>
          </a:prstGeom>
          <a:solidFill>
            <a:srgbClr val="37C7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Text 35"/>
          <p:cNvSpPr txBox="1"/>
          <p:nvPr/>
        </p:nvSpPr>
        <p:spPr>
          <a:xfrm>
            <a:off x="6542531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137" name="Text 36"/>
          <p:cNvSpPr txBox="1"/>
          <p:nvPr/>
        </p:nvSpPr>
        <p:spPr>
          <a:xfrm>
            <a:off x="5852160" y="3962400"/>
            <a:ext cx="169164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Split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data</a:t>
            </a:r>
          </a:p>
        </p:txBody>
      </p:sp>
      <p:sp>
        <p:nvSpPr>
          <p:cNvPr id="138" name="Text 37"/>
          <p:cNvSpPr txBox="1"/>
          <p:nvPr/>
        </p:nvSpPr>
        <p:spPr>
          <a:xfrm>
            <a:off x="7498079" y="35172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4CCD8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39" name="Shape 38"/>
          <p:cNvSpPr/>
          <p:nvPr/>
        </p:nvSpPr>
        <p:spPr>
          <a:xfrm>
            <a:off x="8279892" y="3474720"/>
            <a:ext cx="402337" cy="402337"/>
          </a:xfrm>
          <a:prstGeom prst="ellipse">
            <a:avLst/>
          </a:prstGeom>
          <a:solidFill>
            <a:srgbClr val="F45B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39"/>
          <p:cNvSpPr txBox="1"/>
          <p:nvPr/>
        </p:nvSpPr>
        <p:spPr>
          <a:xfrm>
            <a:off x="8325611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141" name="Text 40"/>
          <p:cNvSpPr txBox="1"/>
          <p:nvPr/>
        </p:nvSpPr>
        <p:spPr>
          <a:xfrm>
            <a:off x="7635239" y="3962400"/>
            <a:ext cx="169164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Train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model</a:t>
            </a:r>
          </a:p>
        </p:txBody>
      </p:sp>
      <p:sp>
        <p:nvSpPr>
          <p:cNvPr id="142" name="Text 41"/>
          <p:cNvSpPr txBox="1"/>
          <p:nvPr/>
        </p:nvSpPr>
        <p:spPr>
          <a:xfrm>
            <a:off x="9281159" y="35172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4CCD8"/>
                </a:solidFill>
              </a:defRPr>
            </a:lvl1pPr>
          </a:lstStyle>
          <a:p>
            <a:r>
              <a:t>→</a:t>
            </a:r>
          </a:p>
        </p:txBody>
      </p:sp>
      <p:sp>
        <p:nvSpPr>
          <p:cNvPr id="143" name="Shape 42"/>
          <p:cNvSpPr/>
          <p:nvPr/>
        </p:nvSpPr>
        <p:spPr>
          <a:xfrm>
            <a:off x="10062971" y="3474720"/>
            <a:ext cx="402337" cy="402337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Text 43"/>
          <p:cNvSpPr txBox="1"/>
          <p:nvPr/>
        </p:nvSpPr>
        <p:spPr>
          <a:xfrm>
            <a:off x="10108691" y="3541268"/>
            <a:ext cx="31089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6</a:t>
            </a:r>
          </a:p>
        </p:txBody>
      </p:sp>
      <p:sp>
        <p:nvSpPr>
          <p:cNvPr id="145" name="Text 44"/>
          <p:cNvSpPr txBox="1"/>
          <p:nvPr/>
        </p:nvSpPr>
        <p:spPr>
          <a:xfrm>
            <a:off x="9418319" y="3962400"/>
            <a:ext cx="1691640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Tune &amp;</a:t>
            </a:r>
          </a:p>
          <a:p>
            <a:pPr algn="ctr">
              <a:defRPr sz="1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save</a:t>
            </a:r>
          </a:p>
        </p:txBody>
      </p:sp>
      <p:sp>
        <p:nvSpPr>
          <p:cNvPr id="146" name="Shape 45"/>
          <p:cNvSpPr/>
          <p:nvPr/>
        </p:nvSpPr>
        <p:spPr>
          <a:xfrm>
            <a:off x="457200" y="4572000"/>
            <a:ext cx="5577841" cy="1737361"/>
          </a:xfrm>
          <a:prstGeom prst="roundRect">
            <a:avLst>
              <a:gd name="adj" fmla="val 4211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46"/>
          <p:cNvSpPr txBox="1"/>
          <p:nvPr/>
        </p:nvSpPr>
        <p:spPr>
          <a:xfrm>
            <a:off x="731519" y="4730749"/>
            <a:ext cx="502920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b="1">
                <a:solidFill>
                  <a:srgbClr val="2ECC8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t>train_model_balanced.py</a:t>
            </a:r>
          </a:p>
        </p:txBody>
      </p:sp>
      <p:sp>
        <p:nvSpPr>
          <p:cNvPr id="148" name="Text 47"/>
          <p:cNvSpPr txBox="1"/>
          <p:nvPr/>
        </p:nvSpPr>
        <p:spPr>
          <a:xfrm>
            <a:off x="731519" y="5132051"/>
            <a:ext cx="5029201" cy="98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ts val="1400"/>
              </a:lnSpc>
              <a:defRPr sz="1000">
                <a:solidFill>
                  <a:srgbClr val="D7DE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RandomForestClassifier(</a:t>
            </a:r>
          </a:p>
          <a:p>
            <a:pPr>
              <a:lnSpc>
                <a:spcPts val="1400"/>
              </a:lnSpc>
              <a:defRPr sz="1000">
                <a:solidFill>
                  <a:srgbClr val="D7DE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n_estimators=250, min_samples_leaf=2,</a:t>
            </a:r>
          </a:p>
          <a:p>
            <a:pPr>
              <a:lnSpc>
                <a:spcPts val="1400"/>
              </a:lnSpc>
              <a:defRPr sz="1000">
                <a:solidFill>
                  <a:srgbClr val="D7DE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class_weight="balanced_subsample",</a:t>
            </a:r>
          </a:p>
          <a:p>
            <a:pPr>
              <a:lnSpc>
                <a:spcPts val="1400"/>
              </a:lnSpc>
              <a:defRPr sz="1000">
                <a:solidFill>
                  <a:srgbClr val="D7DE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n_jobs=-1, random_state=42</a:t>
            </a:r>
          </a:p>
          <a:p>
            <a:pPr>
              <a:lnSpc>
                <a:spcPts val="1400"/>
              </a:lnSpc>
              <a:defRPr sz="1000">
                <a:solidFill>
                  <a:srgbClr val="D7DEE8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</p:txBody>
      </p:sp>
      <p:sp>
        <p:nvSpPr>
          <p:cNvPr id="149" name="Shape 48"/>
          <p:cNvSpPr/>
          <p:nvPr/>
        </p:nvSpPr>
        <p:spPr>
          <a:xfrm>
            <a:off x="6309359" y="4663440"/>
            <a:ext cx="164593" cy="16459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49"/>
          <p:cNvSpPr txBox="1"/>
          <p:nvPr/>
        </p:nvSpPr>
        <p:spPr>
          <a:xfrm>
            <a:off x="6629400" y="4611115"/>
            <a:ext cx="49377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250 decision trees</a:t>
            </a:r>
          </a:p>
        </p:txBody>
      </p:sp>
      <p:sp>
        <p:nvSpPr>
          <p:cNvPr id="151" name="Shape 50"/>
          <p:cNvSpPr/>
          <p:nvPr/>
        </p:nvSpPr>
        <p:spPr>
          <a:xfrm>
            <a:off x="6309359" y="5084064"/>
            <a:ext cx="164593" cy="164593"/>
          </a:xfrm>
          <a:prstGeom prst="ellipse">
            <a:avLst/>
          </a:prstGeom>
          <a:solidFill>
            <a:srgbClr val="4C8D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" name="Text 51"/>
          <p:cNvSpPr txBox="1"/>
          <p:nvPr/>
        </p:nvSpPr>
        <p:spPr>
          <a:xfrm>
            <a:off x="6629400" y="5031739"/>
            <a:ext cx="49377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Balanced class weights</a:t>
            </a:r>
          </a:p>
        </p:txBody>
      </p:sp>
      <p:sp>
        <p:nvSpPr>
          <p:cNvPr id="153" name="Shape 52"/>
          <p:cNvSpPr/>
          <p:nvPr/>
        </p:nvSpPr>
        <p:spPr>
          <a:xfrm>
            <a:off x="6309359" y="5504688"/>
            <a:ext cx="164593" cy="164593"/>
          </a:xfrm>
          <a:prstGeom prst="ellipse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Text 53"/>
          <p:cNvSpPr txBox="1"/>
          <p:nvPr/>
        </p:nvSpPr>
        <p:spPr>
          <a:xfrm>
            <a:off x="6629400" y="5452363"/>
            <a:ext cx="49377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60 / 20 / 20 split</a:t>
            </a:r>
          </a:p>
        </p:txBody>
      </p:sp>
      <p:sp>
        <p:nvSpPr>
          <p:cNvPr id="155" name="Shape 54"/>
          <p:cNvSpPr/>
          <p:nvPr/>
        </p:nvSpPr>
        <p:spPr>
          <a:xfrm>
            <a:off x="6309359" y="5925311"/>
            <a:ext cx="164593" cy="164593"/>
          </a:xfrm>
          <a:prstGeom prst="ellipse">
            <a:avLst/>
          </a:prstGeom>
          <a:solidFill>
            <a:srgbClr val="F45B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55"/>
          <p:cNvSpPr txBox="1"/>
          <p:nvPr/>
        </p:nvSpPr>
        <p:spPr>
          <a:xfrm>
            <a:off x="6629400" y="5872987"/>
            <a:ext cx="49377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Threshold tuned on validation F1</a:t>
            </a:r>
          </a:p>
        </p:txBody>
      </p:sp>
      <p:sp>
        <p:nvSpPr>
          <p:cNvPr id="157" name="Shape 56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57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159" name="Text 58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160" name="Text 59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163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Results Screenshots</a:t>
            </a:r>
          </a:p>
        </p:txBody>
      </p:sp>
      <p:sp>
        <p:nvSpPr>
          <p:cNvPr id="165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Model performance and confusion matrix from the balanced test set.</a:t>
            </a:r>
          </a:p>
        </p:txBody>
      </p:sp>
      <p:sp>
        <p:nvSpPr>
          <p:cNvPr id="166" name="Shape 4"/>
          <p:cNvSpPr/>
          <p:nvPr/>
        </p:nvSpPr>
        <p:spPr>
          <a:xfrm>
            <a:off x="457200" y="187452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" name="Text 5"/>
          <p:cNvSpPr txBox="1"/>
          <p:nvPr/>
        </p:nvSpPr>
        <p:spPr>
          <a:xfrm>
            <a:off x="502920" y="2118360"/>
            <a:ext cx="329184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PRIMARY SECURITY METRIC</a:t>
            </a:r>
          </a:p>
        </p:txBody>
      </p:sp>
      <p:sp>
        <p:nvSpPr>
          <p:cNvPr id="168" name="Shape 6"/>
          <p:cNvSpPr/>
          <p:nvPr/>
        </p:nvSpPr>
        <p:spPr>
          <a:xfrm>
            <a:off x="1051560" y="2514600"/>
            <a:ext cx="2194561" cy="2194561"/>
          </a:xfrm>
          <a:prstGeom prst="ellipse">
            <a:avLst/>
          </a:prstGeom>
          <a:solidFill>
            <a:srgbClr val="16324A"/>
          </a:solidFill>
          <a:ln w="76200">
            <a:solidFill>
              <a:srgbClr val="2ECC8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" name="Text 7"/>
          <p:cNvSpPr txBox="1"/>
          <p:nvPr/>
        </p:nvSpPr>
        <p:spPr>
          <a:xfrm>
            <a:off x="1097280" y="2993389"/>
            <a:ext cx="210312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87.33%</a:t>
            </a:r>
          </a:p>
        </p:txBody>
      </p:sp>
      <p:sp>
        <p:nvSpPr>
          <p:cNvPr id="170" name="Text 8"/>
          <p:cNvSpPr txBox="1"/>
          <p:nvPr/>
        </p:nvSpPr>
        <p:spPr>
          <a:xfrm>
            <a:off x="1097280" y="3444239"/>
            <a:ext cx="21031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RECALL</a:t>
            </a:r>
          </a:p>
        </p:txBody>
      </p:sp>
      <p:sp>
        <p:nvSpPr>
          <p:cNvPr id="171" name="Text 9"/>
          <p:cNvSpPr txBox="1"/>
          <p:nvPr/>
        </p:nvSpPr>
        <p:spPr>
          <a:xfrm>
            <a:off x="822960" y="5138419"/>
            <a:ext cx="2651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model detected nearly 9 out of every 10 attack-IP logins in the test set.</a:t>
            </a:r>
          </a:p>
        </p:txBody>
      </p:sp>
      <p:sp>
        <p:nvSpPr>
          <p:cNvPr id="172" name="Shape 10"/>
          <p:cNvSpPr/>
          <p:nvPr/>
        </p:nvSpPr>
        <p:spPr>
          <a:xfrm>
            <a:off x="4069079" y="1874520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3" name="Shape 11"/>
          <p:cNvSpPr/>
          <p:nvPr/>
        </p:nvSpPr>
        <p:spPr>
          <a:xfrm>
            <a:off x="4069079" y="1874520"/>
            <a:ext cx="54865" cy="914401"/>
          </a:xfrm>
          <a:prstGeom prst="rect">
            <a:avLst/>
          </a:prstGeom>
          <a:solidFill>
            <a:srgbClr val="4C8D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" name="Text 12"/>
          <p:cNvSpPr txBox="1"/>
          <p:nvPr/>
        </p:nvSpPr>
        <p:spPr>
          <a:xfrm>
            <a:off x="4279391" y="1984756"/>
            <a:ext cx="20116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ACCURACY</a:t>
            </a:r>
          </a:p>
        </p:txBody>
      </p:sp>
      <p:sp>
        <p:nvSpPr>
          <p:cNvPr id="175" name="Text 13"/>
          <p:cNvSpPr txBox="1"/>
          <p:nvPr/>
        </p:nvSpPr>
        <p:spPr>
          <a:xfrm>
            <a:off x="4279391" y="2263393"/>
            <a:ext cx="201168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85.58%</a:t>
            </a:r>
          </a:p>
        </p:txBody>
      </p:sp>
      <p:sp>
        <p:nvSpPr>
          <p:cNvPr id="176" name="Shape 14"/>
          <p:cNvSpPr/>
          <p:nvPr/>
        </p:nvSpPr>
        <p:spPr>
          <a:xfrm>
            <a:off x="6629400" y="1874520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" name="Shape 15"/>
          <p:cNvSpPr/>
          <p:nvPr/>
        </p:nvSpPr>
        <p:spPr>
          <a:xfrm>
            <a:off x="6629400" y="1874520"/>
            <a:ext cx="54864" cy="914401"/>
          </a:xfrm>
          <a:prstGeom prst="rect">
            <a:avLst/>
          </a:prstGeom>
          <a:solidFill>
            <a:srgbClr val="F45B6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8" name="Text 16"/>
          <p:cNvSpPr txBox="1"/>
          <p:nvPr/>
        </p:nvSpPr>
        <p:spPr>
          <a:xfrm>
            <a:off x="6839711" y="1984756"/>
            <a:ext cx="20116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PRECISION</a:t>
            </a:r>
          </a:p>
        </p:txBody>
      </p:sp>
      <p:sp>
        <p:nvSpPr>
          <p:cNvPr id="179" name="Text 17"/>
          <p:cNvSpPr txBox="1"/>
          <p:nvPr/>
        </p:nvSpPr>
        <p:spPr>
          <a:xfrm>
            <a:off x="6839711" y="2263393"/>
            <a:ext cx="201168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54.18%</a:t>
            </a:r>
          </a:p>
        </p:txBody>
      </p:sp>
      <p:sp>
        <p:nvSpPr>
          <p:cNvPr id="180" name="Shape 18"/>
          <p:cNvSpPr/>
          <p:nvPr/>
        </p:nvSpPr>
        <p:spPr>
          <a:xfrm>
            <a:off x="9189719" y="1874520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" name="Shape 19"/>
          <p:cNvSpPr/>
          <p:nvPr/>
        </p:nvSpPr>
        <p:spPr>
          <a:xfrm>
            <a:off x="9189719" y="1874520"/>
            <a:ext cx="54865" cy="914401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Text 20"/>
          <p:cNvSpPr txBox="1"/>
          <p:nvPr/>
        </p:nvSpPr>
        <p:spPr>
          <a:xfrm>
            <a:off x="9400031" y="1984756"/>
            <a:ext cx="20116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F1-SCORE</a:t>
            </a:r>
          </a:p>
        </p:txBody>
      </p:sp>
      <p:sp>
        <p:nvSpPr>
          <p:cNvPr id="183" name="Text 21"/>
          <p:cNvSpPr txBox="1"/>
          <p:nvPr/>
        </p:nvSpPr>
        <p:spPr>
          <a:xfrm>
            <a:off x="9400031" y="2263393"/>
            <a:ext cx="201168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66.87%</a:t>
            </a:r>
          </a:p>
        </p:txBody>
      </p:sp>
      <p:sp>
        <p:nvSpPr>
          <p:cNvPr id="184" name="Shape 22"/>
          <p:cNvSpPr/>
          <p:nvPr/>
        </p:nvSpPr>
        <p:spPr>
          <a:xfrm>
            <a:off x="4069079" y="2926079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" name="Shape 23"/>
          <p:cNvSpPr/>
          <p:nvPr/>
        </p:nvSpPr>
        <p:spPr>
          <a:xfrm>
            <a:off x="4069079" y="2926079"/>
            <a:ext cx="54865" cy="914401"/>
          </a:xfrm>
          <a:prstGeom prst="rect">
            <a:avLst/>
          </a:prstGeom>
          <a:solidFill>
            <a:srgbClr val="37C7E8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" name="Text 24"/>
          <p:cNvSpPr txBox="1"/>
          <p:nvPr/>
        </p:nvSpPr>
        <p:spPr>
          <a:xfrm>
            <a:off x="4279391" y="3036316"/>
            <a:ext cx="20116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ROC-AUC</a:t>
            </a:r>
          </a:p>
        </p:txBody>
      </p:sp>
      <p:sp>
        <p:nvSpPr>
          <p:cNvPr id="187" name="Text 25"/>
          <p:cNvSpPr txBox="1"/>
          <p:nvPr/>
        </p:nvSpPr>
        <p:spPr>
          <a:xfrm>
            <a:off x="4279391" y="3314953"/>
            <a:ext cx="201168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92.21%</a:t>
            </a:r>
          </a:p>
        </p:txBody>
      </p:sp>
      <p:sp>
        <p:nvSpPr>
          <p:cNvPr id="188" name="Shape 26"/>
          <p:cNvSpPr/>
          <p:nvPr/>
        </p:nvSpPr>
        <p:spPr>
          <a:xfrm>
            <a:off x="6629400" y="2926079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" name="Shape 27"/>
          <p:cNvSpPr/>
          <p:nvPr/>
        </p:nvSpPr>
        <p:spPr>
          <a:xfrm>
            <a:off x="6629400" y="2926079"/>
            <a:ext cx="54864" cy="914401"/>
          </a:xfrm>
          <a:prstGeom prst="rect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" name="Text 28"/>
          <p:cNvSpPr txBox="1"/>
          <p:nvPr/>
        </p:nvSpPr>
        <p:spPr>
          <a:xfrm>
            <a:off x="6839711" y="3036316"/>
            <a:ext cx="2011682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PR-AUC</a:t>
            </a:r>
          </a:p>
        </p:txBody>
      </p:sp>
      <p:sp>
        <p:nvSpPr>
          <p:cNvPr id="191" name="Text 29"/>
          <p:cNvSpPr txBox="1"/>
          <p:nvPr/>
        </p:nvSpPr>
        <p:spPr>
          <a:xfrm>
            <a:off x="6839711" y="3314953"/>
            <a:ext cx="201168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68.75%</a:t>
            </a:r>
          </a:p>
        </p:txBody>
      </p:sp>
      <p:sp>
        <p:nvSpPr>
          <p:cNvPr id="192" name="Shape 30"/>
          <p:cNvSpPr/>
          <p:nvPr/>
        </p:nvSpPr>
        <p:spPr>
          <a:xfrm>
            <a:off x="9189719" y="2926079"/>
            <a:ext cx="2423161" cy="9144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Shape 31"/>
          <p:cNvSpPr/>
          <p:nvPr/>
        </p:nvSpPr>
        <p:spPr>
          <a:xfrm>
            <a:off x="9189719" y="2926079"/>
            <a:ext cx="54865" cy="914401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" name="Text 32"/>
          <p:cNvSpPr txBox="1"/>
          <p:nvPr/>
        </p:nvSpPr>
        <p:spPr>
          <a:xfrm>
            <a:off x="9400031" y="3036316"/>
            <a:ext cx="201168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THRESHOLD</a:t>
            </a:r>
          </a:p>
        </p:txBody>
      </p:sp>
      <p:sp>
        <p:nvSpPr>
          <p:cNvPr id="195" name="Text 33"/>
          <p:cNvSpPr txBox="1"/>
          <p:nvPr/>
        </p:nvSpPr>
        <p:spPr>
          <a:xfrm>
            <a:off x="9400031" y="3314953"/>
            <a:ext cx="201168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9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0.5188</a:t>
            </a:r>
          </a:p>
        </p:txBody>
      </p:sp>
      <p:sp>
        <p:nvSpPr>
          <p:cNvPr id="196" name="Text 34"/>
          <p:cNvSpPr txBox="1"/>
          <p:nvPr/>
        </p:nvSpPr>
        <p:spPr>
          <a:xfrm>
            <a:off x="4114800" y="4175759"/>
            <a:ext cx="3566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b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CONFUSION MATRIX</a:t>
            </a:r>
          </a:p>
        </p:txBody>
      </p:sp>
      <p:sp>
        <p:nvSpPr>
          <p:cNvPr id="197" name="Shape 35"/>
          <p:cNvSpPr/>
          <p:nvPr/>
        </p:nvSpPr>
        <p:spPr>
          <a:xfrm>
            <a:off x="4069079" y="4462271"/>
            <a:ext cx="1783081" cy="868681"/>
          </a:xfrm>
          <a:prstGeom prst="roundRect">
            <a:avLst>
              <a:gd name="adj" fmla="val 6316"/>
            </a:avLst>
          </a:prstGeom>
          <a:solidFill>
            <a:srgbClr val="E4F8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" name="Text 36"/>
          <p:cNvSpPr txBox="1"/>
          <p:nvPr/>
        </p:nvSpPr>
        <p:spPr>
          <a:xfrm>
            <a:off x="4114800" y="4574794"/>
            <a:ext cx="169163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84,833</a:t>
            </a:r>
          </a:p>
        </p:txBody>
      </p:sp>
      <p:sp>
        <p:nvSpPr>
          <p:cNvPr id="199" name="Text 37"/>
          <p:cNvSpPr txBox="1"/>
          <p:nvPr/>
        </p:nvSpPr>
        <p:spPr>
          <a:xfrm>
            <a:off x="4114800" y="5015991"/>
            <a:ext cx="1691639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True negatives</a:t>
            </a:r>
          </a:p>
        </p:txBody>
      </p:sp>
      <p:sp>
        <p:nvSpPr>
          <p:cNvPr id="200" name="Shape 38"/>
          <p:cNvSpPr/>
          <p:nvPr/>
        </p:nvSpPr>
        <p:spPr>
          <a:xfrm>
            <a:off x="5989320" y="4462271"/>
            <a:ext cx="1783080" cy="868681"/>
          </a:xfrm>
          <a:prstGeom prst="roundRect">
            <a:avLst>
              <a:gd name="adj" fmla="val 6316"/>
            </a:avLst>
          </a:prstGeom>
          <a:solidFill>
            <a:srgbClr val="FDEA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Text 39"/>
          <p:cNvSpPr txBox="1"/>
          <p:nvPr/>
        </p:nvSpPr>
        <p:spPr>
          <a:xfrm>
            <a:off x="6035040" y="4574794"/>
            <a:ext cx="16916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45B6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14,701</a:t>
            </a:r>
          </a:p>
        </p:txBody>
      </p:sp>
      <p:sp>
        <p:nvSpPr>
          <p:cNvPr id="202" name="Text 40"/>
          <p:cNvSpPr txBox="1"/>
          <p:nvPr/>
        </p:nvSpPr>
        <p:spPr>
          <a:xfrm>
            <a:off x="6035040" y="5015991"/>
            <a:ext cx="169164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False positives</a:t>
            </a:r>
          </a:p>
        </p:txBody>
      </p:sp>
      <p:sp>
        <p:nvSpPr>
          <p:cNvPr id="203" name="Shape 41"/>
          <p:cNvSpPr/>
          <p:nvPr/>
        </p:nvSpPr>
        <p:spPr>
          <a:xfrm>
            <a:off x="4069079" y="5422391"/>
            <a:ext cx="1783081" cy="868681"/>
          </a:xfrm>
          <a:prstGeom prst="roundRect">
            <a:avLst>
              <a:gd name="adj" fmla="val 6316"/>
            </a:avLst>
          </a:prstGeom>
          <a:solidFill>
            <a:srgbClr val="FDF3E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Text 42"/>
          <p:cNvSpPr txBox="1"/>
          <p:nvPr/>
        </p:nvSpPr>
        <p:spPr>
          <a:xfrm>
            <a:off x="4114800" y="5534914"/>
            <a:ext cx="1691639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F5A62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2,522</a:t>
            </a:r>
          </a:p>
        </p:txBody>
      </p:sp>
      <p:sp>
        <p:nvSpPr>
          <p:cNvPr id="205" name="Text 43"/>
          <p:cNvSpPr txBox="1"/>
          <p:nvPr/>
        </p:nvSpPr>
        <p:spPr>
          <a:xfrm>
            <a:off x="4114800" y="5976112"/>
            <a:ext cx="1691639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False negatives</a:t>
            </a:r>
          </a:p>
        </p:txBody>
      </p:sp>
      <p:sp>
        <p:nvSpPr>
          <p:cNvPr id="206" name="Shape 44"/>
          <p:cNvSpPr/>
          <p:nvPr/>
        </p:nvSpPr>
        <p:spPr>
          <a:xfrm>
            <a:off x="5989320" y="5422391"/>
            <a:ext cx="1783080" cy="868681"/>
          </a:xfrm>
          <a:prstGeom prst="roundRect">
            <a:avLst>
              <a:gd name="adj" fmla="val 6316"/>
            </a:avLst>
          </a:prstGeom>
          <a:solidFill>
            <a:srgbClr val="E9F0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Text 45"/>
          <p:cNvSpPr txBox="1"/>
          <p:nvPr/>
        </p:nvSpPr>
        <p:spPr>
          <a:xfrm>
            <a:off x="6035040" y="5534914"/>
            <a:ext cx="16916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 b="1">
                <a:solidFill>
                  <a:srgbClr val="4C8D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17,385</a:t>
            </a:r>
          </a:p>
        </p:txBody>
      </p:sp>
      <p:sp>
        <p:nvSpPr>
          <p:cNvPr id="208" name="Text 46"/>
          <p:cNvSpPr txBox="1"/>
          <p:nvPr/>
        </p:nvSpPr>
        <p:spPr>
          <a:xfrm>
            <a:off x="6035040" y="5976112"/>
            <a:ext cx="169164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True positives</a:t>
            </a:r>
          </a:p>
        </p:txBody>
      </p:sp>
      <p:sp>
        <p:nvSpPr>
          <p:cNvPr id="209" name="Text 47"/>
          <p:cNvSpPr txBox="1"/>
          <p:nvPr/>
        </p:nvSpPr>
        <p:spPr>
          <a:xfrm>
            <a:off x="502919" y="6050280"/>
            <a:ext cx="11155682" cy="243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 i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Interpretation: strong recall &amp; ROC-AUC show good separation; moderate precision means the model still creates false alarms.</a:t>
            </a:r>
          </a:p>
        </p:txBody>
      </p:sp>
      <p:sp>
        <p:nvSpPr>
          <p:cNvPr id="210" name="Shape 48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Text 49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212" name="Text 50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213" name="Text 51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216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Problem Encountered: Choosing the Right Target</a:t>
            </a:r>
          </a:p>
        </p:txBody>
      </p:sp>
      <p:sp>
        <p:nvSpPr>
          <p:cNvPr id="218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first prediction target was too rare to support reliable training on a manageable sample.</a:t>
            </a:r>
          </a:p>
        </p:txBody>
      </p:sp>
      <p:sp>
        <p:nvSpPr>
          <p:cNvPr id="219" name="Shape 4"/>
          <p:cNvSpPr/>
          <p:nvPr/>
        </p:nvSpPr>
        <p:spPr>
          <a:xfrm>
            <a:off x="548640" y="1965960"/>
            <a:ext cx="5120641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" name="Shape 5"/>
          <p:cNvSpPr/>
          <p:nvPr/>
        </p:nvSpPr>
        <p:spPr>
          <a:xfrm>
            <a:off x="822960" y="2194560"/>
            <a:ext cx="2194561" cy="365761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1" name="Text 6"/>
          <p:cNvSpPr txBox="1"/>
          <p:nvPr/>
        </p:nvSpPr>
        <p:spPr>
          <a:xfrm>
            <a:off x="868680" y="2261869"/>
            <a:ext cx="21031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>
                <a:solidFill>
                  <a:srgbClr val="F45B6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ORIGINAL TARGET</a:t>
            </a:r>
          </a:p>
        </p:txBody>
      </p:sp>
      <p:sp>
        <p:nvSpPr>
          <p:cNvPr id="222" name="Text 7"/>
          <p:cNvSpPr txBox="1"/>
          <p:nvPr/>
        </p:nvSpPr>
        <p:spPr>
          <a:xfrm>
            <a:off x="868679" y="2727959"/>
            <a:ext cx="457200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Is Account Takeover</a:t>
            </a:r>
          </a:p>
        </p:txBody>
      </p:sp>
      <p:sp>
        <p:nvSpPr>
          <p:cNvPr id="223" name="Text 8"/>
          <p:cNvSpPr txBox="1"/>
          <p:nvPr/>
        </p:nvSpPr>
        <p:spPr>
          <a:xfrm>
            <a:off x="868680" y="3338830"/>
            <a:ext cx="1097281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600" b="1">
                <a:solidFill>
                  <a:srgbClr val="F45B6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11</a:t>
            </a:r>
          </a:p>
        </p:txBody>
      </p:sp>
      <p:sp>
        <p:nvSpPr>
          <p:cNvPr id="224" name="Text 9"/>
          <p:cNvSpPr txBox="1"/>
          <p:nvPr/>
        </p:nvSpPr>
        <p:spPr>
          <a:xfrm>
            <a:off x="2011680" y="3469639"/>
            <a:ext cx="31089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positive examples</a:t>
            </a:r>
          </a:p>
          <a:p>
            <a: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 1,000,000 rows</a:t>
            </a:r>
          </a:p>
        </p:txBody>
      </p:sp>
      <p:sp>
        <p:nvSpPr>
          <p:cNvPr id="225" name="Text 10"/>
          <p:cNvSpPr txBox="1"/>
          <p:nvPr/>
        </p:nvSpPr>
        <p:spPr>
          <a:xfrm>
            <a:off x="868680" y="4329429"/>
            <a:ext cx="448056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Result: the model learned to predict nearly everything as normal.</a:t>
            </a:r>
          </a:p>
        </p:txBody>
      </p:sp>
      <p:sp>
        <p:nvSpPr>
          <p:cNvPr id="226" name="Text 11"/>
          <p:cNvSpPr txBox="1"/>
          <p:nvPr/>
        </p:nvSpPr>
        <p:spPr>
          <a:xfrm>
            <a:off x="5852160" y="3185159"/>
            <a:ext cx="54864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➜</a:t>
            </a:r>
          </a:p>
        </p:txBody>
      </p:sp>
      <p:sp>
        <p:nvSpPr>
          <p:cNvPr id="227" name="Text 12"/>
          <p:cNvSpPr txBox="1"/>
          <p:nvPr/>
        </p:nvSpPr>
        <p:spPr>
          <a:xfrm>
            <a:off x="5669279" y="3685539"/>
            <a:ext cx="914400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SWITCHED TO</a:t>
            </a:r>
          </a:p>
        </p:txBody>
      </p:sp>
      <p:sp>
        <p:nvSpPr>
          <p:cNvPr id="228" name="Shape 13"/>
          <p:cNvSpPr/>
          <p:nvPr/>
        </p:nvSpPr>
        <p:spPr>
          <a:xfrm>
            <a:off x="6492240" y="1965960"/>
            <a:ext cx="5120641" cy="2834640"/>
          </a:xfrm>
          <a:prstGeom prst="roundRect">
            <a:avLst>
              <a:gd name="adj" fmla="val 3226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Shape 14"/>
          <p:cNvSpPr/>
          <p:nvPr/>
        </p:nvSpPr>
        <p:spPr>
          <a:xfrm>
            <a:off x="6766559" y="2194560"/>
            <a:ext cx="1828801" cy="365761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0" name="Text 15"/>
          <p:cNvSpPr txBox="1"/>
          <p:nvPr/>
        </p:nvSpPr>
        <p:spPr>
          <a:xfrm>
            <a:off x="6812279" y="2261869"/>
            <a:ext cx="17373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MAIN TARGET</a:t>
            </a:r>
          </a:p>
        </p:txBody>
      </p:sp>
      <p:sp>
        <p:nvSpPr>
          <p:cNvPr id="231" name="Text 16"/>
          <p:cNvSpPr txBox="1"/>
          <p:nvPr/>
        </p:nvSpPr>
        <p:spPr>
          <a:xfrm>
            <a:off x="6812279" y="2727959"/>
            <a:ext cx="457200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Is Attack IP</a:t>
            </a:r>
          </a:p>
        </p:txBody>
      </p:sp>
      <p:sp>
        <p:nvSpPr>
          <p:cNvPr id="232" name="Text 17"/>
          <p:cNvSpPr txBox="1"/>
          <p:nvPr/>
        </p:nvSpPr>
        <p:spPr>
          <a:xfrm>
            <a:off x="6812279" y="3338830"/>
            <a:ext cx="2468881" cy="637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6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99,534</a:t>
            </a:r>
          </a:p>
        </p:txBody>
      </p:sp>
      <p:sp>
        <p:nvSpPr>
          <p:cNvPr id="233" name="Text 18"/>
          <p:cNvSpPr txBox="1"/>
          <p:nvPr/>
        </p:nvSpPr>
        <p:spPr>
          <a:xfrm>
            <a:off x="9372600" y="3469639"/>
            <a:ext cx="205740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positive examples</a:t>
            </a:r>
          </a:p>
          <a:p>
            <a: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in 1,000,000 rows</a:t>
            </a:r>
          </a:p>
        </p:txBody>
      </p:sp>
      <p:sp>
        <p:nvSpPr>
          <p:cNvPr id="234" name="Text 19"/>
          <p:cNvSpPr txBox="1"/>
          <p:nvPr/>
        </p:nvSpPr>
        <p:spPr>
          <a:xfrm>
            <a:off x="6812279" y="4246879"/>
            <a:ext cx="44805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Enough positive examples to train, validate, and test the model meaningfully.</a:t>
            </a:r>
          </a:p>
        </p:txBody>
      </p:sp>
      <p:sp>
        <p:nvSpPr>
          <p:cNvPr id="235" name="Shape 20"/>
          <p:cNvSpPr/>
          <p:nvPr/>
        </p:nvSpPr>
        <p:spPr>
          <a:xfrm>
            <a:off x="548640" y="5074920"/>
            <a:ext cx="11064241" cy="594361"/>
          </a:xfrm>
          <a:prstGeom prst="roundRect">
            <a:avLst>
              <a:gd name="adj" fmla="val 12308"/>
            </a:avLst>
          </a:prstGeom>
          <a:solidFill>
            <a:srgbClr val="FDF3E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6" name="Text 21"/>
          <p:cNvSpPr txBox="1"/>
          <p:nvPr/>
        </p:nvSpPr>
        <p:spPr>
          <a:xfrm>
            <a:off x="868680" y="5237480"/>
            <a:ext cx="10424160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8A5A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Key lesson: a high accuracy score can be meaningless when the positive class is almost absent.</a:t>
            </a:r>
          </a:p>
        </p:txBody>
      </p:sp>
      <p:sp>
        <p:nvSpPr>
          <p:cNvPr id="237" name="Shape 22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8" name="Text 23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239" name="Text 24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240" name="Text 25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243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4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Future Enhancements</a:t>
            </a:r>
          </a:p>
        </p:txBody>
      </p:sp>
      <p:sp>
        <p:nvSpPr>
          <p:cNvPr id="245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model is a strong prototype — here's how it could grow toward production readiness.</a:t>
            </a:r>
          </a:p>
        </p:txBody>
      </p:sp>
      <p:sp>
        <p:nvSpPr>
          <p:cNvPr id="246" name="Shape 4"/>
          <p:cNvSpPr/>
          <p:nvPr/>
        </p:nvSpPr>
        <p:spPr>
          <a:xfrm>
            <a:off x="548640" y="1874520"/>
            <a:ext cx="11064241" cy="4206241"/>
          </a:xfrm>
          <a:prstGeom prst="roundRect">
            <a:avLst>
              <a:gd name="adj" fmla="val 2174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7" name="Shape 5"/>
          <p:cNvSpPr/>
          <p:nvPr/>
        </p:nvSpPr>
        <p:spPr>
          <a:xfrm>
            <a:off x="868680" y="2103120"/>
            <a:ext cx="1554481" cy="365761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 6"/>
          <p:cNvSpPr txBox="1"/>
          <p:nvPr/>
        </p:nvSpPr>
        <p:spPr>
          <a:xfrm>
            <a:off x="914400" y="2170430"/>
            <a:ext cx="1463041" cy="231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NEXT STEPS</a:t>
            </a:r>
          </a:p>
        </p:txBody>
      </p:sp>
      <p:sp>
        <p:nvSpPr>
          <p:cNvPr id="249" name="Shape 7"/>
          <p:cNvSpPr/>
          <p:nvPr/>
        </p:nvSpPr>
        <p:spPr>
          <a:xfrm>
            <a:off x="868680" y="2752344"/>
            <a:ext cx="201169" cy="201169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0" name="Text 8"/>
          <p:cNvSpPr txBox="1"/>
          <p:nvPr/>
        </p:nvSpPr>
        <p:spPr>
          <a:xfrm>
            <a:off x="1280159" y="2701035"/>
            <a:ext cx="3840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Test on natural class distribution</a:t>
            </a:r>
          </a:p>
        </p:txBody>
      </p:sp>
      <p:sp>
        <p:nvSpPr>
          <p:cNvPr id="251" name="Text 9"/>
          <p:cNvSpPr txBox="1"/>
          <p:nvPr/>
        </p:nvSpPr>
        <p:spPr>
          <a:xfrm>
            <a:off x="5303520" y="2720085"/>
            <a:ext cx="5943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Measure real false-alarm rates on untouched data.</a:t>
            </a:r>
          </a:p>
        </p:txBody>
      </p:sp>
      <p:sp>
        <p:nvSpPr>
          <p:cNvPr id="252" name="Shape 10"/>
          <p:cNvSpPr/>
          <p:nvPr/>
        </p:nvSpPr>
        <p:spPr>
          <a:xfrm>
            <a:off x="868680" y="3374135"/>
            <a:ext cx="201169" cy="201169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3" name="Text 11"/>
          <p:cNvSpPr txBox="1"/>
          <p:nvPr/>
        </p:nvSpPr>
        <p:spPr>
          <a:xfrm>
            <a:off x="1280159" y="3322828"/>
            <a:ext cx="3840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Use time-based splitting</a:t>
            </a:r>
          </a:p>
        </p:txBody>
      </p:sp>
      <p:sp>
        <p:nvSpPr>
          <p:cNvPr id="254" name="Text 12"/>
          <p:cNvSpPr txBox="1"/>
          <p:nvPr/>
        </p:nvSpPr>
        <p:spPr>
          <a:xfrm>
            <a:off x="5303520" y="3341878"/>
            <a:ext cx="5943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Train on earlier logins and test on later ones.</a:t>
            </a:r>
          </a:p>
        </p:txBody>
      </p:sp>
      <p:sp>
        <p:nvSpPr>
          <p:cNvPr id="255" name="Shape 13"/>
          <p:cNvSpPr/>
          <p:nvPr/>
        </p:nvSpPr>
        <p:spPr>
          <a:xfrm>
            <a:off x="868680" y="3995928"/>
            <a:ext cx="201169" cy="201169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Text 14"/>
          <p:cNvSpPr txBox="1"/>
          <p:nvPr/>
        </p:nvSpPr>
        <p:spPr>
          <a:xfrm>
            <a:off x="1280159" y="3944620"/>
            <a:ext cx="3840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Compare more models</a:t>
            </a:r>
          </a:p>
        </p:txBody>
      </p:sp>
      <p:sp>
        <p:nvSpPr>
          <p:cNvPr id="257" name="Text 15"/>
          <p:cNvSpPr txBox="1"/>
          <p:nvPr/>
        </p:nvSpPr>
        <p:spPr>
          <a:xfrm>
            <a:off x="5303520" y="3963670"/>
            <a:ext cx="5943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Try gradient boosting, XGBoost, and anomaly detection.</a:t>
            </a:r>
          </a:p>
        </p:txBody>
      </p:sp>
      <p:sp>
        <p:nvSpPr>
          <p:cNvPr id="258" name="Shape 16"/>
          <p:cNvSpPr/>
          <p:nvPr/>
        </p:nvSpPr>
        <p:spPr>
          <a:xfrm>
            <a:off x="868680" y="4617720"/>
            <a:ext cx="201169" cy="201169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ext 17"/>
          <p:cNvSpPr txBox="1"/>
          <p:nvPr/>
        </p:nvSpPr>
        <p:spPr>
          <a:xfrm>
            <a:off x="1280159" y="4566412"/>
            <a:ext cx="3840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Add explainability</a:t>
            </a:r>
          </a:p>
        </p:txBody>
      </p:sp>
      <p:sp>
        <p:nvSpPr>
          <p:cNvPr id="260" name="Text 18"/>
          <p:cNvSpPr txBox="1"/>
          <p:nvPr/>
        </p:nvSpPr>
        <p:spPr>
          <a:xfrm>
            <a:off x="5303520" y="4585462"/>
            <a:ext cx="5943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Show feature importance or SHAP explanations.</a:t>
            </a:r>
          </a:p>
        </p:txBody>
      </p:sp>
      <p:sp>
        <p:nvSpPr>
          <p:cNvPr id="261" name="Shape 19"/>
          <p:cNvSpPr/>
          <p:nvPr/>
        </p:nvSpPr>
        <p:spPr>
          <a:xfrm>
            <a:off x="868680" y="5239511"/>
            <a:ext cx="201169" cy="201169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Text 20"/>
          <p:cNvSpPr txBox="1"/>
          <p:nvPr/>
        </p:nvSpPr>
        <p:spPr>
          <a:xfrm>
            <a:off x="1280159" y="5188204"/>
            <a:ext cx="38404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Build a simple dashboard</a:t>
            </a:r>
          </a:p>
        </p:txBody>
      </p:sp>
      <p:sp>
        <p:nvSpPr>
          <p:cNvPr id="263" name="Text 21"/>
          <p:cNvSpPr txBox="1"/>
          <p:nvPr/>
        </p:nvSpPr>
        <p:spPr>
          <a:xfrm>
            <a:off x="5303520" y="5207254"/>
            <a:ext cx="5943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Allow users to enter login details and view risk scores.</a:t>
            </a:r>
          </a:p>
        </p:txBody>
      </p:sp>
      <p:sp>
        <p:nvSpPr>
          <p:cNvPr id="264" name="Shape 22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Text 23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266" name="Text 24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267" name="Text 25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270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1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Who Did What</a:t>
            </a:r>
          </a:p>
        </p:txBody>
      </p:sp>
      <p:sp>
        <p:nvSpPr>
          <p:cNvPr id="272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Team roles and individual contributions.</a:t>
            </a:r>
          </a:p>
        </p:txBody>
      </p:sp>
      <p:sp>
        <p:nvSpPr>
          <p:cNvPr id="273" name="Shape 4"/>
          <p:cNvSpPr/>
          <p:nvPr/>
        </p:nvSpPr>
        <p:spPr>
          <a:xfrm>
            <a:off x="457199" y="1625376"/>
            <a:ext cx="5469596" cy="2536002"/>
          </a:xfrm>
          <a:prstGeom prst="roundRect">
            <a:avLst>
              <a:gd name="adj" fmla="val 3606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" name="Shape 5"/>
          <p:cNvSpPr/>
          <p:nvPr/>
        </p:nvSpPr>
        <p:spPr>
          <a:xfrm>
            <a:off x="777240" y="1793239"/>
            <a:ext cx="548641" cy="548641"/>
          </a:xfrm>
          <a:prstGeom prst="ellipse">
            <a:avLst/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5" name="Text 6"/>
          <p:cNvSpPr txBox="1"/>
          <p:nvPr/>
        </p:nvSpPr>
        <p:spPr>
          <a:xfrm>
            <a:off x="822960" y="1913890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SV</a:t>
            </a:r>
          </a:p>
        </p:txBody>
      </p:sp>
      <p:sp>
        <p:nvSpPr>
          <p:cNvPr id="276" name="Text 7"/>
          <p:cNvSpPr txBox="1"/>
          <p:nvPr/>
        </p:nvSpPr>
        <p:spPr>
          <a:xfrm>
            <a:off x="1508759" y="1913890"/>
            <a:ext cx="49377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Sahas Vijayakumar</a:t>
            </a:r>
          </a:p>
        </p:txBody>
      </p:sp>
      <p:sp>
        <p:nvSpPr>
          <p:cNvPr id="277" name="Shape 9"/>
          <p:cNvSpPr/>
          <p:nvPr/>
        </p:nvSpPr>
        <p:spPr>
          <a:xfrm>
            <a:off x="777240" y="2502407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" name="Shape 11"/>
          <p:cNvSpPr/>
          <p:nvPr/>
        </p:nvSpPr>
        <p:spPr>
          <a:xfrm>
            <a:off x="777240" y="2830067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9" name="Text 12"/>
          <p:cNvSpPr txBox="1"/>
          <p:nvPr/>
        </p:nvSpPr>
        <p:spPr>
          <a:xfrm>
            <a:off x="971122" y="2761996"/>
            <a:ext cx="3666918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t>Fixed rare-label problem by switching prediction targets</a:t>
            </a:r>
          </a:p>
        </p:txBody>
      </p:sp>
      <p:sp>
        <p:nvSpPr>
          <p:cNvPr id="280" name="Shape 13"/>
          <p:cNvSpPr/>
          <p:nvPr/>
        </p:nvSpPr>
        <p:spPr>
          <a:xfrm>
            <a:off x="777240" y="3145028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1" name="Text 14"/>
          <p:cNvSpPr txBox="1"/>
          <p:nvPr/>
        </p:nvSpPr>
        <p:spPr>
          <a:xfrm>
            <a:off x="979527" y="3064255"/>
            <a:ext cx="384901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t>Fixed data leakage, ASN encoding, and timestamp handling</a:t>
            </a:r>
          </a:p>
        </p:txBody>
      </p:sp>
      <p:sp>
        <p:nvSpPr>
          <p:cNvPr id="282" name="Shape 15"/>
          <p:cNvSpPr/>
          <p:nvPr/>
        </p:nvSpPr>
        <p:spPr>
          <a:xfrm>
            <a:off x="777240" y="3447288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3" name="Text 16"/>
          <p:cNvSpPr txBox="1"/>
          <p:nvPr/>
        </p:nvSpPr>
        <p:spPr>
          <a:xfrm>
            <a:off x="1047236" y="3372104"/>
            <a:ext cx="361199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t>Added feature importance and realistic accuracy testing</a:t>
            </a:r>
          </a:p>
        </p:txBody>
      </p:sp>
      <p:sp>
        <p:nvSpPr>
          <p:cNvPr id="284" name="Shape 17"/>
          <p:cNvSpPr/>
          <p:nvPr/>
        </p:nvSpPr>
        <p:spPr>
          <a:xfrm>
            <a:off x="777240" y="3711447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5" name="Text 18"/>
          <p:cNvSpPr txBox="1"/>
          <p:nvPr/>
        </p:nvSpPr>
        <p:spPr>
          <a:xfrm>
            <a:off x="973687" y="3679952"/>
            <a:ext cx="3291840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t>Organized the README and presentation content</a:t>
            </a:r>
          </a:p>
        </p:txBody>
      </p:sp>
      <p:sp>
        <p:nvSpPr>
          <p:cNvPr id="286" name="Shape 24"/>
          <p:cNvSpPr/>
          <p:nvPr/>
        </p:nvSpPr>
        <p:spPr>
          <a:xfrm>
            <a:off x="6668132" y="1647378"/>
            <a:ext cx="5011155" cy="2523302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7" name="Shape 25"/>
          <p:cNvSpPr/>
          <p:nvPr/>
        </p:nvSpPr>
        <p:spPr>
          <a:xfrm>
            <a:off x="6905893" y="1892299"/>
            <a:ext cx="457201" cy="457201"/>
          </a:xfrm>
          <a:prstGeom prst="ellipse">
            <a:avLst/>
          </a:prstGeom>
          <a:solidFill>
            <a:srgbClr val="FDEAE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Text 26"/>
          <p:cNvSpPr txBox="1"/>
          <p:nvPr/>
        </p:nvSpPr>
        <p:spPr>
          <a:xfrm>
            <a:off x="6951613" y="1992629"/>
            <a:ext cx="365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 b="1">
                <a:solidFill>
                  <a:srgbClr val="F45B6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JJ</a:t>
            </a:r>
          </a:p>
        </p:txBody>
      </p:sp>
      <p:sp>
        <p:nvSpPr>
          <p:cNvPr id="289" name="Text 27"/>
          <p:cNvSpPr txBox="1"/>
          <p:nvPr/>
        </p:nvSpPr>
        <p:spPr>
          <a:xfrm>
            <a:off x="7545972" y="1877568"/>
            <a:ext cx="329184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Julia Jeng</a:t>
            </a:r>
          </a:p>
        </p:txBody>
      </p:sp>
      <p:sp>
        <p:nvSpPr>
          <p:cNvPr id="290" name="Text 28"/>
          <p:cNvSpPr txBox="1"/>
          <p:nvPr/>
        </p:nvSpPr>
        <p:spPr>
          <a:xfrm>
            <a:off x="7545972" y="2181859"/>
            <a:ext cx="32918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i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Contributions to add</a:t>
            </a:r>
          </a:p>
        </p:txBody>
      </p:sp>
      <p:sp>
        <p:nvSpPr>
          <p:cNvPr id="291" name="Shape 29"/>
          <p:cNvSpPr/>
          <p:nvPr/>
        </p:nvSpPr>
        <p:spPr>
          <a:xfrm>
            <a:off x="6656936" y="4328667"/>
            <a:ext cx="5011156" cy="2297939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2" name="Shape 30"/>
          <p:cNvSpPr/>
          <p:nvPr/>
        </p:nvSpPr>
        <p:spPr>
          <a:xfrm>
            <a:off x="6835140" y="4533900"/>
            <a:ext cx="457201" cy="457200"/>
          </a:xfrm>
          <a:prstGeom prst="ellipse">
            <a:avLst/>
          </a:prstGeom>
          <a:solidFill>
            <a:srgbClr val="FDF3E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3" name="Text 31"/>
          <p:cNvSpPr txBox="1"/>
          <p:nvPr/>
        </p:nvSpPr>
        <p:spPr>
          <a:xfrm>
            <a:off x="6880859" y="4634230"/>
            <a:ext cx="3657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 b="1">
                <a:solidFill>
                  <a:srgbClr val="F5A62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AK</a:t>
            </a:r>
          </a:p>
        </p:txBody>
      </p:sp>
      <p:sp>
        <p:nvSpPr>
          <p:cNvPr id="294" name="Text 32"/>
          <p:cNvSpPr txBox="1"/>
          <p:nvPr/>
        </p:nvSpPr>
        <p:spPr>
          <a:xfrm>
            <a:off x="7475219" y="4519168"/>
            <a:ext cx="329184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Aarush Kikkuru</a:t>
            </a:r>
          </a:p>
        </p:txBody>
      </p:sp>
      <p:sp>
        <p:nvSpPr>
          <p:cNvPr id="295" name="Text 33"/>
          <p:cNvSpPr txBox="1"/>
          <p:nvPr/>
        </p:nvSpPr>
        <p:spPr>
          <a:xfrm>
            <a:off x="7475219" y="4823459"/>
            <a:ext cx="329184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 i="1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Contributions to add</a:t>
            </a:r>
          </a:p>
        </p:txBody>
      </p:sp>
      <p:sp>
        <p:nvSpPr>
          <p:cNvPr id="296" name="Shape 34"/>
          <p:cNvSpPr/>
          <p:nvPr/>
        </p:nvSpPr>
        <p:spPr>
          <a:xfrm>
            <a:off x="457199" y="62580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7" name="Text 35"/>
          <p:cNvSpPr txBox="1"/>
          <p:nvPr/>
        </p:nvSpPr>
        <p:spPr>
          <a:xfrm>
            <a:off x="502919" y="63281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298" name="Text 36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299" name="Text 37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8</a:t>
            </a:r>
          </a:p>
        </p:txBody>
      </p:sp>
      <p:sp>
        <p:nvSpPr>
          <p:cNvPr id="300" name="Text 10"/>
          <p:cNvSpPr txBox="1"/>
          <p:nvPr/>
        </p:nvSpPr>
        <p:spPr>
          <a:xfrm>
            <a:off x="1066158" y="2437691"/>
            <a:ext cx="3123157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t>Built the full ML training and prediction pipeline</a:t>
            </a:r>
          </a:p>
        </p:txBody>
      </p:sp>
      <p:sp>
        <p:nvSpPr>
          <p:cNvPr id="301" name="Shape 4"/>
          <p:cNvSpPr/>
          <p:nvPr/>
        </p:nvSpPr>
        <p:spPr>
          <a:xfrm>
            <a:off x="478387" y="4296790"/>
            <a:ext cx="5469595" cy="2333500"/>
          </a:xfrm>
          <a:prstGeom prst="roundRect">
            <a:avLst>
              <a:gd name="adj" fmla="val 3919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2" name="Shape 5"/>
          <p:cNvSpPr/>
          <p:nvPr/>
        </p:nvSpPr>
        <p:spPr>
          <a:xfrm>
            <a:off x="798427" y="4505324"/>
            <a:ext cx="548641" cy="548641"/>
          </a:xfrm>
          <a:prstGeom prst="ellipse">
            <a:avLst/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Text 6"/>
          <p:cNvSpPr txBox="1"/>
          <p:nvPr/>
        </p:nvSpPr>
        <p:spPr>
          <a:xfrm>
            <a:off x="844147" y="4625974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PD</a:t>
            </a:r>
          </a:p>
        </p:txBody>
      </p:sp>
      <p:sp>
        <p:nvSpPr>
          <p:cNvPr id="304" name="Text 7"/>
          <p:cNvSpPr txBox="1"/>
          <p:nvPr/>
        </p:nvSpPr>
        <p:spPr>
          <a:xfrm>
            <a:off x="1529947" y="4625974"/>
            <a:ext cx="493776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Pranav Das</a:t>
            </a:r>
          </a:p>
        </p:txBody>
      </p:sp>
      <p:sp>
        <p:nvSpPr>
          <p:cNvPr id="305" name="Shape 9"/>
          <p:cNvSpPr/>
          <p:nvPr/>
        </p:nvSpPr>
        <p:spPr>
          <a:xfrm>
            <a:off x="798427" y="5265292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6" name="Text 10"/>
          <p:cNvSpPr txBox="1"/>
          <p:nvPr/>
        </p:nvSpPr>
        <p:spPr>
          <a:xfrm>
            <a:off x="1012209" y="5187334"/>
            <a:ext cx="1775595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Wrote the code for the models and the dataset</a:t>
            </a:r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E5B3FAED-21BC-17FB-3C4D-FA893C3307B7}"/>
              </a:ext>
            </a:extLst>
          </p:cNvPr>
          <p:cNvSpPr/>
          <p:nvPr/>
        </p:nvSpPr>
        <p:spPr>
          <a:xfrm>
            <a:off x="772410" y="5752226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01F12165-EED9-447D-63DB-E1B3D9DB1E4E}"/>
              </a:ext>
            </a:extLst>
          </p:cNvPr>
          <p:cNvSpPr txBox="1"/>
          <p:nvPr/>
        </p:nvSpPr>
        <p:spPr>
          <a:xfrm>
            <a:off x="979527" y="5675737"/>
            <a:ext cx="202289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Made the initial draft of the presentation slides</a:t>
            </a: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8C091EBD-71EA-8EDE-1483-D37CDE315113}"/>
              </a:ext>
            </a:extLst>
          </p:cNvPr>
          <p:cNvSpPr txBox="1"/>
          <p:nvPr/>
        </p:nvSpPr>
        <p:spPr>
          <a:xfrm>
            <a:off x="971122" y="6137402"/>
            <a:ext cx="203130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Proposed the project idea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CBE37D8-C4C4-6A74-6C9E-22B9D18296A7}"/>
              </a:ext>
            </a:extLst>
          </p:cNvPr>
          <p:cNvSpPr/>
          <p:nvPr/>
        </p:nvSpPr>
        <p:spPr>
          <a:xfrm>
            <a:off x="768693" y="6183408"/>
            <a:ext cx="118873" cy="118873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 txBox="1"/>
          <p:nvPr/>
        </p:nvSpPr>
        <p:spPr>
          <a:xfrm>
            <a:off x="502919" y="264921"/>
            <a:ext cx="90525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 b="1" spc="1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LOGIN THREAT DETECTION • MACHINE LEARNING PROJECT</a:t>
            </a:r>
          </a:p>
        </p:txBody>
      </p:sp>
      <p:sp>
        <p:nvSpPr>
          <p:cNvPr id="309" name="Shape 1"/>
          <p:cNvSpPr/>
          <p:nvPr/>
        </p:nvSpPr>
        <p:spPr>
          <a:xfrm>
            <a:off x="-1" y="-1"/>
            <a:ext cx="12188954" cy="82298"/>
          </a:xfrm>
          <a:prstGeom prst="rect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0" name="Text 2"/>
          <p:cNvSpPr txBox="1"/>
          <p:nvPr/>
        </p:nvSpPr>
        <p:spPr>
          <a:xfrm>
            <a:off x="502919" y="589788"/>
            <a:ext cx="104241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Conclusion</a:t>
            </a:r>
          </a:p>
        </p:txBody>
      </p:sp>
      <p:sp>
        <p:nvSpPr>
          <p:cNvPr id="311" name="Text 3"/>
          <p:cNvSpPr txBox="1"/>
          <p:nvPr/>
        </p:nvSpPr>
        <p:spPr>
          <a:xfrm>
            <a:off x="502919" y="1199642"/>
            <a:ext cx="10424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 complete end-to-end machine learning prototype for suspicious login detection.</a:t>
            </a:r>
          </a:p>
        </p:txBody>
      </p:sp>
      <p:sp>
        <p:nvSpPr>
          <p:cNvPr id="312" name="Shape 4"/>
          <p:cNvSpPr/>
          <p:nvPr/>
        </p:nvSpPr>
        <p:spPr>
          <a:xfrm>
            <a:off x="548640" y="1920239"/>
            <a:ext cx="6492241" cy="4160522"/>
          </a:xfrm>
          <a:prstGeom prst="roundRect">
            <a:avLst>
              <a:gd name="adj" fmla="val 2198"/>
            </a:avLst>
          </a:prstGeom>
          <a:solidFill>
            <a:srgbClr val="0E1B2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3" name="Shape 5"/>
          <p:cNvSpPr/>
          <p:nvPr/>
        </p:nvSpPr>
        <p:spPr>
          <a:xfrm>
            <a:off x="822960" y="2148839"/>
            <a:ext cx="1737361" cy="365761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4" name="Text 6"/>
          <p:cNvSpPr txBox="1"/>
          <p:nvPr/>
        </p:nvSpPr>
        <p:spPr>
          <a:xfrm>
            <a:off x="868680" y="2216149"/>
            <a:ext cx="164592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KEY TAKEAWAY</a:t>
            </a:r>
          </a:p>
        </p:txBody>
      </p:sp>
      <p:sp>
        <p:nvSpPr>
          <p:cNvPr id="315" name="Text 7"/>
          <p:cNvSpPr txBox="1"/>
          <p:nvPr/>
        </p:nvSpPr>
        <p:spPr>
          <a:xfrm>
            <a:off x="868679" y="2829559"/>
            <a:ext cx="5760721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The model successfully detects most attack-IP logins by combining contextual login signals.</a:t>
            </a:r>
          </a:p>
        </p:txBody>
      </p:sp>
      <p:sp>
        <p:nvSpPr>
          <p:cNvPr id="316" name="Shape 8"/>
          <p:cNvSpPr/>
          <p:nvPr/>
        </p:nvSpPr>
        <p:spPr>
          <a:xfrm>
            <a:off x="822960" y="3886200"/>
            <a:ext cx="182881" cy="182881"/>
          </a:xfrm>
          <a:prstGeom prst="ellipse">
            <a:avLst/>
          </a:prstGeom>
          <a:solidFill>
            <a:srgbClr val="2ECC8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7" name="Text 9"/>
          <p:cNvSpPr txBox="1"/>
          <p:nvPr/>
        </p:nvSpPr>
        <p:spPr>
          <a:xfrm>
            <a:off x="1188719" y="3838448"/>
            <a:ext cx="20116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87.33% recall</a:t>
            </a:r>
          </a:p>
        </p:txBody>
      </p:sp>
      <p:sp>
        <p:nvSpPr>
          <p:cNvPr id="318" name="Text 10"/>
          <p:cNvSpPr txBox="1"/>
          <p:nvPr/>
        </p:nvSpPr>
        <p:spPr>
          <a:xfrm>
            <a:off x="3337560" y="3851148"/>
            <a:ext cx="3474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Most suspicious examples were detected.</a:t>
            </a:r>
          </a:p>
        </p:txBody>
      </p:sp>
      <p:sp>
        <p:nvSpPr>
          <p:cNvPr id="319" name="Shape 11"/>
          <p:cNvSpPr/>
          <p:nvPr/>
        </p:nvSpPr>
        <p:spPr>
          <a:xfrm>
            <a:off x="822960" y="4507991"/>
            <a:ext cx="182881" cy="182881"/>
          </a:xfrm>
          <a:prstGeom prst="ellipse">
            <a:avLst/>
          </a:prstGeom>
          <a:solidFill>
            <a:srgbClr val="4C8DF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Text 12"/>
          <p:cNvSpPr txBox="1"/>
          <p:nvPr/>
        </p:nvSpPr>
        <p:spPr>
          <a:xfrm>
            <a:off x="1188719" y="4460240"/>
            <a:ext cx="20116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Full Python pipeline</a:t>
            </a:r>
          </a:p>
        </p:txBody>
      </p:sp>
      <p:sp>
        <p:nvSpPr>
          <p:cNvPr id="321" name="Text 13"/>
          <p:cNvSpPr txBox="1"/>
          <p:nvPr/>
        </p:nvSpPr>
        <p:spPr>
          <a:xfrm>
            <a:off x="3337560" y="4472940"/>
            <a:ext cx="3474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Download, preprocess, balance, train, evaluate, and predict.</a:t>
            </a:r>
          </a:p>
        </p:txBody>
      </p:sp>
      <p:sp>
        <p:nvSpPr>
          <p:cNvPr id="322" name="Shape 14"/>
          <p:cNvSpPr/>
          <p:nvPr/>
        </p:nvSpPr>
        <p:spPr>
          <a:xfrm>
            <a:off x="822960" y="5129784"/>
            <a:ext cx="182881" cy="182881"/>
          </a:xfrm>
          <a:prstGeom prst="ellipse">
            <a:avLst/>
          </a:prstGeom>
          <a:solidFill>
            <a:srgbClr val="F5A62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3" name="Text 15"/>
          <p:cNvSpPr txBox="1"/>
          <p:nvPr/>
        </p:nvSpPr>
        <p:spPr>
          <a:xfrm>
            <a:off x="1188719" y="5082032"/>
            <a:ext cx="20116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Honest limitations</a:t>
            </a:r>
          </a:p>
        </p:txBody>
      </p:sp>
      <p:sp>
        <p:nvSpPr>
          <p:cNvPr id="324" name="Text 16"/>
          <p:cNvSpPr txBox="1"/>
          <p:nvPr/>
        </p:nvSpPr>
        <p:spPr>
          <a:xfrm>
            <a:off x="3337560" y="5094732"/>
            <a:ext cx="347472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AAB6C6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Results are useful, but not production-ready.</a:t>
            </a:r>
          </a:p>
        </p:txBody>
      </p:sp>
      <p:sp>
        <p:nvSpPr>
          <p:cNvPr id="325" name="Shape 17"/>
          <p:cNvSpPr/>
          <p:nvPr/>
        </p:nvSpPr>
        <p:spPr>
          <a:xfrm>
            <a:off x="7269480" y="1920239"/>
            <a:ext cx="4343401" cy="3703322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6" name="Text 18"/>
          <p:cNvSpPr txBox="1"/>
          <p:nvPr/>
        </p:nvSpPr>
        <p:spPr>
          <a:xfrm>
            <a:off x="7589519" y="2125980"/>
            <a:ext cx="35661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5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Sources</a:t>
            </a:r>
          </a:p>
        </p:txBody>
      </p:sp>
      <p:sp>
        <p:nvSpPr>
          <p:cNvPr id="327" name="Text 19"/>
          <p:cNvSpPr txBox="1"/>
          <p:nvPr/>
        </p:nvSpPr>
        <p:spPr>
          <a:xfrm>
            <a:off x="7589519" y="2745740"/>
            <a:ext cx="228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328" name="Text 20"/>
          <p:cNvSpPr txBox="1"/>
          <p:nvPr/>
        </p:nvSpPr>
        <p:spPr>
          <a:xfrm>
            <a:off x="7955279" y="2608580"/>
            <a:ext cx="347472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RBA Dataset</a:t>
            </a:r>
          </a:p>
        </p:txBody>
      </p:sp>
      <p:sp>
        <p:nvSpPr>
          <p:cNvPr id="329" name="Text 21"/>
          <p:cNvSpPr txBox="1"/>
          <p:nvPr/>
        </p:nvSpPr>
        <p:spPr>
          <a:xfrm>
            <a:off x="7955279" y="2906522"/>
            <a:ext cx="347472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Zenodo DOI 10.5281/zenodo.6782156</a:t>
            </a:r>
          </a:p>
        </p:txBody>
      </p:sp>
      <p:sp>
        <p:nvSpPr>
          <p:cNvPr id="330" name="Text 22"/>
          <p:cNvSpPr txBox="1"/>
          <p:nvPr/>
        </p:nvSpPr>
        <p:spPr>
          <a:xfrm>
            <a:off x="7589519" y="3367532"/>
            <a:ext cx="228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331" name="Text 23"/>
          <p:cNvSpPr txBox="1"/>
          <p:nvPr/>
        </p:nvSpPr>
        <p:spPr>
          <a:xfrm>
            <a:off x="7955279" y="3230371"/>
            <a:ext cx="347472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Dataset paper</a:t>
            </a:r>
          </a:p>
        </p:txBody>
      </p:sp>
      <p:sp>
        <p:nvSpPr>
          <p:cNvPr id="332" name="Text 24"/>
          <p:cNvSpPr txBox="1"/>
          <p:nvPr/>
        </p:nvSpPr>
        <p:spPr>
          <a:xfrm>
            <a:off x="7955279" y="3528314"/>
            <a:ext cx="347472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Wiefling et al., ACM TOPS (2022), DOI 10.1145/3546069</a:t>
            </a:r>
          </a:p>
        </p:txBody>
      </p:sp>
      <p:sp>
        <p:nvSpPr>
          <p:cNvPr id="333" name="Text 25"/>
          <p:cNvSpPr txBox="1"/>
          <p:nvPr/>
        </p:nvSpPr>
        <p:spPr>
          <a:xfrm>
            <a:off x="7589519" y="3989324"/>
            <a:ext cx="228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334" name="Text 26"/>
          <p:cNvSpPr txBox="1"/>
          <p:nvPr/>
        </p:nvSpPr>
        <p:spPr>
          <a:xfrm>
            <a:off x="7955279" y="3852163"/>
            <a:ext cx="347472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Random Forest</a:t>
            </a:r>
          </a:p>
        </p:txBody>
      </p:sp>
      <p:sp>
        <p:nvSpPr>
          <p:cNvPr id="335" name="Text 27"/>
          <p:cNvSpPr txBox="1"/>
          <p:nvPr/>
        </p:nvSpPr>
        <p:spPr>
          <a:xfrm>
            <a:off x="7955279" y="4150106"/>
            <a:ext cx="347472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scikit-learn RandomForestClassifier documentation</a:t>
            </a:r>
          </a:p>
        </p:txBody>
      </p:sp>
      <p:sp>
        <p:nvSpPr>
          <p:cNvPr id="336" name="Text 28"/>
          <p:cNvSpPr txBox="1"/>
          <p:nvPr/>
        </p:nvSpPr>
        <p:spPr>
          <a:xfrm>
            <a:off x="7589519" y="4611115"/>
            <a:ext cx="2286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337" name="Text 29"/>
          <p:cNvSpPr txBox="1"/>
          <p:nvPr/>
        </p:nvSpPr>
        <p:spPr>
          <a:xfrm>
            <a:off x="7955279" y="4473955"/>
            <a:ext cx="347472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 b="1">
                <a:solidFill>
                  <a:srgbClr val="16233A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Metrics</a:t>
            </a:r>
          </a:p>
        </p:txBody>
      </p:sp>
      <p:sp>
        <p:nvSpPr>
          <p:cNvPr id="338" name="Text 30"/>
          <p:cNvSpPr txBox="1"/>
          <p:nvPr/>
        </p:nvSpPr>
        <p:spPr>
          <a:xfrm>
            <a:off x="7955279" y="4771897"/>
            <a:ext cx="3474720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scikit-learn precision, recall, F1, and PR-curve documentation</a:t>
            </a:r>
          </a:p>
        </p:txBody>
      </p:sp>
      <p:sp>
        <p:nvSpPr>
          <p:cNvPr id="339" name="Shape 31"/>
          <p:cNvSpPr/>
          <p:nvPr/>
        </p:nvSpPr>
        <p:spPr>
          <a:xfrm>
            <a:off x="7543800" y="5166359"/>
            <a:ext cx="3703321" cy="365761"/>
          </a:xfrm>
          <a:prstGeom prst="roundRect">
            <a:avLst>
              <a:gd name="adj" fmla="val 15000"/>
            </a:avLst>
          </a:prstGeom>
          <a:solidFill>
            <a:srgbClr val="E4F8E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0" name="Text 32"/>
          <p:cNvSpPr txBox="1"/>
          <p:nvPr/>
        </p:nvSpPr>
        <p:spPr>
          <a:xfrm>
            <a:off x="7589519" y="5214619"/>
            <a:ext cx="36118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 b="1">
                <a:solidFill>
                  <a:srgbClr val="2ECC8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Questions?</a:t>
            </a:r>
          </a:p>
        </p:txBody>
      </p:sp>
      <p:sp>
        <p:nvSpPr>
          <p:cNvPr id="341" name="Shape 33"/>
          <p:cNvSpPr/>
          <p:nvPr/>
        </p:nvSpPr>
        <p:spPr>
          <a:xfrm>
            <a:off x="457199" y="6473952"/>
            <a:ext cx="11274554" cy="1"/>
          </a:xfrm>
          <a:prstGeom prst="line">
            <a:avLst/>
          </a:prstGeom>
          <a:ln w="12700">
            <a:solidFill>
              <a:srgbClr val="E1E6EE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2" name="Text 34"/>
          <p:cNvSpPr txBox="1"/>
          <p:nvPr/>
        </p:nvSpPr>
        <p:spPr>
          <a:xfrm>
            <a:off x="502919" y="6544056"/>
            <a:ext cx="265176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Safe Login</a:t>
            </a:r>
          </a:p>
        </p:txBody>
      </p:sp>
      <p:sp>
        <p:nvSpPr>
          <p:cNvPr id="343" name="Text 35"/>
          <p:cNvSpPr txBox="1"/>
          <p:nvPr/>
        </p:nvSpPr>
        <p:spPr>
          <a:xfrm>
            <a:off x="8549639" y="6544056"/>
            <a:ext cx="26517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Programming Project</a:t>
            </a:r>
          </a:p>
        </p:txBody>
      </p:sp>
      <p:sp>
        <p:nvSpPr>
          <p:cNvPr id="344" name="Text 36"/>
          <p:cNvSpPr txBox="1"/>
          <p:nvPr/>
        </p:nvSpPr>
        <p:spPr>
          <a:xfrm>
            <a:off x="11658600" y="6544056"/>
            <a:ext cx="27432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000">
                <a:solidFill>
                  <a:srgbClr val="6B778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Times Roman"/>
        <a:ea typeface="Times Roman"/>
        <a:cs typeface="Times Roman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Times Roman"/>
        <a:ea typeface="Times Roman"/>
        <a:cs typeface="Times Roman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Widescreen</PresentationFormat>
  <Paragraphs>224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Pranav Das</cp:lastModifiedBy>
  <cp:revision>2</cp:revision>
  <dcterms:modified xsi:type="dcterms:W3CDTF">2026-07-30T03:09:36Z</dcterms:modified>
</cp:coreProperties>
</file>